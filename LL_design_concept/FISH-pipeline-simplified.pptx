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64"/>
    <p:restoredTop sz="94608"/>
  </p:normalViewPr>
  <p:slideViewPr>
    <p:cSldViewPr snapToGrid="0">
      <p:cViewPr varScale="1">
        <p:scale>
          <a:sx n="107" d="100"/>
          <a:sy n="107" d="100"/>
        </p:scale>
        <p:origin x="168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F506A-A984-3046-9791-2A138D7D58F4}" type="datetimeFigureOut">
              <a:rPr lang="en-US" smtClean="0"/>
              <a:t>7/15/24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8AC2C-3865-9D4E-AC65-9EC367CCD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66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18AC2C-3865-9D4E-AC65-9EC367CCD1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78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02A6D-092A-9E16-2016-9ACAFD4EB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C1C7D-83B5-2DFC-0E3E-7F333ED34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0A8E0-D636-A3C0-031A-98BE96EE4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6C92-5D38-E64B-9B98-C68466440AE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3129E-CFDD-E397-3580-D16C2A8A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72F6E-7D83-CBE6-F531-B0998730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7540-372C-C34C-AF8C-924E29B81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8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31B2-EF5C-CB2C-B18C-562BE824B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458DD-39F7-565A-4EB4-4C3C2325E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E2DD7-8F50-A19F-59B1-8C7E15F41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6C92-5D38-E64B-9B98-C68466440AE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6D108-430D-6313-CBAE-6544C42E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E4D5A-ED1E-4498-F830-A2ED84931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7540-372C-C34C-AF8C-924E29B81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96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2C836-D588-3DC1-3079-A8E2ADFEA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7A5F8-CE8F-E77D-274B-F8C118F2E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C7649-33B1-B6B9-0F62-D819DA97F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6C92-5D38-E64B-9B98-C68466440AE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916A1-0651-110B-E1A5-2300B1745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6209B-9AE1-47D9-92E4-B2FFC10D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7540-372C-C34C-AF8C-924E29B81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30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967F-DE75-8CAA-B14D-204A9D761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BCF3D-3549-0FEE-E282-4F9B01A57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F29521-AC3A-9A15-67D3-BE1F4D4C3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E676B-38DB-34D7-4741-FDB3A35F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6C92-5D38-E64B-9B98-C68466440AE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FEE84-BF69-AA41-50FE-6A5018BCF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94802-2086-7883-8B79-087CD4D48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7540-372C-C34C-AF8C-924E29B81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31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7AE4F-EF73-D1F2-EA6F-480206E73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667ED-A40F-DFB3-D090-14D00BA97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3AB08-DD9D-A8DB-C9CE-A7CE11E01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ABD5A-3AD7-F5AC-27FF-C5497C056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801447-8699-B0F9-AB7E-2C0924C50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C638D2-CBCB-C088-DC2F-8AB50695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6C92-5D38-E64B-9B98-C68466440AE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FE52D8-6035-1E8C-0A3F-F2C86758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5FE68-5E25-9012-78FF-99DDFA3C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7540-372C-C34C-AF8C-924E29B81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7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B815C-CAC6-DA4B-CFD7-47DEE9DBB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B9DD7-F55C-9770-D074-A6C4035FB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6C92-5D38-E64B-9B98-C68466440AE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D591C-6921-8275-01D0-7A1D0D068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70B50-4AFE-D43F-76D7-34CE00D4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7540-372C-C34C-AF8C-924E29B81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27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3B312B-6043-C6D0-7457-1CDB9F73A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6C92-5D38-E64B-9B98-C68466440AE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9A6642-DEA3-D631-226B-8C33C395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A88E0-E5B4-A975-02B4-7C4D654C6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7540-372C-C34C-AF8C-924E29B81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8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99F6B-BC67-2EB5-AC4B-81A8A5C6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DBC7D-3EE1-DC82-963C-08B9665BC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244A4-5C9F-8CBF-EADC-A1EBD1938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386C0-FCC7-4AD4-EA84-BDA51FACD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6C92-5D38-E64B-9B98-C68466440AE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5145F-19A6-6AAC-CAD6-66F94F471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706A8-9B1C-09F2-C450-9A659805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7540-372C-C34C-AF8C-924E29B81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261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297FA-43F5-B092-CAAD-61AC664EC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35BD5E-0554-644F-CB32-A4C7F93721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CA0A38-EB47-FC1F-98E0-6B205304B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FA132-5440-0CF5-039D-82856640E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6C92-5D38-E64B-9B98-C68466440AE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8E174-281D-BC8B-D8E7-4B7E8FC6E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B05C8-BBE5-CE50-59A8-D3CA281F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7540-372C-C34C-AF8C-924E29B81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5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53BA6-E555-84C4-A769-0791F15C7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ABA86-8EDD-CEB9-DB35-A207643CC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DAF9F-A108-0FFE-8723-A0FABDC2C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6C92-5D38-E64B-9B98-C68466440AE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0BB3C-FFE2-C02B-B86A-B7A7DEB8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27C81-3E71-1E60-FFD8-92F0FB71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7540-372C-C34C-AF8C-924E29B81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51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74A66D-60AF-0F52-819B-6D2B408C57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2FF4F-2020-F6D4-647C-E2C22D8D9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0512E-A881-1690-66E5-F71B06B43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6C92-5D38-E64B-9B98-C68466440AE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19A6-CDC7-3B90-D64B-133434F9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D8B52-8A25-2ABE-0947-F713BC54E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7540-372C-C34C-AF8C-924E29B81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A601D3-53AC-6996-3005-C06359B4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0148E-F478-5907-B30C-DF9996D3D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845BA-D5BF-C3D8-E4F4-8C203B5011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56C92-5D38-E64B-9B98-C68466440AEE}" type="datetimeFigureOut">
              <a:rPr lang="en-US" smtClean="0"/>
              <a:t>7/15/24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52EDE-F69A-CF4C-B493-22845B328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3046D-9C5B-2CF4-4F75-52F6A274E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37540-372C-C34C-AF8C-924E29B81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78F773D-4727-95C4-4EB8-A12FBF5974BF}"/>
              </a:ext>
            </a:extLst>
          </p:cNvPr>
          <p:cNvSpPr/>
          <p:nvPr/>
        </p:nvSpPr>
        <p:spPr>
          <a:xfrm>
            <a:off x="5008105" y="602892"/>
            <a:ext cx="4295727" cy="305740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1191B71-6AEC-DF9B-CF45-ED618142D253}"/>
              </a:ext>
            </a:extLst>
          </p:cNvPr>
          <p:cNvSpPr/>
          <p:nvPr/>
        </p:nvSpPr>
        <p:spPr>
          <a:xfrm>
            <a:off x="120581" y="4289089"/>
            <a:ext cx="4531807" cy="238144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CDE6F13-6811-9D37-4736-8C9903563F2F}"/>
              </a:ext>
            </a:extLst>
          </p:cNvPr>
          <p:cNvSpPr/>
          <p:nvPr/>
        </p:nvSpPr>
        <p:spPr>
          <a:xfrm>
            <a:off x="51575" y="614156"/>
            <a:ext cx="4850666" cy="33116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7662D-5E09-EA4E-E123-F4C67FE9D4E6}"/>
              </a:ext>
            </a:extLst>
          </p:cNvPr>
          <p:cNvSpPr txBox="1"/>
          <p:nvPr/>
        </p:nvSpPr>
        <p:spPr>
          <a:xfrm>
            <a:off x="490364" y="1115597"/>
            <a:ext cx="2790822" cy="44267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Extract NOISE INJECTION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5327C6-BB14-A8A1-76C1-1895CA04283C}"/>
              </a:ext>
            </a:extLst>
          </p:cNvPr>
          <p:cNvSpPr txBox="1"/>
          <p:nvPr/>
        </p:nvSpPr>
        <p:spPr>
          <a:xfrm>
            <a:off x="2388552" y="3139550"/>
            <a:ext cx="1210309" cy="64698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b="1" i="1" dirty="0" err="1"/>
              <a:t>T</a:t>
            </a:r>
            <a:r>
              <a:rPr lang="en-US" sz="3200" b="1" baseline="-25000" dirty="0" err="1"/>
              <a:t>sys,psr</a:t>
            </a:r>
            <a:endParaRPr 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22237B-B406-B8BE-E34D-5B4D5E09F4AE}"/>
              </a:ext>
            </a:extLst>
          </p:cNvPr>
          <p:cNvSpPr txBox="1"/>
          <p:nvPr/>
        </p:nvSpPr>
        <p:spPr>
          <a:xfrm>
            <a:off x="405369" y="4861759"/>
            <a:ext cx="3634070" cy="64698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Match </a:t>
            </a:r>
            <a:r>
              <a:rPr lang="en-US" sz="3200" b="1" i="1" dirty="0" err="1"/>
              <a:t>T</a:t>
            </a:r>
            <a:r>
              <a:rPr lang="en-US" sz="3200" b="1" baseline="-25000" dirty="0" err="1"/>
              <a:t>sys,psr</a:t>
            </a:r>
            <a:r>
              <a:rPr lang="en-US" sz="3200" b="1" dirty="0"/>
              <a:t> </a:t>
            </a:r>
            <a:r>
              <a:rPr lang="en-US" sz="2000" dirty="0"/>
              <a:t>and </a:t>
            </a:r>
            <a:r>
              <a:rPr lang="en-US" sz="3200" b="1" i="1" dirty="0" err="1"/>
              <a:t>T</a:t>
            </a:r>
            <a:r>
              <a:rPr lang="en-US" sz="3200" b="1" baseline="-25000" dirty="0" err="1"/>
              <a:t>sys,spec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8C0E12-456F-DA1B-EB51-F1995CF5E1EC}"/>
              </a:ext>
            </a:extLst>
          </p:cNvPr>
          <p:cNvSpPr txBox="1"/>
          <p:nvPr/>
        </p:nvSpPr>
        <p:spPr>
          <a:xfrm>
            <a:off x="357891" y="2176315"/>
            <a:ext cx="4187398" cy="44267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(NOISE_ON – NOISE_OFF)/NOISE_OFF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083600-2C42-27AE-F9C7-328C29172E03}"/>
              </a:ext>
            </a:extLst>
          </p:cNvPr>
          <p:cNvSpPr txBox="1"/>
          <p:nvPr/>
        </p:nvSpPr>
        <p:spPr>
          <a:xfrm>
            <a:off x="305137" y="2677455"/>
            <a:ext cx="1918654" cy="44267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NOISE Diode file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3F6CC2-F968-0ED2-05B0-0C58CE6A2CB1}"/>
              </a:ext>
            </a:extLst>
          </p:cNvPr>
          <p:cNvSpPr txBox="1"/>
          <p:nvPr/>
        </p:nvSpPr>
        <p:spPr>
          <a:xfrm>
            <a:off x="375226" y="6001882"/>
            <a:ext cx="4049240" cy="44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Convert (</a:t>
            </a:r>
            <a:r>
              <a:rPr lang="en-US" sz="2000" dirty="0" err="1"/>
              <a:t>x,y,z</a:t>
            </a:r>
            <a:r>
              <a:rPr lang="en-US" sz="2000" dirty="0"/>
              <a:t>) to celestial coordinate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FC1B74-817C-D4E8-DB3E-BEC0C4AB9952}"/>
              </a:ext>
            </a:extLst>
          </p:cNvPr>
          <p:cNvSpPr txBox="1"/>
          <p:nvPr/>
        </p:nvSpPr>
        <p:spPr>
          <a:xfrm>
            <a:off x="5636654" y="3026126"/>
            <a:ext cx="2489262" cy="4426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err="1"/>
              <a:t>Regrid</a:t>
            </a:r>
            <a:r>
              <a:rPr lang="en-US" sz="2000" dirty="0"/>
              <a:t> to regular WCS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B370A6-5393-FD3B-DC67-5BD248D10D37}"/>
              </a:ext>
            </a:extLst>
          </p:cNvPr>
          <p:cNvSpPr txBox="1"/>
          <p:nvPr/>
        </p:nvSpPr>
        <p:spPr>
          <a:xfrm>
            <a:off x="5554047" y="1075397"/>
            <a:ext cx="2788039" cy="4426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Reframe velocity to LSRK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7952C8-1160-B01D-C0FA-4F9EB874D481}"/>
              </a:ext>
            </a:extLst>
          </p:cNvPr>
          <p:cNvSpPr txBox="1"/>
          <p:nvPr/>
        </p:nvSpPr>
        <p:spPr>
          <a:xfrm>
            <a:off x="5073311" y="2059288"/>
            <a:ext cx="3682425" cy="4426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Subtract spectral/spatial baseline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B3611-3E82-795E-A0A5-CF91FB7B26BA}"/>
              </a:ext>
            </a:extLst>
          </p:cNvPr>
          <p:cNvSpPr txBox="1"/>
          <p:nvPr/>
        </p:nvSpPr>
        <p:spPr>
          <a:xfrm>
            <a:off x="576721" y="662925"/>
            <a:ext cx="1806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PSR backend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76775D-E20E-4788-4B0B-8F5EB1551759}"/>
              </a:ext>
            </a:extLst>
          </p:cNvPr>
          <p:cNvSpPr txBox="1"/>
          <p:nvPr/>
        </p:nvSpPr>
        <p:spPr>
          <a:xfrm>
            <a:off x="844427" y="4390909"/>
            <a:ext cx="1943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SPEC backend</a:t>
            </a:r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B8BF3A9A-298F-8246-01AF-CCEEF8EBE2CE}"/>
              </a:ext>
            </a:extLst>
          </p:cNvPr>
          <p:cNvSpPr/>
          <p:nvPr/>
        </p:nvSpPr>
        <p:spPr>
          <a:xfrm rot="5400000">
            <a:off x="6204869" y="1700723"/>
            <a:ext cx="397003" cy="242060"/>
          </a:xfrm>
          <a:prstGeom prst="rightArrow">
            <a:avLst>
              <a:gd name="adj1" fmla="val 31643"/>
              <a:gd name="adj2" fmla="val 90739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56CA95-9075-3CD6-CBC3-F15574636B40}"/>
              </a:ext>
            </a:extLst>
          </p:cNvPr>
          <p:cNvSpPr txBox="1"/>
          <p:nvPr/>
        </p:nvSpPr>
        <p:spPr>
          <a:xfrm>
            <a:off x="9805860" y="2953754"/>
            <a:ext cx="1010997" cy="4426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HI cube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8F2E5D-788A-9CA8-4E47-1646D3C09E91}"/>
              </a:ext>
            </a:extLst>
          </p:cNvPr>
          <p:cNvSpPr txBox="1"/>
          <p:nvPr/>
        </p:nvSpPr>
        <p:spPr>
          <a:xfrm>
            <a:off x="4151397" y="-105341"/>
            <a:ext cx="38892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dirty="0">
                <a:solidFill>
                  <a:srgbClr val="C00000"/>
                </a:solidFill>
                <a:latin typeface="Bradley Hand" pitchFamily="2" charset="77"/>
              </a:rPr>
              <a:t>FAST-FISH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5D1D46-CC05-248E-93A5-D9110ED9692C}"/>
              </a:ext>
            </a:extLst>
          </p:cNvPr>
          <p:cNvSpPr txBox="1"/>
          <p:nvPr/>
        </p:nvSpPr>
        <p:spPr>
          <a:xfrm>
            <a:off x="600893" y="1666014"/>
            <a:ext cx="1622898" cy="44267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Quality check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8BC7CF-9B1F-2A32-05C3-A5B09CB509D8}"/>
              </a:ext>
            </a:extLst>
          </p:cNvPr>
          <p:cNvSpPr txBox="1"/>
          <p:nvPr/>
        </p:nvSpPr>
        <p:spPr>
          <a:xfrm>
            <a:off x="7093910" y="1570749"/>
            <a:ext cx="1622898" cy="4426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Quality check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BC6A3466-E546-40CF-FE5A-D21DAE3FADA6}"/>
              </a:ext>
            </a:extLst>
          </p:cNvPr>
          <p:cNvSpPr/>
          <p:nvPr/>
        </p:nvSpPr>
        <p:spPr>
          <a:xfrm rot="5400000">
            <a:off x="2748808" y="4142577"/>
            <a:ext cx="794383" cy="242060"/>
          </a:xfrm>
          <a:prstGeom prst="rightArrow">
            <a:avLst>
              <a:gd name="adj1" fmla="val 31643"/>
              <a:gd name="adj2" fmla="val 144704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110413-AE9F-7AFC-36C4-35309742BA0F}"/>
              </a:ext>
            </a:extLst>
          </p:cNvPr>
          <p:cNvSpPr txBox="1"/>
          <p:nvPr/>
        </p:nvSpPr>
        <p:spPr>
          <a:xfrm>
            <a:off x="5613469" y="642823"/>
            <a:ext cx="1903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Narrow Band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3EBCD810-727E-B596-7F0C-DA01FE6EAA05}"/>
              </a:ext>
            </a:extLst>
          </p:cNvPr>
          <p:cNvSpPr/>
          <p:nvPr/>
        </p:nvSpPr>
        <p:spPr>
          <a:xfrm rot="5400000">
            <a:off x="6210260" y="2643387"/>
            <a:ext cx="397003" cy="242060"/>
          </a:xfrm>
          <a:prstGeom prst="rightArrow">
            <a:avLst>
              <a:gd name="adj1" fmla="val 31643"/>
              <a:gd name="adj2" fmla="val 90739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74E2F068-5C60-1145-02C2-5271EA63E340}"/>
              </a:ext>
            </a:extLst>
          </p:cNvPr>
          <p:cNvSpPr/>
          <p:nvPr/>
        </p:nvSpPr>
        <p:spPr>
          <a:xfrm>
            <a:off x="8497773" y="2942898"/>
            <a:ext cx="1010997" cy="442674"/>
          </a:xfrm>
          <a:prstGeom prst="rightArrow">
            <a:avLst>
              <a:gd name="adj1" fmla="val 31643"/>
              <a:gd name="adj2" fmla="val 90739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497F5B5C-B1B8-5731-C285-029BCAC9ACC9}"/>
              </a:ext>
            </a:extLst>
          </p:cNvPr>
          <p:cNvSpPr/>
          <p:nvPr/>
        </p:nvSpPr>
        <p:spPr>
          <a:xfrm rot="10800000">
            <a:off x="6630265" y="1662403"/>
            <a:ext cx="397003" cy="242060"/>
          </a:xfrm>
          <a:prstGeom prst="rightArrow">
            <a:avLst>
              <a:gd name="adj1" fmla="val 31643"/>
              <a:gd name="adj2" fmla="val 90739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031A33B-8682-20B7-E5B8-A73ABA17A3C8}"/>
              </a:ext>
            </a:extLst>
          </p:cNvPr>
          <p:cNvCxnSpPr>
            <a:cxnSpLocks/>
          </p:cNvCxnSpPr>
          <p:nvPr/>
        </p:nvCxnSpPr>
        <p:spPr>
          <a:xfrm flipV="1">
            <a:off x="4558776" y="3385572"/>
            <a:ext cx="514535" cy="1030044"/>
          </a:xfrm>
          <a:prstGeom prst="line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9E70918-1DAD-40EF-9B9D-E1F581915BAA}"/>
              </a:ext>
            </a:extLst>
          </p:cNvPr>
          <p:cNvSpPr/>
          <p:nvPr/>
        </p:nvSpPr>
        <p:spPr>
          <a:xfrm>
            <a:off x="4933434" y="4390867"/>
            <a:ext cx="4647078" cy="170077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C5B9A0-35F5-6334-1866-DBB5C3452022}"/>
              </a:ext>
            </a:extLst>
          </p:cNvPr>
          <p:cNvSpPr txBox="1"/>
          <p:nvPr/>
        </p:nvSpPr>
        <p:spPr>
          <a:xfrm>
            <a:off x="5206379" y="4441936"/>
            <a:ext cx="1671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Wide Band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DC32D1C-06D0-DBB8-DB42-15D9DB1AD6C1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4652388" y="5241256"/>
            <a:ext cx="281046" cy="453807"/>
          </a:xfrm>
          <a:prstGeom prst="line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3562E67-0C3F-3B14-E86B-6FF9C3F76447}"/>
              </a:ext>
            </a:extLst>
          </p:cNvPr>
          <p:cNvSpPr txBox="1"/>
          <p:nvPr/>
        </p:nvSpPr>
        <p:spPr>
          <a:xfrm>
            <a:off x="8755736" y="4841968"/>
            <a:ext cx="2800339" cy="4426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L-band continuum image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750237-4D48-E2C6-8926-DB22EB3F8E37}"/>
              </a:ext>
            </a:extLst>
          </p:cNvPr>
          <p:cNvSpPr txBox="1"/>
          <p:nvPr/>
        </p:nvSpPr>
        <p:spPr>
          <a:xfrm>
            <a:off x="6258944" y="5528882"/>
            <a:ext cx="3071860" cy="4426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Beam shape reconstruction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9AFD370E-CC07-2E3E-A365-466DB2C6B77B}"/>
              </a:ext>
            </a:extLst>
          </p:cNvPr>
          <p:cNvSpPr/>
          <p:nvPr/>
        </p:nvSpPr>
        <p:spPr>
          <a:xfrm rot="5400000">
            <a:off x="2786886" y="1745028"/>
            <a:ext cx="397003" cy="242060"/>
          </a:xfrm>
          <a:prstGeom prst="rightArrow">
            <a:avLst>
              <a:gd name="adj1" fmla="val 31643"/>
              <a:gd name="adj2" fmla="val 90739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87051C29-5760-D979-0CF9-60738BEC1B3A}"/>
              </a:ext>
            </a:extLst>
          </p:cNvPr>
          <p:cNvSpPr/>
          <p:nvPr/>
        </p:nvSpPr>
        <p:spPr>
          <a:xfrm rot="5400000">
            <a:off x="2758141" y="2772463"/>
            <a:ext cx="397003" cy="242060"/>
          </a:xfrm>
          <a:prstGeom prst="rightArrow">
            <a:avLst>
              <a:gd name="adj1" fmla="val 31643"/>
              <a:gd name="adj2" fmla="val 90739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8B3DA550-9F02-614F-3E51-48A84D5747A9}"/>
              </a:ext>
            </a:extLst>
          </p:cNvPr>
          <p:cNvSpPr/>
          <p:nvPr/>
        </p:nvSpPr>
        <p:spPr>
          <a:xfrm>
            <a:off x="2338101" y="2784065"/>
            <a:ext cx="397003" cy="242060"/>
          </a:xfrm>
          <a:prstGeom prst="rightArrow">
            <a:avLst>
              <a:gd name="adj1" fmla="val 31643"/>
              <a:gd name="adj2" fmla="val 90739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5F262E8D-D221-5913-482A-B2FB1A7CBAFB}"/>
              </a:ext>
            </a:extLst>
          </p:cNvPr>
          <p:cNvSpPr/>
          <p:nvPr/>
        </p:nvSpPr>
        <p:spPr>
          <a:xfrm>
            <a:off x="2355216" y="1730687"/>
            <a:ext cx="397003" cy="242060"/>
          </a:xfrm>
          <a:prstGeom prst="rightArrow">
            <a:avLst>
              <a:gd name="adj1" fmla="val 31643"/>
              <a:gd name="adj2" fmla="val 90739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5" name="Bent-Up Arrow 34">
            <a:extLst>
              <a:ext uri="{FF2B5EF4-FFF2-40B4-BE49-F238E27FC236}">
                <a16:creationId xmlns:a16="http://schemas.microsoft.com/office/drawing/2014/main" id="{B73AF41F-86E9-F082-FA3A-67AC020E2752}"/>
              </a:ext>
            </a:extLst>
          </p:cNvPr>
          <p:cNvSpPr/>
          <p:nvPr/>
        </p:nvSpPr>
        <p:spPr>
          <a:xfrm rot="5400000">
            <a:off x="5719096" y="5392159"/>
            <a:ext cx="402373" cy="467916"/>
          </a:xfrm>
          <a:prstGeom prst="bentUp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5AE947-3E66-9D7F-AEA4-AD99A5C3C69A}"/>
              </a:ext>
            </a:extLst>
          </p:cNvPr>
          <p:cNvSpPr txBox="1"/>
          <p:nvPr/>
        </p:nvSpPr>
        <p:spPr>
          <a:xfrm>
            <a:off x="5431692" y="4861759"/>
            <a:ext cx="1622898" cy="4426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Quality check</a:t>
            </a:r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1284A77B-AD9A-59C8-CB9F-A969A7C761E0}"/>
              </a:ext>
            </a:extLst>
          </p:cNvPr>
          <p:cNvSpPr/>
          <p:nvPr/>
        </p:nvSpPr>
        <p:spPr>
          <a:xfrm rot="5400000">
            <a:off x="1911602" y="5633206"/>
            <a:ext cx="397003" cy="242060"/>
          </a:xfrm>
          <a:prstGeom prst="rightArrow">
            <a:avLst>
              <a:gd name="adj1" fmla="val 31643"/>
              <a:gd name="adj2" fmla="val 90739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0C843A2A-4611-EB5F-9A70-0D30D93F7089}"/>
              </a:ext>
            </a:extLst>
          </p:cNvPr>
          <p:cNvSpPr/>
          <p:nvPr/>
        </p:nvSpPr>
        <p:spPr>
          <a:xfrm>
            <a:off x="7426729" y="4865626"/>
            <a:ext cx="1010997" cy="442674"/>
          </a:xfrm>
          <a:prstGeom prst="rightArrow">
            <a:avLst>
              <a:gd name="adj1" fmla="val 31643"/>
              <a:gd name="adj2" fmla="val 90739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54389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C64BEF-1CFA-CC96-7F64-3AFF914F1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348881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FCA0EB-68B0-43F8-2455-5A6A66D9204A}"/>
              </a:ext>
            </a:extLst>
          </p:cNvPr>
          <p:cNvCxnSpPr>
            <a:cxnSpLocks/>
          </p:cNvCxnSpPr>
          <p:nvPr/>
        </p:nvCxnSpPr>
        <p:spPr>
          <a:xfrm>
            <a:off x="4411220" y="1919235"/>
            <a:ext cx="2351432" cy="288066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3DCFDA-65AE-A9CD-FE0A-F60CBC0C0302}"/>
              </a:ext>
            </a:extLst>
          </p:cNvPr>
          <p:cNvCxnSpPr>
            <a:cxnSpLocks/>
          </p:cNvCxnSpPr>
          <p:nvPr/>
        </p:nvCxnSpPr>
        <p:spPr>
          <a:xfrm>
            <a:off x="4662311" y="1524000"/>
            <a:ext cx="2351432" cy="11086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AEDC1EB-7A70-EAF1-7150-490A44816CFF}"/>
              </a:ext>
            </a:extLst>
          </p:cNvPr>
          <p:cNvSpPr txBox="1"/>
          <p:nvPr/>
        </p:nvSpPr>
        <p:spPr>
          <a:xfrm>
            <a:off x="7892726" y="1043131"/>
            <a:ext cx="3281035" cy="64698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HI 21-cm emission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728550-5724-A849-35B9-99AB68578792}"/>
              </a:ext>
            </a:extLst>
          </p:cNvPr>
          <p:cNvSpPr txBox="1"/>
          <p:nvPr/>
        </p:nvSpPr>
        <p:spPr>
          <a:xfrm>
            <a:off x="761408" y="4799900"/>
            <a:ext cx="4667123" cy="64698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Supernova remnant IC 443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9F18B9-1655-F638-D0E6-54E83D97D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407" y="2580746"/>
            <a:ext cx="5514048" cy="428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884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D9CEDE-6F9E-4AD0-49D9-E77858269A45}"/>
              </a:ext>
            </a:extLst>
          </p:cNvPr>
          <p:cNvSpPr txBox="1"/>
          <p:nvPr/>
        </p:nvSpPr>
        <p:spPr>
          <a:xfrm>
            <a:off x="4092086" y="2705725"/>
            <a:ext cx="400782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i="1" dirty="0">
                <a:solidFill>
                  <a:srgbClr val="C00000"/>
                </a:solidFill>
                <a:latin typeface="Bradley Hand" pitchFamily="2" charset="77"/>
                <a:ea typeface="SimSun" panose="02010600030101010101" pitchFamily="2" charset="-122"/>
                <a:cs typeface="Charm" pitchFamily="2" charset="-34"/>
              </a:rPr>
              <a:t>HINSA</a:t>
            </a:r>
            <a:endParaRPr lang="en-US" sz="6600" i="1" dirty="0">
              <a:latin typeface="Bradley Hand" pitchFamily="2" charset="77"/>
              <a:ea typeface="SimSun" panose="02010600030101010101" pitchFamily="2" charset="-122"/>
              <a:cs typeface="Charm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67628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5A0F5846-4A35-EA7F-FC8C-69E282BE3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00B5F899-9A80-194C-9488-9208EB306632}" type="datetime1">
              <a:rPr lang="en-US" smtClean="0"/>
              <a:t>7/15/24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A8C15D-66DF-C072-3BC6-38CC685F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Galaxy group meeting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6BB834B-BE2C-1C5A-73DD-048B2B88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1B0539B-C7E9-1A4F-835A-23A67C6C3916}" type="slidenum">
              <a:rPr lang="en-US" smtClean="0"/>
              <a:t>4</a:t>
            </a:fld>
            <a:endParaRPr lang="en-US"/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BD7898EE-46B6-502F-72FA-5A593FBAD97D}"/>
              </a:ext>
            </a:extLst>
          </p:cNvPr>
          <p:cNvSpPr txBox="1"/>
          <p:nvPr/>
        </p:nvSpPr>
        <p:spPr>
          <a:xfrm>
            <a:off x="4262709" y="111600"/>
            <a:ext cx="3666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FAST observations</a:t>
            </a:r>
            <a:endParaRPr lang="zh-CN" altLang="en-US" sz="3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图片 13">
            <a:extLst>
              <a:ext uri="{FF2B5EF4-FFF2-40B4-BE49-F238E27FC236}">
                <a16:creationId xmlns:a16="http://schemas.microsoft.com/office/drawing/2014/main" id="{C5C9F601-781A-E6B0-BE2D-9E92F2A940B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53" t="2875" r="1842" b="1413"/>
          <a:stretch/>
        </p:blipFill>
        <p:spPr>
          <a:xfrm>
            <a:off x="265791" y="1390194"/>
            <a:ext cx="3665117" cy="36951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383028-06D8-7547-11C6-DF0350CA16F0}"/>
              </a:ext>
            </a:extLst>
          </p:cNvPr>
          <p:cNvSpPr txBox="1"/>
          <p:nvPr/>
        </p:nvSpPr>
        <p:spPr>
          <a:xfrm>
            <a:off x="126948" y="5220279"/>
            <a:ext cx="38499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FAST data calibration and imaging was done using our FAST </a:t>
            </a:r>
            <a:r>
              <a:rPr lang="en-US" dirty="0" err="1"/>
              <a:t>InterStellar</a:t>
            </a:r>
            <a:r>
              <a:rPr lang="en-US" dirty="0"/>
              <a:t> HI </a:t>
            </a:r>
            <a:r>
              <a:rPr lang="en-US" dirty="0">
                <a:solidFill>
                  <a:srgbClr val="C00000"/>
                </a:solidFill>
                <a:latin typeface="Bradley Hand" pitchFamily="2" charset="77"/>
              </a:rPr>
              <a:t>(</a:t>
            </a:r>
            <a:r>
              <a:rPr lang="en-US" i="1" dirty="0">
                <a:solidFill>
                  <a:srgbClr val="C00000"/>
                </a:solidFill>
                <a:latin typeface="Bradley Hand" pitchFamily="2" charset="77"/>
              </a:rPr>
              <a:t>FISH</a:t>
            </a:r>
            <a:r>
              <a:rPr lang="en-US" dirty="0">
                <a:solidFill>
                  <a:srgbClr val="C00000"/>
                </a:solidFill>
                <a:latin typeface="Bradley Hand" pitchFamily="2" charset="77"/>
              </a:rPr>
              <a:t>)</a:t>
            </a:r>
            <a:r>
              <a:rPr lang="en-US" dirty="0"/>
              <a:t> pipeline.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5335AC-0C31-7DF3-950D-B0B98DBD1DA5}"/>
              </a:ext>
            </a:extLst>
          </p:cNvPr>
          <p:cNvSpPr/>
          <p:nvPr/>
        </p:nvSpPr>
        <p:spPr>
          <a:xfrm>
            <a:off x="2925564" y="3462895"/>
            <a:ext cx="473799" cy="534155"/>
          </a:xfrm>
          <a:prstGeom prst="rect">
            <a:avLst/>
          </a:prstGeom>
          <a:noFill/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F05B098-3470-4704-C763-DBC536507108}"/>
              </a:ext>
            </a:extLst>
          </p:cNvPr>
          <p:cNvCxnSpPr>
            <a:cxnSpLocks/>
          </p:cNvCxnSpPr>
          <p:nvPr/>
        </p:nvCxnSpPr>
        <p:spPr>
          <a:xfrm flipV="1">
            <a:off x="3399363" y="1833729"/>
            <a:ext cx="1112250" cy="1629166"/>
          </a:xfrm>
          <a:prstGeom prst="line">
            <a:avLst/>
          </a:prstGeom>
          <a:ln w="127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AF113B-D9BC-F076-37A6-66A8D5A72B0F}"/>
              </a:ext>
            </a:extLst>
          </p:cNvPr>
          <p:cNvCxnSpPr>
            <a:cxnSpLocks/>
          </p:cNvCxnSpPr>
          <p:nvPr/>
        </p:nvCxnSpPr>
        <p:spPr>
          <a:xfrm>
            <a:off x="3399363" y="3997050"/>
            <a:ext cx="1112250" cy="603053"/>
          </a:xfrm>
          <a:prstGeom prst="line">
            <a:avLst/>
          </a:prstGeom>
          <a:ln w="127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Untitled">
            <a:hlinkClick r:id="" action="ppaction://media"/>
            <a:extLst>
              <a:ext uri="{FF2B5EF4-FFF2-40B4-BE49-F238E27FC236}">
                <a16:creationId xmlns:a16="http://schemas.microsoft.com/office/drawing/2014/main" id="{A5F2F3D8-4A9C-703F-E550-793A230EE64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/>
          <a:stretch/>
        </p:blipFill>
        <p:spPr>
          <a:xfrm>
            <a:off x="4511613" y="757786"/>
            <a:ext cx="7289564" cy="4589844"/>
          </a:xfrm>
          <a:prstGeom prst="rect">
            <a:avLst/>
          </a:prstGeom>
          <a:ln w="12700">
            <a:solidFill>
              <a:srgbClr val="92D05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19CE2E-1306-4AE0-BE1F-2BD8F7C376F1}"/>
              </a:ext>
            </a:extLst>
          </p:cNvPr>
          <p:cNvSpPr txBox="1"/>
          <p:nvPr/>
        </p:nvSpPr>
        <p:spPr>
          <a:xfrm>
            <a:off x="4511613" y="5681944"/>
            <a:ext cx="6534802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165 molecular clouds covered by Drift Scan Mode (</a:t>
            </a:r>
            <a:r>
              <a:rPr lang="en-US" i="1" dirty="0" err="1"/>
              <a:t>R</a:t>
            </a:r>
            <a:r>
              <a:rPr lang="en-US" baseline="-25000" dirty="0" err="1"/>
              <a:t>gc</a:t>
            </a:r>
            <a:r>
              <a:rPr lang="en-US" dirty="0"/>
              <a:t> = 11 - 14 kpc)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3F2145-5E9E-9556-9DBD-73B66A08F466}"/>
              </a:ext>
            </a:extLst>
          </p:cNvPr>
          <p:cNvSpPr txBox="1"/>
          <p:nvPr/>
        </p:nvSpPr>
        <p:spPr>
          <a:xfrm>
            <a:off x="5092318" y="1187204"/>
            <a:ext cx="5181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Drift scan towards a 12 deg x 4.5 deg celestial region</a:t>
            </a:r>
          </a:p>
          <a:p>
            <a:r>
              <a:rPr lang="en-US" b="1" dirty="0">
                <a:solidFill>
                  <a:srgbClr val="C00000"/>
                </a:solidFill>
              </a:rPr>
              <a:t>RMS ~ 0.2 K @ 0.15 km s</a:t>
            </a:r>
            <a:r>
              <a:rPr lang="en-US" b="1" baseline="30000" dirty="0">
                <a:solidFill>
                  <a:srgbClr val="C00000"/>
                </a:solidFill>
              </a:rPr>
              <a:t>-1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14" name="图片 5">
            <a:extLst>
              <a:ext uri="{FF2B5EF4-FFF2-40B4-BE49-F238E27FC236}">
                <a16:creationId xmlns:a16="http://schemas.microsoft.com/office/drawing/2014/main" id="{18BCF422-BD0A-F07A-24BC-39DE63F7F76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1" t="6854" r="1962"/>
          <a:stretch/>
        </p:blipFill>
        <p:spPr>
          <a:xfrm>
            <a:off x="265790" y="0"/>
            <a:ext cx="3006945" cy="136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172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1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 mute="1">
                <p:cTn id="17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4C3896A7-FDF2-1300-30DF-2FB4C963CBF9}"/>
              </a:ext>
            </a:extLst>
          </p:cNvPr>
          <p:cNvSpPr txBox="1"/>
          <p:nvPr/>
        </p:nvSpPr>
        <p:spPr>
          <a:xfrm>
            <a:off x="4066085" y="111600"/>
            <a:ext cx="40598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HINSA identification</a:t>
            </a:r>
            <a:endParaRPr lang="zh-CN" altLang="en-US" sz="3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173A5A-4358-DA46-F255-E0C03FBF6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58" y="1282310"/>
            <a:ext cx="5648840" cy="36439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FD442E-045A-0AA8-BFEE-95B898DAE814}"/>
              </a:ext>
            </a:extLst>
          </p:cNvPr>
          <p:cNvSpPr txBox="1"/>
          <p:nvPr/>
        </p:nvSpPr>
        <p:spPr>
          <a:xfrm>
            <a:off x="5962025" y="1254553"/>
            <a:ext cx="6093817" cy="369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Only </a:t>
            </a:r>
            <a:r>
              <a:rPr lang="en-US" sz="2000" b="1" dirty="0">
                <a:solidFill>
                  <a:srgbClr val="C00000"/>
                </a:solidFill>
              </a:rPr>
              <a:t>narrow</a:t>
            </a:r>
            <a:r>
              <a:rPr lang="en-US" sz="2000" dirty="0"/>
              <a:t> features (e.g., HI</a:t>
            </a:r>
            <a:r>
              <a:rPr lang="en-US" sz="2000" b="1" i="1" dirty="0">
                <a:solidFill>
                  <a:srgbClr val="C00000"/>
                </a:solidFill>
              </a:rPr>
              <a:t>N</a:t>
            </a:r>
            <a:r>
              <a:rPr lang="en-US" sz="2000" dirty="0"/>
              <a:t>SA) are prominent in the </a:t>
            </a:r>
            <a:r>
              <a:rPr lang="en-US" sz="2000" b="1" dirty="0">
                <a:solidFill>
                  <a:srgbClr val="C00000"/>
                </a:solidFill>
              </a:rPr>
              <a:t>2</a:t>
            </a:r>
            <a:r>
              <a:rPr lang="en-US" sz="2000" b="1" baseline="30000" dirty="0">
                <a:solidFill>
                  <a:srgbClr val="C00000"/>
                </a:solidFill>
              </a:rPr>
              <a:t>nd</a:t>
            </a:r>
            <a:r>
              <a:rPr lang="en-US" sz="2000" b="1" dirty="0">
                <a:solidFill>
                  <a:srgbClr val="C00000"/>
                </a:solidFill>
              </a:rPr>
              <a:t>-derivative</a:t>
            </a:r>
            <a:r>
              <a:rPr lang="en-US" sz="2000" dirty="0"/>
              <a:t> of HI spectrum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find a set of HINSA parameters (</a:t>
            </a:r>
            <a:r>
              <a:rPr lang="en-US" sz="2000" b="1" dirty="0">
                <a:solidFill>
                  <a:srgbClr val="C00000"/>
                </a:solidFill>
              </a:rPr>
              <a:t>optical depth, central velocity, and velocity dispersion</a:t>
            </a:r>
            <a:r>
              <a:rPr lang="en-US" sz="2000" dirty="0"/>
              <a:t>) so that the </a:t>
            </a:r>
            <a:r>
              <a:rPr lang="en-US" sz="2000" b="1" dirty="0">
                <a:solidFill>
                  <a:srgbClr val="C00000"/>
                </a:solidFill>
              </a:rPr>
              <a:t>recovered</a:t>
            </a:r>
            <a:r>
              <a:rPr lang="en-US" sz="2000" dirty="0"/>
              <a:t> (</a:t>
            </a:r>
            <a:r>
              <a:rPr lang="en-US" sz="2000" b="1" dirty="0">
                <a:solidFill>
                  <a:srgbClr val="C00000"/>
                </a:solidFill>
              </a:rPr>
              <a:t>non-absorption</a:t>
            </a:r>
            <a:r>
              <a:rPr lang="en-US" sz="2000" dirty="0"/>
              <a:t>) HI spectrum has minimized 2</a:t>
            </a:r>
            <a:r>
              <a:rPr lang="en-US" sz="2000" baseline="30000" dirty="0"/>
              <a:t>nd</a:t>
            </a:r>
            <a:r>
              <a:rPr lang="en-US" sz="2000" dirty="0"/>
              <a:t>-derivative.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CE8F6-1F40-A1D3-BDE6-F553132F490E}"/>
              </a:ext>
            </a:extLst>
          </p:cNvPr>
          <p:cNvSpPr txBox="1"/>
          <p:nvPr/>
        </p:nvSpPr>
        <p:spPr>
          <a:xfrm>
            <a:off x="739354" y="5182659"/>
            <a:ext cx="2297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400" i="0" u="none" strike="noStrike" dirty="0" err="1">
                <a:effectLst/>
              </a:rPr>
              <a:t>Krčo</a:t>
            </a:r>
            <a:r>
              <a:rPr lang="en-US" sz="2400" i="0" u="none" strike="noStrike" dirty="0">
                <a:effectLst/>
              </a:rPr>
              <a:t> et al. (2008)</a:t>
            </a:r>
            <a:endParaRPr lang="en-US" sz="2400" dirty="0">
              <a:effectLst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C6E494-A9BE-89E0-C6C8-D3D5540DEA5B}"/>
              </a:ext>
            </a:extLst>
          </p:cNvPr>
          <p:cNvCxnSpPr>
            <a:cxnSpLocks/>
          </p:cNvCxnSpPr>
          <p:nvPr/>
        </p:nvCxnSpPr>
        <p:spPr>
          <a:xfrm>
            <a:off x="457201" y="3086183"/>
            <a:ext cx="5353198" cy="1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13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C2135A-E8E3-86CE-9014-1B550295C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749" y="757931"/>
            <a:ext cx="9969168" cy="6100069"/>
          </a:xfrm>
          <a:prstGeom prst="rect">
            <a:avLst/>
          </a:prstGeom>
        </p:spPr>
      </p:pic>
      <p:sp>
        <p:nvSpPr>
          <p:cNvPr id="4" name="文本框 2">
            <a:extLst>
              <a:ext uri="{FF2B5EF4-FFF2-40B4-BE49-F238E27FC236}">
                <a16:creationId xmlns:a16="http://schemas.microsoft.com/office/drawing/2014/main" id="{A2EEADC0-F52A-8567-6DAE-E4A0D42F2EFD}"/>
              </a:ext>
            </a:extLst>
          </p:cNvPr>
          <p:cNvSpPr txBox="1"/>
          <p:nvPr/>
        </p:nvSpPr>
        <p:spPr>
          <a:xfrm>
            <a:off x="4066085" y="111600"/>
            <a:ext cx="3611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decent example</a:t>
            </a:r>
            <a:endParaRPr lang="zh-CN" altLang="en-US" sz="3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63641C-685B-9BF8-2DF8-46C4C887497D}"/>
              </a:ext>
            </a:extLst>
          </p:cNvPr>
          <p:cNvSpPr txBox="1"/>
          <p:nvPr/>
        </p:nvSpPr>
        <p:spPr>
          <a:xfrm>
            <a:off x="7074037" y="940425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Optical depth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BF364F-652C-FD7B-F843-4CF005345B12}"/>
              </a:ext>
            </a:extLst>
          </p:cNvPr>
          <p:cNvSpPr txBox="1"/>
          <p:nvPr/>
        </p:nvSpPr>
        <p:spPr>
          <a:xfrm>
            <a:off x="8477683" y="2302462"/>
            <a:ext cx="1635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Central velocity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883C26-A2E9-B51A-2AF2-9D88E1A9297A}"/>
              </a:ext>
            </a:extLst>
          </p:cNvPr>
          <p:cNvSpPr txBox="1"/>
          <p:nvPr/>
        </p:nvSpPr>
        <p:spPr>
          <a:xfrm>
            <a:off x="9867477" y="3688250"/>
            <a:ext cx="1943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Velocity dispersion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56EE15-4C84-452E-7B37-67E7E1837B8B}"/>
              </a:ext>
            </a:extLst>
          </p:cNvPr>
          <p:cNvSpPr txBox="1"/>
          <p:nvPr/>
        </p:nvSpPr>
        <p:spPr>
          <a:xfrm>
            <a:off x="130629" y="4682532"/>
            <a:ext cx="1281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MWISP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1B690F-9540-AD45-3B3A-C690B1C6684B}"/>
              </a:ext>
            </a:extLst>
          </p:cNvPr>
          <p:cNvSpPr txBox="1"/>
          <p:nvPr/>
        </p:nvSpPr>
        <p:spPr>
          <a:xfrm>
            <a:off x="140677" y="2301073"/>
            <a:ext cx="891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FAST</a:t>
            </a:r>
          </a:p>
        </p:txBody>
      </p:sp>
    </p:spTree>
    <p:extLst>
      <p:ext uri="{BB962C8B-B14F-4D97-AF65-F5344CB8AC3E}">
        <p14:creationId xmlns:p14="http://schemas.microsoft.com/office/powerpoint/2010/main" val="3680704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D08CA6-44EE-2690-A432-31DA10A5A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02" y="446675"/>
            <a:ext cx="3877865" cy="5051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6FFF1F-6661-157E-2553-8A5E2DBDC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367" y="446675"/>
            <a:ext cx="3797452" cy="49595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3E554A-5FCF-6D24-C98E-8BCD9DC53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819" y="446675"/>
            <a:ext cx="3932700" cy="505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1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69231B-412E-187E-BDE5-7CCE4B633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13431"/>
            <a:ext cx="3957154" cy="5195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333200-6E42-ABB9-17DE-2D146CDBA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156" y="713430"/>
            <a:ext cx="4121596" cy="5195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39366A-AA0D-11F9-D762-C3010A70E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52" y="713429"/>
            <a:ext cx="4059222" cy="519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28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E180B9-AAD7-92A1-21C8-37573A0F8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578" y="1472332"/>
            <a:ext cx="6469422" cy="48189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5EB449-6625-629C-CE69-ED9BA1208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22578" cy="42742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138AA0-8268-FCDE-3829-EEFA5A9755E5}"/>
              </a:ext>
            </a:extLst>
          </p:cNvPr>
          <p:cNvSpPr txBox="1"/>
          <p:nvPr/>
        </p:nvSpPr>
        <p:spPr>
          <a:xfrm>
            <a:off x="894522" y="5128591"/>
            <a:ext cx="39982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HINSA from 21-cm spectra</a:t>
            </a:r>
          </a:p>
          <a:p>
            <a:endParaRPr lang="en-US" dirty="0"/>
          </a:p>
          <a:p>
            <a:r>
              <a:rPr lang="en-US" dirty="0"/>
              <a:t>H2 from integrated intensity of 13CO 1-0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F0276B-B06F-8705-D0B5-2D3B1CE97F6B}"/>
              </a:ext>
            </a:extLst>
          </p:cNvPr>
          <p:cNvSpPr/>
          <p:nvPr/>
        </p:nvSpPr>
        <p:spPr>
          <a:xfrm>
            <a:off x="7235687" y="2921330"/>
            <a:ext cx="2345635" cy="1223286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26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3467</TotalTime>
  <Words>227</Words>
  <Application>Microsoft Macintosh PowerPoint</Application>
  <PresentationFormat>Widescreen</PresentationFormat>
  <Paragraphs>45</Paragraphs>
  <Slides>9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Bradley Hand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Lingrui Lin</dc:creator>
  <cp:lastModifiedBy>Lingrui Lin</cp:lastModifiedBy>
  <cp:revision>210</cp:revision>
  <dcterms:created xsi:type="dcterms:W3CDTF">2024-02-28T09:31:26Z</dcterms:created>
  <dcterms:modified xsi:type="dcterms:W3CDTF">2024-07-15T01:13:49Z</dcterms:modified>
</cp:coreProperties>
</file>