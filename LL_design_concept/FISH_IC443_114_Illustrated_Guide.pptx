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5240000" cy="85725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p:cViewPr varScale="1">
        <p:scale>
          <a:sx n="101" d="100"/>
          <a:sy n="101" d="100"/>
        </p:scale>
        <p:origin x="23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interactive reduction of N_0002, N_0003 and N_0004 from all five IC443 scans and all 19 beams. Full telemetry-supported footprint, no small spatial crop. Source: /bb8/lingrui/my_projects/FAST_pipeline_v0.0/src/fastfish/commands/shell.py and /bb8/lingrui/my_projects/FAST_pipeline_v0.0/src/fastfish/viewer/qt_viewer.py.</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/bb8/lingrui/my_projects/FAST_pipeline_v0.0/src/fastfish/io/project_input.py locates org_spec, org_cal and feed_info. Extracted CAL discovery is in calibration/extracted.py. No raw PSR extraction is required. The inventory was read on 2026-10-25: 285 SCI files, 95 scan-beam groups, 583680 raw input timestamps, 65536 native channels.</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 terminal inside the .114 server graphical desktop/VNC session. A non-graphical SSH shell does not display Qt automatically. Commands are ordinary server-shell commands, before the fish&gt; prompt.</a:t>
            </a:r>
          </a:p>
          <a:p>
            <a:endParaRPr/>
          </a:p>
          <a:p>
            <a:r>
              <a:t>cd /bb8/lingrui/my_projects/FAST_IC443</a:t>
            </a:r>
          </a:p>
          <a:p>
            <a:r>
              <a:t>export LD_PRELOAD=/astrosoft/anaconda/anaconda3/lib/libstdc++.so.6</a:t>
            </a:r>
          </a:p>
          <a:p>
            <a:r>
              <a:t>~/.local/bin/fish --viewer qt</a:t>
            </a:r>
          </a:p>
          <a:p>
            <a:endParaRPr/>
          </a:p>
          <a:p>
            <a:r>
              <a:t>The existing .114 SciPy installation can fail with CXXABI_1.3.9 not found if it loads /lib64/libstdc++.so.6. The export selects the already-installed newer libstdc++ for this terminal and its children. It changes no system libraries or pipeline science settings. Tested import of scipy.interpolate, pyqtgraph and fastfish.viewer.worker passed with this setting. Existing LD_PRELOAD entries can be retained if needed. Source launcher /home/lingrui/.local/bin/fish uses /usr/bin/python3 and exports the pipeline src path.</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server shell must already be in /bb8/lingrui/my_projects/FAST_IC443, as on the preceding slide. The project command sets discovery paths and does not change cwd.</a:t>
            </a:r>
          </a:p>
          <a:p>
            <a:endParaRPr/>
          </a:p>
          <a:p>
            <a:r>
              <a:t>project /bb8/lingrui/my_projects/FAST_IC443</a:t>
            </a:r>
          </a:p>
          <a:p>
            <a:r>
              <a:t>file in org_spec/*/*/*_N_000[234].fits --run-root fish_runs/IC443_0002_0004</a:t>
            </a:r>
          </a:p>
          <a:p>
            <a:r>
              <a:t>list</a:t>
            </a:r>
          </a:p>
          <a:p>
            <a:endParaRPr/>
          </a:p>
          <a:p>
            <a:r>
              <a:t>The named run directory must be empty or absent. For another reduction choose another run-root name. To reopen your saved session use restore rather than file in over a nonempty workspace. file in reads metadata rather than all spectral arrays. N_* are narrow-band science files, and [234] selects precisely the three sequence numbers. Source commands/shell.py and io/file_input.py.</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 where computes valid pointings and chooses an ICRS/TAN cube footprint automatically. A repeated calculation can reuse the validated project coordinate cache. The screenshot uses a separate sampled documentation selection, not the full science selection. The production command processes all loaded rows. Current point-worker count is a direct ceiling, so select a count appropriate to available RAM and storage. The tutorial preparation used bounded timestamp-prefix reads to avoid a slow full metadata traversal. Source: io/project_input.py, pointing/cache.py, viewer/qt_viewer.py.</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viewer/qt_viewer.py clicked() ignores map clicks in Footprint view. Choose Apply calibration or Baseline, then click a pointing. Yellow marks the selected location. Previous/Next step through the loaded selection. The sample shown is real IC443 M01 N_0003 row 1024. Its documentation-session index differs from a full selection, so no index is prescribed.</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viewer/keyboard.py. Z arms a drag rectangle, horizontal-only on spectra. Shift+Z changes both axes. B restores previous view, F full extent, Escape cancels an armed zoom. Free pan and wheel navigation are disabled. Exact limits: right-click spectrum, Y axis, Manual, set min/max and press Enter. Keyboard commands do not apply while typing in parameter fields. This image intentionally clips the bright H I peak to show baseline residuals.</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calibration/extracted.py rebuild_reference and processing/preview.py reference_display. ON-OFF smoothing acts before deriving temperature from the extracted CAL. Tpsr smoothing filters the temperature reference in time before applying calibration. Each acts per frequency channel, then diagnostic curves summarize the band with a median. Therefore a smoothed diagnostic median need not equal smoothing the plotted raw median. Actual median CAL spacing 0.2013266087 s, so ten timestamps span approximately 2.01 s. AA/BB time traces are selected with the polarization control. Changes need Apply/refit and appropriate batch stages rerun under the new fingerprints.</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viewer/worker.py preview_arrays and processing/preview.py calibrate. Upper panel is raw SCI counts, lower panel calibrated temperature in K at the same selected time and native frequency grid. AA, BB and Mean change display, not the underlying selection. Baseline fits remain independent in AA/BB and the pipeline averages corrected polarizations later. Detected RFI masks affect gain/baseline fitting anchors; science values stay retained.</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viewer/qt_viewer.py display_values and processing/spectral.py. Display bin(ch)=32 averages only the plotted channel groups. n_b=2 performs overlap-aware science rebinning after Doppler alignment. Changing Display bin does not alter stored data, fits or cube resolution. The true output spacing with native 476.837158 Hz channels and n_b=2 is about 0.201283589 km/s. Screenshot strips are crops of the real viewer, not reconstructed UI.</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baseline/components.py and viewer/qt_viewer.py. Components fit sequential residuals in list order, not a simultaneous joint model. Every component excludes protected HI, detected RFI and baseline-only manual exclusions. Range specifies both fit and application domain; no component extrapolates beyond that range. The shown defaults are sine/cosine plus constant on the full band, then degree-1 polynomial on [-1500,1500] km/s. Automatic sine periods are shared by a short chunk and polarization; amplitudes are independent per timestamp and polarization. n is polynomial degree, with n=0 constant, 1 linear, 2 quadratic, 3 cubic. Period uses native-frequency MHz: auto, a fixed number, or a search range such as 8:30. The screenshot is the actual detached console.</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rfi/detection.py track_intervals, rfi/catalog.py and baseline/components.py. Catalog entries are search priors and do not force masks when no signal is detected. This actual chunk produced intervals in MHz: [[1405.0042613983155,1406.1756481170655],[1416.8619762420653,1418.2606090545655],[1421.4370250701904,1422.5330699920655],[1433.0973278045653,1434.4349254608155]]. The protected HI half-width is 250 km/s. The screenshot's red-tinted bands mark detected intervals and the neutral region marks protected HI. Manual Exclude km/s accepts JSON pairs such as [[700,900]], but that is syntax only, not a recommendation for an actual IC443 feature. Manual exclusions affect baseline fits, do not delete science channels, and do not retroactively remove contamination from calibration or the cube.</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Actual sample report has at_search_boundary/period-at-limit warning in the displayed fit. This guide does not claim the default model is scientifically adequate. Use AA/BB comparison, alternative components and justified windows before accepting the fit. Check clean channels outside protected HI and detected RFI. Do not require zero within protected HI, where real emission contributes. Model uncertainty there cannot be inferred simply from a flat residual outside the line. Source: viewer/qt_viewer.py and baseline/components.py.</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commands/shell.py defaults and do_set, processing/preview.py output_grid/resample and processing/spectral.py. Enter set velocity_range_kms [-250,250] in the FISH terminal, then use Refresh in the viewer to read the session. This velocity-range control is not a current GUI field. Rebin n_b=2 gives approximately 0.2013 km/s output channel spacing. In gaussian mode n_g is final FWHM in native-channel units, and output spacing equals that width. It assumes native_fwhm_chan=1 unless configured otherwise. Display bin=1 here reveals output channels. table run writes disk-backed spectra after Doppler alignment; this preview does no spatial gridding.</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viewer/qt_viewer.py select_region/region_mean and processing/preview.py region_spectrum. In a processing view, put cursor over map and press R for rectangle or P for polygon. Adjust handles and choose Region mean (&lt;=128). This computes a chunk-sampled preview using at most 128 spectra, no spatial gridding. The screenshot region contains 32 pointings and uses all 32. It does not alter the batch input selection, cube footprint or spectral grid. The production run in this guide keeps the full telemetry-supported footprint of the selected 285 files.</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commands/shell.py _run and processing/stages.py. Current Qt has no Run all button. Run stages from the same shared fish session. Wait after each stage; dependencies require completion with matching fingerprints. Commands:</a:t>
            </a:r>
          </a:p>
          <a:p>
            <a:endParaRPr/>
          </a:p>
          <a:p>
            <a:r>
              <a:t>tsyscal run</a:t>
            </a:r>
          </a:p>
          <a:p>
            <a:r>
              <a:t>wait</a:t>
            </a:r>
          </a:p>
          <a:p>
            <a:r>
              <a:t>applycal run</a:t>
            </a:r>
          </a:p>
          <a:p>
            <a:r>
              <a:t>wait</a:t>
            </a:r>
          </a:p>
          <a:p>
            <a:r>
              <a:t>baseline run</a:t>
            </a:r>
          </a:p>
          <a:p>
            <a:r>
              <a:t>wait</a:t>
            </a:r>
          </a:p>
          <a:p>
            <a:r>
              <a:t>table run</a:t>
            </a:r>
          </a:p>
          <a:p>
            <a:r>
              <a:t>wait</a:t>
            </a:r>
          </a:p>
          <a:p>
            <a:r>
              <a:t>xy_map run --validate</a:t>
            </a:r>
          </a:p>
          <a:p>
            <a:r>
              <a:t>wait</a:t>
            </a:r>
          </a:p>
          <a:p>
            <a:endParaRPr/>
          </a:p>
          <a:p>
            <a:r>
              <a:t>Current project defaults: processing worker ceiling64, I/O ceiling4, memory admission can reduce actual heavy-stage concurrency. A larger ceiling does not force64 heavy tasks. Pointing worker selection is separate. Do not start parallel copies of the same run.</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Commands: status shows pending/complete stage checkpoints, current job and paths. settings shows the shared session, including committed GUI settings. wait blocks on the identified active job; Ctrl-C returns to the prompt without stopping it. stop is the explicit termination command. save and restore operate on a small JSON session and retain the run root. Source commands/shell.py do_status/do_wait/do_save/do_restore. A summary file is not proof of correct astrophysical baseline or absolute calibration. No current new IC443 cube was run as part of preparing this deck.</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files are produced only after a successful new run. Source processing/pipeline.py combine/validate and processing/stages.py. For the project import cfg.name is FAST_IC443, hence FAST_IC443_cube.fits. The folder is fish_runs/IC443_0002_0004/stages/cube/&lt;fingerprint&gt;/. Coverage is geometric kernel weight, not an uncertainty map. RFI fraction is a weighted flag contribution, not an RFI-cleaned cube. With configurable baseline components the former +/-1000 versus +/-1500 sensitivity statistic is undefined, so baseline_sensitivity.fits is NaN and a missing-fraction map makes this explicit. Validation.json passed=true checks arithmetic/support/fractions and optional direct versus merged grid agreement, not true baseline, real-RFI classification or absolute calibration. Current automatic geometry uses ICRS/TAN and 1 arcmin pixels, gridding Gaussian FWHM1.5 arcmin with3sigma support. Inspect maps and scan/beam overlaps separately.</a:t>
            </a:r>
          </a:p>
          <a:p>
            <a:endParaRPr/>
          </a:p>
          <a:p>
            <a:r>
              <a:t>Screenshots: actual FISH Qt controls rendered offscreen on lingrui@114.212.167.114, 2026-10-25. The documentation selection uses 32 exact timestamp pointings per SCI file (9120 total), while the production file pattern selects 285 files and 583680 input timestamps. The displayed spectrum is Dec+2234_06_05/M01/N_0003, raw row 1024, RA 94.30880173455088 deg, Dec 22.579295011444458 deg. No science batch stages or new cube were run to make this guide.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5A6C795-5F85-4086-BB7C-15577E0E22E3}"/>
              </a:ext>
            </a:extLst>
          </p:cNvPr>
          <p:cNvSpPr>
            <a:spLocks noGrp="1"/>
          </p:cNvSpPr>
          <p:nvPr>
            <p:ph type="title"/>
          </p:nvPr>
        </p:nvSpPr>
        <p:spPr>
          <a:xfrm>
            <a:off x="1524000" y="3238500"/>
            <a:ext cx="12192000" cy="1238250"/>
          </a:xfrm>
          <a:prstGeom prst="rect">
            <a:avLst/>
          </a:prstGeom>
          <a:noFill/>
          <a:ln>
            <a:noFill/>
            <a:prstDash val="solid"/>
          </a:ln>
        </p:spPr>
        <p:txBody>
          <a:bodyPr wrap="square" lIns="0" tIns="0" rIns="0" bIns="0" anchor="ctr">
            <a:normAutofit/>
          </a:bodyPr>
          <a:lstStyle>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25A1D11-F5E2-40D5-9377-09AD4A020A89}"/>
              </a:ext>
            </a:extLst>
          </p:cNvPr>
          <p:cNvSpPr>
            <a:spLocks noGrp="1"/>
          </p:cNvSpPr>
          <p:nvPr>
            <p:ph type="subTitle" idx="1"/>
          </p:nvPr>
        </p:nvSpPr>
        <p:spPr>
          <a:xfrm>
            <a:off x="2286000" y="4714875"/>
            <a:ext cx="10668000" cy="952500"/>
          </a:xfrm>
          <a:prstGeom prst="rect">
            <a:avLst/>
          </a:prstGeom>
          <a:noFill/>
          <a:ln>
            <a:noFill/>
            <a:prstDash val="solid"/>
          </a:ln>
        </p:spPr>
        <p:txBody>
          <a:bodyPr wrap="square" lIns="0" tIns="0" rIns="0" bIns="0" anchor="ctr">
            <a:normAutofit/>
          </a:bodyPr>
          <a:lstStyle>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37000C4-0800-4425-B0FA-CCF2EF22E4C4}"/>
              </a:ext>
            </a:extLst>
          </p:cNvPr>
          <p:cNvSpPr>
            <a:spLocks noGrp="1"/>
          </p:cNvSpPr>
          <p:nvPr>
            <p:ph type="title"/>
          </p:nvPr>
        </p:nvSpPr>
        <p:spPr>
          <a:xfrm>
            <a:off x="1524000" y="3571875"/>
            <a:ext cx="12192000" cy="1428750"/>
          </a:xfrm>
          <a:prstGeom prst="rect">
            <a:avLst/>
          </a:prstGeom>
          <a:noFill/>
          <a:ln>
            <a:noFill/>
            <a:prstDash val="solid"/>
          </a:ln>
        </p:spPr>
        <p:txBody>
          <a:bodyPr wrap="square" lIns="0" tIns="0" rIns="0" bIns="0" anchor="ctr">
            <a:normAutofit/>
          </a:bodyPr>
          <a:lstStyle>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3AC4E6-683E-4A81-B5D4-CC7485A2A11E}"/>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55F3EEC-0B21-4918-947E-8907D5951085}"/>
              </a:ext>
            </a:extLst>
          </p:cNvPr>
          <p:cNvSpPr>
            <a:spLocks noGrp="1"/>
          </p:cNvSpPr>
          <p:nvPr>
            <p:ph type="body" idx="1"/>
          </p:nvPr>
        </p:nvSpPr>
        <p:spPr>
          <a:xfrm>
            <a:off x="857250" y="2381250"/>
            <a:ext cx="13525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B5310C1-649A-47E0-9A69-DBFCAED4D3D9}"/>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C431AB9-5C02-4624-A467-EFA4A78A1726}"/>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9366E99-8CF4-4645-8658-F21046EA470E}"/>
              </a:ext>
            </a:extLst>
          </p:cNvPr>
          <p:cNvSpPr>
            <a:spLocks noGrp="1"/>
          </p:cNvSpPr>
          <p:nvPr>
            <p:ph type="body" idx="2"/>
          </p:nvPr>
        </p:nvSpPr>
        <p:spPr>
          <a:xfrm>
            <a:off x="8096250" y="2381250"/>
            <a:ext cx="6286500" cy="5334000"/>
          </a:xfrm>
          <a:prstGeom prst="rect">
            <a:avLst/>
          </a:prstGeom>
          <a:noFill/>
          <a:ln>
            <a:noFill/>
            <a:prstDash val="solid"/>
          </a:ln>
        </p:spPr>
        <p:txBody>
          <a:bodyPr wrap="square" lIns="0" tIns="0" rIns="0" bIns="0" anchor="t">
            <a:normAutofit/>
          </a:bodyPr>
          <a:lstStyle>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FE4D827-51F5-47BF-9587-72995E0B6FE7}"/>
              </a:ext>
            </a:extLst>
          </p:cNvPr>
          <p:cNvSpPr>
            <a:spLocks noGrp="1"/>
          </p:cNvSpPr>
          <p:nvPr>
            <p:ph type="title"/>
          </p:nvPr>
        </p:nvSpPr>
        <p:spPr>
          <a:xfrm>
            <a:off x="857250" y="666750"/>
            <a:ext cx="13525500" cy="1047750"/>
          </a:xfrm>
          <a:prstGeom prst="rect">
            <a:avLst/>
          </a:prstGeom>
          <a:noFill/>
          <a:ln>
            <a:noFill/>
            <a:prstDash val="solid"/>
          </a:ln>
        </p:spPr>
        <p:txBody>
          <a:bodyPr wrap="square" lIns="0" tIns="0" rIns="0" bIns="0" anchor="t">
            <a:normAutofit/>
          </a:bodyPr>
          <a:lstStyle>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182E207-6C66-47D2-9450-BC2DABA5B218}"/>
              </a:ext>
            </a:extLst>
          </p:cNvPr>
          <p:cNvSpPr>
            <a:spLocks noGrp="1"/>
          </p:cNvSpPr>
          <p:nvPr>
            <p:ph type="body" idx="1"/>
          </p:nvPr>
        </p:nvSpPr>
        <p:spPr>
          <a:xfrm>
            <a:off x="857250" y="2381250"/>
            <a:ext cx="6286500" cy="5334000"/>
          </a:xfrm>
          <a:prstGeom prst="rect">
            <a:avLst/>
          </a:prstGeom>
          <a:noFill/>
          <a:ln>
            <a:noFill/>
            <a:prstDash val="solid"/>
          </a:ln>
        </p:spPr>
        <p:txBody>
          <a:bodyPr wrap="square" lIns="0" tIns="0" rIns="0" bIns="0" anchor="t">
            <a:normAutofit/>
          </a:bodyPr>
          <a:lstStyle>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4562B0-851D-4CD5-8CB9-74B0ADFF304C}"/>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FISH for IC443</a:t>
            </a:r>
          </a:p>
        </p:txBody>
      </p:sp>
      <p:sp>
        <p:nvSpPr>
          <p:cNvPr id="2" name="Rectangle 1">
            <a:extLst>
              <a:ext uri="{FF2B5EF4-FFF2-40B4-BE49-F238E27FC236}">
                <a16:creationId xmlns:a16="http://schemas.microsoft.com/office/drawing/2014/main" id="{E09132E6-7BAD-4E3F-9BE5-643E919F5EAB}"/>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01</a:t>
            </a:r>
          </a:p>
        </p:txBody>
      </p:sp>
      <p:sp>
        <p:nvSpPr>
          <p:cNvPr id="3" name="Rectangle 2">
            <a:extLst>
              <a:ext uri="{FF2B5EF4-FFF2-40B4-BE49-F238E27FC236}">
                <a16:creationId xmlns:a16="http://schemas.microsoft.com/office/drawing/2014/main" id="{FC644C59-B321-4660-B56E-2A5532A88237}"/>
              </a:ext>
            </a:extLst>
          </p:cNvPr>
          <p:cNvSpPr>
            <a:spLocks noGrp="1"/>
          </p:cNvSpPr>
          <p:nvPr/>
        </p:nvSpPr>
        <p:spPr>
          <a:xfrm>
            <a:off x="647700" y="1619250"/>
            <a:ext cx="4857750" cy="1066800"/>
          </a:xfrm>
          <a:prstGeom prst="rect">
            <a:avLst/>
          </a:prstGeom>
          <a:noFill/>
          <a:ln w="0">
            <a:noFill/>
          </a:ln>
        </p:spPr>
        <p:txBody>
          <a:bodyPr wrap="square" lIns="0" tIns="0" rIns="0" bIns="0" anchor="t">
            <a:noAutofit/>
          </a:bodyPr>
          <a:lstStyle>
            <a:defPPr>
              <a:defRPr sz="2850" b="1">
                <a:solidFill>
                  <a:srgbClr val="075CA8"/>
                </a:solidFill>
                <a:latin typeface="Arial"/>
                <a:ea typeface="Arial"/>
                <a:cs typeface="Arial"/>
              </a:defRPr>
            </a:defPPr>
            <a:lvl1pPr>
              <a:defRPr sz="2850" b="1">
                <a:solidFill>
                  <a:srgbClr val="075CA8"/>
                </a:solidFill>
                <a:latin typeface="Arial"/>
                <a:ea typeface="Arial"/>
                <a:cs typeface="Arial"/>
              </a:defRPr>
            </a:lvl1pPr>
            <a:lvl2pPr>
              <a:defRPr sz="2850" b="1">
                <a:solidFill>
                  <a:srgbClr val="075CA8"/>
                </a:solidFill>
                <a:latin typeface="Arial"/>
                <a:ea typeface="Arial"/>
                <a:cs typeface="Arial"/>
              </a:defRPr>
            </a:lvl2pPr>
            <a:lvl3pPr>
              <a:defRPr sz="2850" b="1">
                <a:solidFill>
                  <a:srgbClr val="075CA8"/>
                </a:solidFill>
                <a:latin typeface="Arial"/>
                <a:ea typeface="Arial"/>
                <a:cs typeface="Arial"/>
              </a:defRPr>
            </a:lvl3pPr>
            <a:lvl4pPr>
              <a:defRPr sz="2850" b="1">
                <a:solidFill>
                  <a:srgbClr val="075CA8"/>
                </a:solidFill>
                <a:latin typeface="Arial"/>
                <a:ea typeface="Arial"/>
                <a:cs typeface="Arial"/>
              </a:defRPr>
            </a:lvl4pPr>
            <a:lvl5pPr>
              <a:defRPr sz="2850" b="1">
                <a:solidFill>
                  <a:srgbClr val="075CA8"/>
                </a:solidFill>
                <a:latin typeface="Arial"/>
                <a:ea typeface="Arial"/>
                <a:cs typeface="Arial"/>
              </a:defRPr>
            </a:lvl5pPr>
            <a:lvl6pPr>
              <a:defRPr sz="2850" b="1">
                <a:solidFill>
                  <a:srgbClr val="075CA8"/>
                </a:solidFill>
                <a:latin typeface="Arial"/>
                <a:ea typeface="Arial"/>
                <a:cs typeface="Arial"/>
              </a:defRPr>
            </a:lvl6pPr>
            <a:lvl7pPr>
              <a:defRPr sz="2850" b="1">
                <a:solidFill>
                  <a:srgbClr val="075CA8"/>
                </a:solidFill>
                <a:latin typeface="Arial"/>
                <a:ea typeface="Arial"/>
                <a:cs typeface="Arial"/>
              </a:defRPr>
            </a:lvl7pPr>
            <a:lvl8pPr>
              <a:defRPr sz="2850" b="1">
                <a:solidFill>
                  <a:srgbClr val="075CA8"/>
                </a:solidFill>
                <a:latin typeface="Arial"/>
                <a:ea typeface="Arial"/>
                <a:cs typeface="Arial"/>
              </a:defRPr>
            </a:lvl8pPr>
            <a:lvl9pPr>
              <a:defRPr sz="2850" b="1">
                <a:solidFill>
                  <a:srgbClr val="075CA8"/>
                </a:solidFill>
                <a:latin typeface="Arial"/>
                <a:ea typeface="Arial"/>
                <a:cs typeface="Arial"/>
              </a:defRPr>
            </a:lvl9pPr>
          </a:lstStyle>
          <a:p>
            <a:pPr>
              <a:defRPr sz="2850" b="1">
                <a:solidFill>
                  <a:srgbClr val="075CA8"/>
                </a:solidFill>
                <a:latin typeface="Arial"/>
                <a:ea typeface="Arial"/>
                <a:cs typeface="Arial"/>
              </a:defRPr>
            </a:pPr>
            <a:r>
              <a:rPr sz="2850" b="1">
                <a:solidFill>
                  <a:srgbClr val="075CA8"/>
                </a:solidFill>
                <a:latin typeface="Arial"/>
                <a:ea typeface="Arial"/>
                <a:cs typeface="Arial"/>
              </a:rPr>
              <a:t>Interactive reduction on</a:t>
            </a:r>
          </a:p>
          <a:p>
            <a:pPr>
              <a:defRPr sz="2850" b="1">
                <a:solidFill>
                  <a:srgbClr val="075CA8"/>
                </a:solidFill>
                <a:latin typeface="Arial"/>
                <a:ea typeface="Arial"/>
                <a:cs typeface="Arial"/>
              </a:defRPr>
            </a:pPr>
            <a:r>
              <a:rPr sz="2850" b="1">
                <a:solidFill>
                  <a:srgbClr val="075CA8"/>
                </a:solidFill>
                <a:latin typeface="Arial"/>
                <a:ea typeface="Arial"/>
                <a:cs typeface="Arial"/>
              </a:rPr>
              <a:t>114.212.167.114</a:t>
            </a:r>
          </a:p>
        </p:txBody>
      </p:sp>
      <p:sp>
        <p:nvSpPr>
          <p:cNvPr id="4" name="Rectangle 3">
            <a:extLst>
              <a:ext uri="{FF2B5EF4-FFF2-40B4-BE49-F238E27FC236}">
                <a16:creationId xmlns:a16="http://schemas.microsoft.com/office/drawing/2014/main" id="{65071548-F6A3-44F9-8CEE-6B9DAAB5BC4A}"/>
              </a:ext>
            </a:extLst>
          </p:cNvPr>
          <p:cNvSpPr>
            <a:spLocks noGrp="1"/>
          </p:cNvSpPr>
          <p:nvPr/>
        </p:nvSpPr>
        <p:spPr>
          <a:xfrm>
            <a:off x="647700" y="3000375"/>
            <a:ext cx="4857750" cy="666750"/>
          </a:xfrm>
          <a:prstGeom prst="rect">
            <a:avLst/>
          </a:prstGeom>
          <a:noFill/>
          <a:ln w="0">
            <a:noFill/>
          </a:ln>
        </p:spPr>
        <p:txBody>
          <a:bodyPr wrap="square" lIns="0" tIns="0" rIns="0" bIns="0" anchor="t">
            <a:noAutofit/>
          </a:bodyPr>
          <a:lstStyle>
            <a:defPPr>
              <a:defRPr sz="2625" b="0">
                <a:solidFill>
                  <a:srgbClr val="075CA8"/>
                </a:solidFill>
                <a:latin typeface="Menlo"/>
                <a:ea typeface="Menlo"/>
                <a:cs typeface="Menlo"/>
              </a:defRPr>
            </a:defPPr>
            <a:lvl1pPr>
              <a:defRPr sz="2625" b="0">
                <a:solidFill>
                  <a:srgbClr val="075CA8"/>
                </a:solidFill>
                <a:latin typeface="Menlo"/>
                <a:ea typeface="Menlo"/>
                <a:cs typeface="Menlo"/>
              </a:defRPr>
            </a:lvl1pPr>
            <a:lvl2pPr>
              <a:defRPr sz="2625" b="0">
                <a:solidFill>
                  <a:srgbClr val="075CA8"/>
                </a:solidFill>
                <a:latin typeface="Menlo"/>
                <a:ea typeface="Menlo"/>
                <a:cs typeface="Menlo"/>
              </a:defRPr>
            </a:lvl2pPr>
            <a:lvl3pPr>
              <a:defRPr sz="2625" b="0">
                <a:solidFill>
                  <a:srgbClr val="075CA8"/>
                </a:solidFill>
                <a:latin typeface="Menlo"/>
                <a:ea typeface="Menlo"/>
                <a:cs typeface="Menlo"/>
              </a:defRPr>
            </a:lvl3pPr>
            <a:lvl4pPr>
              <a:defRPr sz="2625" b="0">
                <a:solidFill>
                  <a:srgbClr val="075CA8"/>
                </a:solidFill>
                <a:latin typeface="Menlo"/>
                <a:ea typeface="Menlo"/>
                <a:cs typeface="Menlo"/>
              </a:defRPr>
            </a:lvl4pPr>
            <a:lvl5pPr>
              <a:defRPr sz="2625" b="0">
                <a:solidFill>
                  <a:srgbClr val="075CA8"/>
                </a:solidFill>
                <a:latin typeface="Menlo"/>
                <a:ea typeface="Menlo"/>
                <a:cs typeface="Menlo"/>
              </a:defRPr>
            </a:lvl5pPr>
            <a:lvl6pPr>
              <a:defRPr sz="2625" b="0">
                <a:solidFill>
                  <a:srgbClr val="075CA8"/>
                </a:solidFill>
                <a:latin typeface="Menlo"/>
                <a:ea typeface="Menlo"/>
                <a:cs typeface="Menlo"/>
              </a:defRPr>
            </a:lvl6pPr>
            <a:lvl7pPr>
              <a:defRPr sz="2625" b="0">
                <a:solidFill>
                  <a:srgbClr val="075CA8"/>
                </a:solidFill>
                <a:latin typeface="Menlo"/>
                <a:ea typeface="Menlo"/>
                <a:cs typeface="Menlo"/>
              </a:defRPr>
            </a:lvl7pPr>
            <a:lvl8pPr>
              <a:defRPr sz="2625" b="0">
                <a:solidFill>
                  <a:srgbClr val="075CA8"/>
                </a:solidFill>
                <a:latin typeface="Menlo"/>
                <a:ea typeface="Menlo"/>
                <a:cs typeface="Menlo"/>
              </a:defRPr>
            </a:lvl8pPr>
            <a:lvl9pPr>
              <a:defRPr sz="2625" b="0">
                <a:solidFill>
                  <a:srgbClr val="075CA8"/>
                </a:solidFill>
                <a:latin typeface="Menlo"/>
                <a:ea typeface="Menlo"/>
                <a:cs typeface="Menlo"/>
              </a:defRPr>
            </a:lvl9pPr>
          </a:lstStyle>
          <a:p>
            <a:pPr>
              <a:defRPr sz="2625" b="0">
                <a:solidFill>
                  <a:srgbClr val="075CA8"/>
                </a:solidFill>
                <a:latin typeface="Menlo"/>
                <a:ea typeface="Menlo"/>
                <a:cs typeface="Menlo"/>
              </a:defRPr>
            </a:pPr>
            <a:r>
              <a:rPr sz="2625" b="0">
                <a:solidFill>
                  <a:srgbClr val="075CA8"/>
                </a:solidFill>
                <a:latin typeface="Menlo"/>
                <a:ea typeface="Menlo"/>
                <a:cs typeface="Menlo"/>
              </a:rPr>
              <a:t>N_000[234].fits</a:t>
            </a:r>
          </a:p>
        </p:txBody>
      </p:sp>
      <p:sp>
        <p:nvSpPr>
          <p:cNvPr id="5" name="Rectangle 4">
            <a:extLst>
              <a:ext uri="{FF2B5EF4-FFF2-40B4-BE49-F238E27FC236}">
                <a16:creationId xmlns:a16="http://schemas.microsoft.com/office/drawing/2014/main" id="{9E73AEB7-18D4-40DD-AD25-641FDA4ECDB2}"/>
              </a:ext>
            </a:extLst>
          </p:cNvPr>
          <p:cNvSpPr>
            <a:spLocks noGrp="1"/>
          </p:cNvSpPr>
          <p:nvPr/>
        </p:nvSpPr>
        <p:spPr>
          <a:xfrm>
            <a:off x="647700" y="3952875"/>
            <a:ext cx="4857750" cy="1047750"/>
          </a:xfrm>
          <a:prstGeom prst="rect">
            <a:avLst/>
          </a:prstGeom>
          <a:noFill/>
          <a:ln w="0">
            <a:noFill/>
          </a:ln>
        </p:spPr>
        <p:txBody>
          <a:bodyPr wrap="square" lIns="0" tIns="0" rIns="0" bIns="0" anchor="t">
            <a:noAutofit/>
          </a:bodyPr>
          <a:lstStyle>
            <a:defPPr>
              <a:defRPr sz="2325" b="0">
                <a:solidFill>
                  <a:srgbClr val="152A40"/>
                </a:solidFill>
                <a:latin typeface="Arial"/>
                <a:ea typeface="Arial"/>
                <a:cs typeface="Arial"/>
              </a:defRPr>
            </a:defPPr>
            <a:lvl1pPr>
              <a:defRPr sz="2325" b="0">
                <a:solidFill>
                  <a:srgbClr val="152A40"/>
                </a:solidFill>
                <a:latin typeface="Arial"/>
                <a:ea typeface="Arial"/>
                <a:cs typeface="Arial"/>
              </a:defRPr>
            </a:lvl1pPr>
            <a:lvl2pPr>
              <a:defRPr sz="2325" b="0">
                <a:solidFill>
                  <a:srgbClr val="152A40"/>
                </a:solidFill>
                <a:latin typeface="Arial"/>
                <a:ea typeface="Arial"/>
                <a:cs typeface="Arial"/>
              </a:defRPr>
            </a:lvl2pPr>
            <a:lvl3pPr>
              <a:defRPr sz="2325" b="0">
                <a:solidFill>
                  <a:srgbClr val="152A40"/>
                </a:solidFill>
                <a:latin typeface="Arial"/>
                <a:ea typeface="Arial"/>
                <a:cs typeface="Arial"/>
              </a:defRPr>
            </a:lvl3pPr>
            <a:lvl4pPr>
              <a:defRPr sz="2325" b="0">
                <a:solidFill>
                  <a:srgbClr val="152A40"/>
                </a:solidFill>
                <a:latin typeface="Arial"/>
                <a:ea typeface="Arial"/>
                <a:cs typeface="Arial"/>
              </a:defRPr>
            </a:lvl4pPr>
            <a:lvl5pPr>
              <a:defRPr sz="2325" b="0">
                <a:solidFill>
                  <a:srgbClr val="152A40"/>
                </a:solidFill>
                <a:latin typeface="Arial"/>
                <a:ea typeface="Arial"/>
                <a:cs typeface="Arial"/>
              </a:defRPr>
            </a:lvl5pPr>
            <a:lvl6pPr>
              <a:defRPr sz="2325" b="0">
                <a:solidFill>
                  <a:srgbClr val="152A40"/>
                </a:solidFill>
                <a:latin typeface="Arial"/>
                <a:ea typeface="Arial"/>
                <a:cs typeface="Arial"/>
              </a:defRPr>
            </a:lvl6pPr>
            <a:lvl7pPr>
              <a:defRPr sz="2325" b="0">
                <a:solidFill>
                  <a:srgbClr val="152A40"/>
                </a:solidFill>
                <a:latin typeface="Arial"/>
                <a:ea typeface="Arial"/>
                <a:cs typeface="Arial"/>
              </a:defRPr>
            </a:lvl7pPr>
            <a:lvl8pPr>
              <a:defRPr sz="2325" b="0">
                <a:solidFill>
                  <a:srgbClr val="152A40"/>
                </a:solidFill>
                <a:latin typeface="Arial"/>
                <a:ea typeface="Arial"/>
                <a:cs typeface="Arial"/>
              </a:defRPr>
            </a:lvl8pPr>
            <a:lvl9pPr>
              <a:defRPr sz="2325" b="0">
                <a:solidFill>
                  <a:srgbClr val="152A40"/>
                </a:solidFill>
                <a:latin typeface="Arial"/>
                <a:ea typeface="Arial"/>
                <a:cs typeface="Arial"/>
              </a:defRPr>
            </a:lvl9pPr>
          </a:lstStyle>
          <a:p>
            <a:pPr>
              <a:defRPr sz="2325" b="0">
                <a:solidFill>
                  <a:srgbClr val="152A40"/>
                </a:solidFill>
                <a:latin typeface="Arial"/>
                <a:ea typeface="Arial"/>
                <a:cs typeface="Arial"/>
              </a:defRPr>
            </a:pPr>
            <a:r>
              <a:rPr sz="2325" b="0">
                <a:solidFill>
                  <a:srgbClr val="152A40"/>
                </a:solidFill>
                <a:latin typeface="Arial"/>
                <a:ea typeface="Arial"/>
                <a:cs typeface="Arial"/>
              </a:rPr>
              <a:t>285 science files</a:t>
            </a:r>
          </a:p>
          <a:p>
            <a:pPr>
              <a:defRPr sz="2325" b="0">
                <a:solidFill>
                  <a:srgbClr val="152A40"/>
                </a:solidFill>
                <a:latin typeface="Arial"/>
                <a:ea typeface="Arial"/>
                <a:cs typeface="Arial"/>
              </a:defRPr>
            </a:pPr>
            <a:r>
              <a:rPr sz="2325" b="0">
                <a:solidFill>
                  <a:srgbClr val="152A40"/>
                </a:solidFill>
                <a:latin typeface="Arial"/>
                <a:ea typeface="Arial"/>
                <a:cs typeface="Arial"/>
              </a:rPr>
              <a:t>5 scans and 19 beams</a:t>
            </a:r>
          </a:p>
        </p:txBody>
      </p:sp>
      <p:sp>
        <p:nvSpPr>
          <p:cNvPr id="6" name="Rectangle 5">
            <a:extLst>
              <a:ext uri="{FF2B5EF4-FFF2-40B4-BE49-F238E27FC236}">
                <a16:creationId xmlns:a16="http://schemas.microsoft.com/office/drawing/2014/main" id="{09D07833-A520-4841-9215-83D8C5A5325F}"/>
              </a:ext>
            </a:extLst>
          </p:cNvPr>
          <p:cNvSpPr>
            <a:spLocks noGrp="1"/>
          </p:cNvSpPr>
          <p:nvPr/>
        </p:nvSpPr>
        <p:spPr>
          <a:xfrm>
            <a:off x="647700" y="5857875"/>
            <a:ext cx="4857750" cy="1066800"/>
          </a:xfrm>
          <a:prstGeom prst="rect">
            <a:avLst/>
          </a:prstGeom>
          <a:noFill/>
          <a:ln w="0">
            <a:noFill/>
          </a:ln>
        </p:spPr>
        <p:txBody>
          <a:bodyPr wrap="square" lIns="0" tIns="0" rIns="0" bIns="0" anchor="t">
            <a:noAutofit/>
          </a:bodyPr>
          <a:lstStyle>
            <a:defPPr>
              <a:defRPr sz="2100" b="0">
                <a:solidFill>
                  <a:srgbClr val="4B5E70"/>
                </a:solidFill>
                <a:latin typeface="Arial"/>
                <a:ea typeface="Arial"/>
                <a:cs typeface="Arial"/>
              </a:defRPr>
            </a:defPPr>
            <a:lvl1pPr>
              <a:defRPr sz="2100" b="0">
                <a:solidFill>
                  <a:srgbClr val="4B5E70"/>
                </a:solidFill>
                <a:latin typeface="Arial"/>
                <a:ea typeface="Arial"/>
                <a:cs typeface="Arial"/>
              </a:defRPr>
            </a:lvl1pPr>
            <a:lvl2pPr>
              <a:defRPr sz="2100" b="0">
                <a:solidFill>
                  <a:srgbClr val="4B5E70"/>
                </a:solidFill>
                <a:latin typeface="Arial"/>
                <a:ea typeface="Arial"/>
                <a:cs typeface="Arial"/>
              </a:defRPr>
            </a:lvl2pPr>
            <a:lvl3pPr>
              <a:defRPr sz="2100" b="0">
                <a:solidFill>
                  <a:srgbClr val="4B5E70"/>
                </a:solidFill>
                <a:latin typeface="Arial"/>
                <a:ea typeface="Arial"/>
                <a:cs typeface="Arial"/>
              </a:defRPr>
            </a:lvl3pPr>
            <a:lvl4pPr>
              <a:defRPr sz="2100" b="0">
                <a:solidFill>
                  <a:srgbClr val="4B5E70"/>
                </a:solidFill>
                <a:latin typeface="Arial"/>
                <a:ea typeface="Arial"/>
                <a:cs typeface="Arial"/>
              </a:defRPr>
            </a:lvl4pPr>
            <a:lvl5pPr>
              <a:defRPr sz="2100" b="0">
                <a:solidFill>
                  <a:srgbClr val="4B5E70"/>
                </a:solidFill>
                <a:latin typeface="Arial"/>
                <a:ea typeface="Arial"/>
                <a:cs typeface="Arial"/>
              </a:defRPr>
            </a:lvl5pPr>
            <a:lvl6pPr>
              <a:defRPr sz="2100" b="0">
                <a:solidFill>
                  <a:srgbClr val="4B5E70"/>
                </a:solidFill>
                <a:latin typeface="Arial"/>
                <a:ea typeface="Arial"/>
                <a:cs typeface="Arial"/>
              </a:defRPr>
            </a:lvl6pPr>
            <a:lvl7pPr>
              <a:defRPr sz="2100" b="0">
                <a:solidFill>
                  <a:srgbClr val="4B5E70"/>
                </a:solidFill>
                <a:latin typeface="Arial"/>
                <a:ea typeface="Arial"/>
                <a:cs typeface="Arial"/>
              </a:defRPr>
            </a:lvl7pPr>
            <a:lvl8pPr>
              <a:defRPr sz="2100" b="0">
                <a:solidFill>
                  <a:srgbClr val="4B5E70"/>
                </a:solidFill>
                <a:latin typeface="Arial"/>
                <a:ea typeface="Arial"/>
                <a:cs typeface="Arial"/>
              </a:defRPr>
            </a:lvl8pPr>
            <a:lvl9pPr>
              <a:defRPr sz="2100" b="0">
                <a:solidFill>
                  <a:srgbClr val="4B5E70"/>
                </a:solidFill>
                <a:latin typeface="Arial"/>
                <a:ea typeface="Arial"/>
                <a:cs typeface="Arial"/>
              </a:defRPr>
            </a:lvl9pPr>
          </a:lstStyle>
          <a:p>
            <a:pPr>
              <a:defRPr sz="2100" b="0">
                <a:solidFill>
                  <a:srgbClr val="4B5E70"/>
                </a:solidFill>
                <a:latin typeface="Arial"/>
                <a:ea typeface="Arial"/>
                <a:cs typeface="Arial"/>
              </a:defRPr>
            </a:pPr>
            <a:r>
              <a:rPr sz="2100" b="0">
                <a:solidFill>
                  <a:srgbClr val="4B5E70"/>
                </a:solidFill>
                <a:latin typeface="Arial"/>
                <a:ea typeface="Arial"/>
                <a:cs typeface="Arial"/>
              </a:rPr>
              <a:t>Window previews and settings</a:t>
            </a:r>
          </a:p>
          <a:p>
            <a:pPr>
              <a:defRPr sz="2100" b="0">
                <a:solidFill>
                  <a:srgbClr val="4B5E70"/>
                </a:solidFill>
                <a:latin typeface="Arial"/>
                <a:ea typeface="Arial"/>
                <a:cs typeface="Arial"/>
              </a:defRPr>
            </a:pPr>
            <a:r>
              <a:rPr sz="2100" b="0">
                <a:solidFill>
                  <a:srgbClr val="4B5E70"/>
                </a:solidFill>
                <a:latin typeface="Arial"/>
                <a:ea typeface="Arial"/>
                <a:cs typeface="Arial"/>
              </a:rPr>
              <a:t>FISH commands for full processing</a:t>
            </a:r>
          </a:p>
        </p:txBody>
      </p:sp>
      <p:pic>
        <p:nvPicPr>
          <p:cNvPr id="7" name="Picture 6">
            <a:extLst>
              <a:ext uri="{FF2B5EF4-FFF2-40B4-BE49-F238E27FC236}">
                <a16:creationId xmlns:a16="http://schemas.microsoft.com/office/drawing/2014/main" id="{AA076D66-7B72-44A7-8677-2CF2FF488D47}"/>
              </a:ext>
            </a:extLst>
          </p:cNvPr>
          <p:cNvPicPr>
            <a:picLocks noChangeAspect="1"/>
          </p:cNvPicPr>
          <p:nvPr/>
        </p:nvPicPr>
        <p:blipFill>
          <a:blip r:embed="rId3"/>
          <a:stretch/>
        </p:blipFill>
        <p:spPr>
          <a:xfrm>
            <a:off x="5667375" y="1969949"/>
            <a:ext cx="8953500" cy="5032651"/>
          </a:xfrm>
          <a:prstGeom prst="rect">
            <a:avLst/>
          </a:prstGeom>
        </p:spPr>
      </p:pic>
      <p:sp>
        <p:nvSpPr>
          <p:cNvPr id="8" name="Rectangle 7">
            <a:extLst>
              <a:ext uri="{FF2B5EF4-FFF2-40B4-BE49-F238E27FC236}">
                <a16:creationId xmlns:a16="http://schemas.microsoft.com/office/drawing/2014/main" id="{4E79D70B-8266-438F-8E9A-A5AC23385979}"/>
              </a:ext>
            </a:extLst>
          </p:cNvPr>
          <p:cNvSpPr>
            <a:spLocks noGrp="1"/>
          </p:cNvSpPr>
          <p:nvPr/>
        </p:nvSpPr>
        <p:spPr>
          <a:xfrm>
            <a:off x="638175" y="7781925"/>
            <a:ext cx="13811250" cy="352425"/>
          </a:xfrm>
          <a:prstGeom prst="rect">
            <a:avLst/>
          </a:prstGeom>
          <a:noFill/>
          <a:ln w="0">
            <a:noFill/>
          </a:ln>
        </p:spPr>
        <p:txBody>
          <a:bodyPr wrap="square" lIns="0" tIns="0" rIns="0" bIns="0" anchor="t">
            <a:noAutofit/>
          </a:bodyPr>
          <a:lstStyle>
            <a:defPPr>
              <a:defRPr sz="1575" b="0">
                <a:solidFill>
                  <a:srgbClr val="4B5E70"/>
                </a:solidFill>
                <a:latin typeface="Arial"/>
                <a:ea typeface="Arial"/>
                <a:cs typeface="Arial"/>
              </a:defRPr>
            </a:defPPr>
            <a:lvl1pPr>
              <a:defRPr sz="1575" b="0">
                <a:solidFill>
                  <a:srgbClr val="4B5E70"/>
                </a:solidFill>
                <a:latin typeface="Arial"/>
                <a:ea typeface="Arial"/>
                <a:cs typeface="Arial"/>
              </a:defRPr>
            </a:lvl1pPr>
            <a:lvl2pPr>
              <a:defRPr sz="1575" b="0">
                <a:solidFill>
                  <a:srgbClr val="4B5E70"/>
                </a:solidFill>
                <a:latin typeface="Arial"/>
                <a:ea typeface="Arial"/>
                <a:cs typeface="Arial"/>
              </a:defRPr>
            </a:lvl2pPr>
            <a:lvl3pPr>
              <a:defRPr sz="1575" b="0">
                <a:solidFill>
                  <a:srgbClr val="4B5E70"/>
                </a:solidFill>
                <a:latin typeface="Arial"/>
                <a:ea typeface="Arial"/>
                <a:cs typeface="Arial"/>
              </a:defRPr>
            </a:lvl3pPr>
            <a:lvl4pPr>
              <a:defRPr sz="1575" b="0">
                <a:solidFill>
                  <a:srgbClr val="4B5E70"/>
                </a:solidFill>
                <a:latin typeface="Arial"/>
                <a:ea typeface="Arial"/>
                <a:cs typeface="Arial"/>
              </a:defRPr>
            </a:lvl4pPr>
            <a:lvl5pPr>
              <a:defRPr sz="1575" b="0">
                <a:solidFill>
                  <a:srgbClr val="4B5E70"/>
                </a:solidFill>
                <a:latin typeface="Arial"/>
                <a:ea typeface="Arial"/>
                <a:cs typeface="Arial"/>
              </a:defRPr>
            </a:lvl5pPr>
            <a:lvl6pPr>
              <a:defRPr sz="1575" b="0">
                <a:solidFill>
                  <a:srgbClr val="4B5E70"/>
                </a:solidFill>
                <a:latin typeface="Arial"/>
                <a:ea typeface="Arial"/>
                <a:cs typeface="Arial"/>
              </a:defRPr>
            </a:lvl6pPr>
            <a:lvl7pPr>
              <a:defRPr sz="1575" b="0">
                <a:solidFill>
                  <a:srgbClr val="4B5E70"/>
                </a:solidFill>
                <a:latin typeface="Arial"/>
                <a:ea typeface="Arial"/>
                <a:cs typeface="Arial"/>
              </a:defRPr>
            </a:lvl7pPr>
            <a:lvl8pPr>
              <a:defRPr sz="1575" b="0">
                <a:solidFill>
                  <a:srgbClr val="4B5E70"/>
                </a:solidFill>
                <a:latin typeface="Arial"/>
                <a:ea typeface="Arial"/>
                <a:cs typeface="Arial"/>
              </a:defRPr>
            </a:lvl8pPr>
            <a:lvl9pPr>
              <a:defRPr sz="1575" b="0">
                <a:solidFill>
                  <a:srgbClr val="4B5E70"/>
                </a:solidFill>
                <a:latin typeface="Arial"/>
                <a:ea typeface="Arial"/>
                <a:cs typeface="Arial"/>
              </a:defRPr>
            </a:lvl9pPr>
          </a:lstStyle>
          <a:p>
            <a:pPr>
              <a:defRPr sz="1575" b="0">
                <a:solidFill>
                  <a:srgbClr val="4B5E70"/>
                </a:solidFill>
                <a:latin typeface="Arial"/>
                <a:ea typeface="Arial"/>
                <a:cs typeface="Arial"/>
              </a:defRPr>
            </a:pPr>
            <a:r>
              <a:rPr sz="1575" b="0">
                <a:solidFill>
                  <a:srgbClr val="4B5E70"/>
                </a:solidFill>
                <a:latin typeface="Arial"/>
                <a:ea typeface="Arial"/>
                <a:cs typeface="Arial"/>
              </a:rPr>
              <a:t>Illustrated with real IC443 previews. The screenshot footprint samples pointings for readability.</a:t>
            </a:r>
          </a:p>
        </p:txBody>
      </p:sp>
    </p:spTree>
    <p:extLst>
      <p:ext uri="{BB962C8B-B14F-4D97-AF65-F5344CB8AC3E}">
        <p14:creationId xmlns:p14="http://schemas.microsoft.com/office/powerpoint/2010/main" val="189282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2B57399-15BD-486D-89C3-576BC029388C}"/>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The IC443 project</a:t>
            </a:r>
          </a:p>
        </p:txBody>
      </p:sp>
      <p:sp>
        <p:nvSpPr>
          <p:cNvPr id="2" name="Rectangle 1">
            <a:extLst>
              <a:ext uri="{FF2B5EF4-FFF2-40B4-BE49-F238E27FC236}">
                <a16:creationId xmlns:a16="http://schemas.microsoft.com/office/drawing/2014/main" id="{E9A2B2B0-5DA5-43D4-ADE0-A207D797E4D7}"/>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All paths below are on 114.212.167.114</a:t>
            </a:r>
          </a:p>
        </p:txBody>
      </p:sp>
      <p:sp>
        <p:nvSpPr>
          <p:cNvPr id="3" name="Rectangle 2">
            <a:extLst>
              <a:ext uri="{FF2B5EF4-FFF2-40B4-BE49-F238E27FC236}">
                <a16:creationId xmlns:a16="http://schemas.microsoft.com/office/drawing/2014/main" id="{64EEAE29-44FC-40E1-AB48-1C4C618EF0A4}"/>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02</a:t>
            </a:r>
          </a:p>
        </p:txBody>
      </p:sp>
      <p:sp>
        <p:nvSpPr>
          <p:cNvPr id="4" name="Rectangle 3">
            <a:extLst>
              <a:ext uri="{FF2B5EF4-FFF2-40B4-BE49-F238E27FC236}">
                <a16:creationId xmlns:a16="http://schemas.microsoft.com/office/drawing/2014/main" id="{3D58B0BC-B9E7-4C45-91AB-B79E9FC6E4A8}"/>
              </a:ext>
            </a:extLst>
          </p:cNvPr>
          <p:cNvSpPr>
            <a:spLocks noGrp="1"/>
          </p:cNvSpPr>
          <p:nvPr/>
        </p:nvSpPr>
        <p:spPr>
          <a:xfrm>
            <a:off x="619125" y="1952625"/>
            <a:ext cx="13906500" cy="523875"/>
          </a:xfrm>
          <a:prstGeom prst="rect">
            <a:avLst/>
          </a:prstGeom>
          <a:noFill/>
          <a:ln w="0">
            <a:noFill/>
          </a:ln>
        </p:spPr>
        <p:txBody>
          <a:bodyPr wrap="square" lIns="0" tIns="0" rIns="0" bIns="0" anchor="t">
            <a:noAutofit/>
          </a:bodyPr>
          <a:lstStyle>
            <a:defPPr>
              <a:defRPr sz="2475" b="0">
                <a:solidFill>
                  <a:srgbClr val="075CA8"/>
                </a:solidFill>
                <a:latin typeface="Menlo"/>
                <a:ea typeface="Menlo"/>
                <a:cs typeface="Menlo"/>
              </a:defRPr>
            </a:defPPr>
            <a:lvl1pPr>
              <a:defRPr sz="2475" b="0">
                <a:solidFill>
                  <a:srgbClr val="075CA8"/>
                </a:solidFill>
                <a:latin typeface="Menlo"/>
                <a:ea typeface="Menlo"/>
                <a:cs typeface="Menlo"/>
              </a:defRPr>
            </a:lvl1pPr>
            <a:lvl2pPr>
              <a:defRPr sz="2475" b="0">
                <a:solidFill>
                  <a:srgbClr val="075CA8"/>
                </a:solidFill>
                <a:latin typeface="Menlo"/>
                <a:ea typeface="Menlo"/>
                <a:cs typeface="Menlo"/>
              </a:defRPr>
            </a:lvl2pPr>
            <a:lvl3pPr>
              <a:defRPr sz="2475" b="0">
                <a:solidFill>
                  <a:srgbClr val="075CA8"/>
                </a:solidFill>
                <a:latin typeface="Menlo"/>
                <a:ea typeface="Menlo"/>
                <a:cs typeface="Menlo"/>
              </a:defRPr>
            </a:lvl3pPr>
            <a:lvl4pPr>
              <a:defRPr sz="2475" b="0">
                <a:solidFill>
                  <a:srgbClr val="075CA8"/>
                </a:solidFill>
                <a:latin typeface="Menlo"/>
                <a:ea typeface="Menlo"/>
                <a:cs typeface="Menlo"/>
              </a:defRPr>
            </a:lvl4pPr>
            <a:lvl5pPr>
              <a:defRPr sz="2475" b="0">
                <a:solidFill>
                  <a:srgbClr val="075CA8"/>
                </a:solidFill>
                <a:latin typeface="Menlo"/>
                <a:ea typeface="Menlo"/>
                <a:cs typeface="Menlo"/>
              </a:defRPr>
            </a:lvl5pPr>
            <a:lvl6pPr>
              <a:defRPr sz="2475" b="0">
                <a:solidFill>
                  <a:srgbClr val="075CA8"/>
                </a:solidFill>
                <a:latin typeface="Menlo"/>
                <a:ea typeface="Menlo"/>
                <a:cs typeface="Menlo"/>
              </a:defRPr>
            </a:lvl6pPr>
            <a:lvl7pPr>
              <a:defRPr sz="2475" b="0">
                <a:solidFill>
                  <a:srgbClr val="075CA8"/>
                </a:solidFill>
                <a:latin typeface="Menlo"/>
                <a:ea typeface="Menlo"/>
                <a:cs typeface="Menlo"/>
              </a:defRPr>
            </a:lvl7pPr>
            <a:lvl8pPr>
              <a:defRPr sz="2475" b="0">
                <a:solidFill>
                  <a:srgbClr val="075CA8"/>
                </a:solidFill>
                <a:latin typeface="Menlo"/>
                <a:ea typeface="Menlo"/>
                <a:cs typeface="Menlo"/>
              </a:defRPr>
            </a:lvl8pPr>
            <a:lvl9pPr>
              <a:defRPr sz="2475" b="0">
                <a:solidFill>
                  <a:srgbClr val="075CA8"/>
                </a:solidFill>
                <a:latin typeface="Menlo"/>
                <a:ea typeface="Menlo"/>
                <a:cs typeface="Menlo"/>
              </a:defRPr>
            </a:lvl9pPr>
          </a:lstStyle>
          <a:p>
            <a:pPr>
              <a:defRPr sz="2475" b="0">
                <a:solidFill>
                  <a:srgbClr val="075CA8"/>
                </a:solidFill>
                <a:latin typeface="Menlo"/>
                <a:ea typeface="Menlo"/>
                <a:cs typeface="Menlo"/>
              </a:defRPr>
            </a:pPr>
            <a:r>
              <a:rPr sz="2475" b="0">
                <a:solidFill>
                  <a:srgbClr val="075CA8"/>
                </a:solidFill>
                <a:latin typeface="Menlo"/>
                <a:ea typeface="Menlo"/>
                <a:cs typeface="Menlo"/>
              </a:rPr>
              <a:t>/bb8/lingrui/my_projects/FAST_IC443</a:t>
            </a:r>
          </a:p>
        </p:txBody>
      </p:sp>
      <p:sp>
        <p:nvSpPr>
          <p:cNvPr id="5" name="Rectangle 4">
            <a:extLst>
              <a:ext uri="{FF2B5EF4-FFF2-40B4-BE49-F238E27FC236}">
                <a16:creationId xmlns:a16="http://schemas.microsoft.com/office/drawing/2014/main" id="{6D50567A-472D-456F-9067-3A01B0CE6120}"/>
              </a:ext>
            </a:extLst>
          </p:cNvPr>
          <p:cNvSpPr>
            <a:spLocks noGrp="1"/>
          </p:cNvSpPr>
          <p:nvPr/>
        </p:nvSpPr>
        <p:spPr>
          <a:xfrm>
            <a:off x="809625" y="2952750"/>
            <a:ext cx="2667000"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org_spec/</a:t>
            </a:r>
          </a:p>
        </p:txBody>
      </p:sp>
      <p:sp>
        <p:nvSpPr>
          <p:cNvPr id="6" name="Rectangle 5">
            <a:extLst>
              <a:ext uri="{FF2B5EF4-FFF2-40B4-BE49-F238E27FC236}">
                <a16:creationId xmlns:a16="http://schemas.microsoft.com/office/drawing/2014/main" id="{2B76A951-9A86-4386-A2CB-084C42D5E132}"/>
              </a:ext>
            </a:extLst>
          </p:cNvPr>
          <p:cNvSpPr>
            <a:spLocks noGrp="1"/>
          </p:cNvSpPr>
          <p:nvPr/>
        </p:nvSpPr>
        <p:spPr>
          <a:xfrm>
            <a:off x="3952875" y="2952750"/>
            <a:ext cx="10477500" cy="666750"/>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Science spectra, including N_0002–0004</a:t>
            </a:r>
          </a:p>
        </p:txBody>
      </p:sp>
      <p:sp>
        <p:nvSpPr>
          <p:cNvPr id="7" name="Rectangle 6">
            <a:extLst>
              <a:ext uri="{FF2B5EF4-FFF2-40B4-BE49-F238E27FC236}">
                <a16:creationId xmlns:a16="http://schemas.microsoft.com/office/drawing/2014/main" id="{7D6751A0-89AE-4787-9BC1-E63CDECC600D}"/>
              </a:ext>
            </a:extLst>
          </p:cNvPr>
          <p:cNvSpPr>
            <a:spLocks noGrp="1"/>
          </p:cNvSpPr>
          <p:nvPr/>
        </p:nvSpPr>
        <p:spPr>
          <a:xfrm>
            <a:off x="809625" y="3952875"/>
            <a:ext cx="2667000"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org_cal/</a:t>
            </a:r>
          </a:p>
        </p:txBody>
      </p:sp>
      <p:sp>
        <p:nvSpPr>
          <p:cNvPr id="8" name="Rectangle 7">
            <a:extLst>
              <a:ext uri="{FF2B5EF4-FFF2-40B4-BE49-F238E27FC236}">
                <a16:creationId xmlns:a16="http://schemas.microsoft.com/office/drawing/2014/main" id="{020C760A-6C68-4A21-A130-B759E7236C99}"/>
              </a:ext>
            </a:extLst>
          </p:cNvPr>
          <p:cNvSpPr>
            <a:spLocks noGrp="1"/>
          </p:cNvSpPr>
          <p:nvPr/>
        </p:nvSpPr>
        <p:spPr>
          <a:xfrm>
            <a:off x="3952875" y="3952875"/>
            <a:ext cx="10477500" cy="666750"/>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Extracted ON/OFF CAL, organized by scan and date</a:t>
            </a:r>
          </a:p>
        </p:txBody>
      </p:sp>
      <p:sp>
        <p:nvSpPr>
          <p:cNvPr id="9" name="Rectangle 8">
            <a:extLst>
              <a:ext uri="{FF2B5EF4-FFF2-40B4-BE49-F238E27FC236}">
                <a16:creationId xmlns:a16="http://schemas.microsoft.com/office/drawing/2014/main" id="{CDA1FEC3-8EA0-40D2-9C5A-69D6862C04F4}"/>
              </a:ext>
            </a:extLst>
          </p:cNvPr>
          <p:cNvSpPr>
            <a:spLocks noGrp="1"/>
          </p:cNvSpPr>
          <p:nvPr/>
        </p:nvSpPr>
        <p:spPr>
          <a:xfrm>
            <a:off x="809625" y="4953000"/>
            <a:ext cx="2667000"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feed_info/</a:t>
            </a:r>
          </a:p>
        </p:txBody>
      </p:sp>
      <p:sp>
        <p:nvSpPr>
          <p:cNvPr id="10" name="Rectangle 9">
            <a:extLst>
              <a:ext uri="{FF2B5EF4-FFF2-40B4-BE49-F238E27FC236}">
                <a16:creationId xmlns:a16="http://schemas.microsoft.com/office/drawing/2014/main" id="{02F36FEE-C09D-4498-985D-44C5F5405CBB}"/>
              </a:ext>
            </a:extLst>
          </p:cNvPr>
          <p:cNvSpPr>
            <a:spLocks noGrp="1"/>
          </p:cNvSpPr>
          <p:nvPr/>
        </p:nvSpPr>
        <p:spPr>
          <a:xfrm>
            <a:off x="3952875" y="4953000"/>
            <a:ext cx="10477500" cy="666750"/>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Five telemetry .xlsx files for the scan pointings</a:t>
            </a:r>
          </a:p>
        </p:txBody>
      </p:sp>
      <p:sp>
        <p:nvSpPr>
          <p:cNvPr id="11" name="Rectangle 10">
            <a:extLst>
              <a:ext uri="{FF2B5EF4-FFF2-40B4-BE49-F238E27FC236}">
                <a16:creationId xmlns:a16="http://schemas.microsoft.com/office/drawing/2014/main" id="{62958AF5-1BD5-40CC-8E72-E87E19307375}"/>
              </a:ext>
            </a:extLst>
          </p:cNvPr>
          <p:cNvSpPr>
            <a:spLocks noGrp="1"/>
          </p:cNvSpPr>
          <p:nvPr/>
        </p:nvSpPr>
        <p:spPr>
          <a:xfrm>
            <a:off x="809625" y="5953125"/>
            <a:ext cx="2667000"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fish_runs/</a:t>
            </a:r>
          </a:p>
        </p:txBody>
      </p:sp>
      <p:sp>
        <p:nvSpPr>
          <p:cNvPr id="12" name="Rectangle 11">
            <a:extLst>
              <a:ext uri="{FF2B5EF4-FFF2-40B4-BE49-F238E27FC236}">
                <a16:creationId xmlns:a16="http://schemas.microsoft.com/office/drawing/2014/main" id="{CE54374D-ACE9-4B32-B400-73368AEC17CB}"/>
              </a:ext>
            </a:extLst>
          </p:cNvPr>
          <p:cNvSpPr>
            <a:spLocks noGrp="1"/>
          </p:cNvSpPr>
          <p:nvPr/>
        </p:nvSpPr>
        <p:spPr>
          <a:xfrm>
            <a:off x="3952875" y="5953125"/>
            <a:ext cx="10477500" cy="666750"/>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Your session, coordinate cache, stage records and cubes</a:t>
            </a:r>
          </a:p>
        </p:txBody>
      </p:sp>
      <p:sp>
        <p:nvSpPr>
          <p:cNvPr id="13" name="Rectangle 12">
            <a:extLst>
              <a:ext uri="{FF2B5EF4-FFF2-40B4-BE49-F238E27FC236}">
                <a16:creationId xmlns:a16="http://schemas.microsoft.com/office/drawing/2014/main" id="{B7741787-847C-40B7-9C1C-1D255A924FAD}"/>
              </a:ext>
            </a:extLst>
          </p:cNvPr>
          <p:cNvSpPr>
            <a:spLocks noGrp="1"/>
          </p:cNvSpPr>
          <p:nvPr/>
        </p:nvSpPr>
        <p:spPr>
          <a:xfrm>
            <a:off x="809625" y="7191375"/>
            <a:ext cx="13335000" cy="4762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The software lives separately in FAST_pipeline_v0.0.</a:t>
            </a:r>
          </a:p>
        </p:txBody>
      </p:sp>
    </p:spTree>
    <p:extLst>
      <p:ext uri="{BB962C8B-B14F-4D97-AF65-F5344CB8AC3E}">
        <p14:creationId xmlns:p14="http://schemas.microsoft.com/office/powerpoint/2010/main" val="1930329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428BA70-CF23-475E-BBFE-B2897E2158B8}"/>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The server desktop and terminal</a:t>
            </a:r>
          </a:p>
        </p:txBody>
      </p:sp>
      <p:sp>
        <p:nvSpPr>
          <p:cNvPr id="2" name="Rectangle 1">
            <a:extLst>
              <a:ext uri="{FF2B5EF4-FFF2-40B4-BE49-F238E27FC236}">
                <a16:creationId xmlns:a16="http://schemas.microsoft.com/office/drawing/2014/main" id="{2E398D85-7B72-4F97-BD1F-2C65D2E823EA}"/>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Open a terminal inside the .114 graphical desktop, then start FISH</a:t>
            </a:r>
          </a:p>
        </p:txBody>
      </p:sp>
      <p:sp>
        <p:nvSpPr>
          <p:cNvPr id="3" name="Rectangle 2">
            <a:extLst>
              <a:ext uri="{FF2B5EF4-FFF2-40B4-BE49-F238E27FC236}">
                <a16:creationId xmlns:a16="http://schemas.microsoft.com/office/drawing/2014/main" id="{D8AD4E26-9681-40AF-9F11-12BC1140CE6F}"/>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03</a:t>
            </a:r>
          </a:p>
        </p:txBody>
      </p:sp>
      <p:sp>
        <p:nvSpPr>
          <p:cNvPr id="4" name="Oval 3">
            <a:extLst>
              <a:ext uri="{FF2B5EF4-FFF2-40B4-BE49-F238E27FC236}">
                <a16:creationId xmlns:a16="http://schemas.microsoft.com/office/drawing/2014/main" id="{BF7C1792-7B60-4F24-B71E-41D4EB911E16}"/>
              </a:ext>
            </a:extLst>
          </p:cNvPr>
          <p:cNvSpPr>
            <a:spLocks noGrp="1"/>
          </p:cNvSpPr>
          <p:nvPr/>
        </p:nvSpPr>
        <p:spPr>
          <a:xfrm>
            <a:off x="657225" y="2143125"/>
            <a:ext cx="361950" cy="361950"/>
          </a:xfrm>
          <a:prstGeom prst="ellipse">
            <a:avLst/>
          </a:prstGeom>
          <a:solidFill>
            <a:srgbClr val="D77313"/>
          </a:solidFill>
          <a:ln w="19050">
            <a:solidFill>
              <a:srgbClr val="FFFFFF"/>
            </a:solidFill>
          </a:ln>
        </p:spPr>
        <p:txBody>
          <a:bodyPr lIns="0" tIns="0" rIns="0" bIns="0" anchor="ctr"/>
          <a:lstStyle>
            <a:defPPr algn="ctr">
              <a:defRPr sz="1739" b="1">
                <a:solidFill>
                  <a:srgbClr val="FFFFFF"/>
                </a:solidFill>
                <a:latin typeface="Arial"/>
                <a:ea typeface="Arial"/>
                <a:cs typeface="Arial"/>
              </a:defRPr>
            </a:defPPr>
            <a:lvl1pPr algn="ctr">
              <a:defRPr sz="1739" b="1">
                <a:solidFill>
                  <a:srgbClr val="FFFFFF"/>
                </a:solidFill>
                <a:latin typeface="Arial"/>
                <a:ea typeface="Arial"/>
                <a:cs typeface="Arial"/>
              </a:defRPr>
            </a:lvl1pPr>
            <a:lvl2pPr algn="ctr">
              <a:defRPr sz="1739" b="1">
                <a:solidFill>
                  <a:srgbClr val="FFFFFF"/>
                </a:solidFill>
                <a:latin typeface="Arial"/>
                <a:ea typeface="Arial"/>
                <a:cs typeface="Arial"/>
              </a:defRPr>
            </a:lvl2pPr>
            <a:lvl3pPr algn="ctr">
              <a:defRPr sz="1739" b="1">
                <a:solidFill>
                  <a:srgbClr val="FFFFFF"/>
                </a:solidFill>
                <a:latin typeface="Arial"/>
                <a:ea typeface="Arial"/>
                <a:cs typeface="Arial"/>
              </a:defRPr>
            </a:lvl3pPr>
            <a:lvl4pPr algn="ctr">
              <a:defRPr sz="1739" b="1">
                <a:solidFill>
                  <a:srgbClr val="FFFFFF"/>
                </a:solidFill>
                <a:latin typeface="Arial"/>
                <a:ea typeface="Arial"/>
                <a:cs typeface="Arial"/>
              </a:defRPr>
            </a:lvl4pPr>
            <a:lvl5pPr algn="ctr">
              <a:defRPr sz="1739" b="1">
                <a:solidFill>
                  <a:srgbClr val="FFFFFF"/>
                </a:solidFill>
                <a:latin typeface="Arial"/>
                <a:ea typeface="Arial"/>
                <a:cs typeface="Arial"/>
              </a:defRPr>
            </a:lvl5pPr>
            <a:lvl6pPr algn="ctr">
              <a:defRPr sz="1739" b="1">
                <a:solidFill>
                  <a:srgbClr val="FFFFFF"/>
                </a:solidFill>
                <a:latin typeface="Arial"/>
                <a:ea typeface="Arial"/>
                <a:cs typeface="Arial"/>
              </a:defRPr>
            </a:lvl6pPr>
            <a:lvl7pPr algn="ctr">
              <a:defRPr sz="1739" b="1">
                <a:solidFill>
                  <a:srgbClr val="FFFFFF"/>
                </a:solidFill>
                <a:latin typeface="Arial"/>
                <a:ea typeface="Arial"/>
                <a:cs typeface="Arial"/>
              </a:defRPr>
            </a:lvl7pPr>
            <a:lvl8pPr algn="ctr">
              <a:defRPr sz="1739" b="1">
                <a:solidFill>
                  <a:srgbClr val="FFFFFF"/>
                </a:solidFill>
                <a:latin typeface="Arial"/>
                <a:ea typeface="Arial"/>
                <a:cs typeface="Arial"/>
              </a:defRPr>
            </a:lvl8pPr>
            <a:lvl9pPr algn="ctr">
              <a:defRPr sz="1739" b="1">
                <a:solidFill>
                  <a:srgbClr val="FFFFFF"/>
                </a:solidFill>
                <a:latin typeface="Arial"/>
                <a:ea typeface="Arial"/>
                <a:cs typeface="Arial"/>
              </a:defRPr>
            </a:lvl9pPr>
          </a:lstStyle>
          <a:p>
            <a:pPr algn="ctr">
              <a:defRPr sz="1739" b="1">
                <a:solidFill>
                  <a:srgbClr val="FFFFFF"/>
                </a:solidFill>
                <a:latin typeface="Arial"/>
                <a:ea typeface="Arial"/>
                <a:cs typeface="Arial"/>
              </a:defRPr>
            </a:pPr>
            <a:r>
              <a:rPr sz="1739" b="1">
                <a:solidFill>
                  <a:srgbClr val="FFFFFF"/>
                </a:solidFill>
                <a:latin typeface="Arial"/>
                <a:ea typeface="Arial"/>
                <a:cs typeface="Arial"/>
              </a:rPr>
              <a:t>1</a:t>
            </a:r>
          </a:p>
        </p:txBody>
      </p:sp>
      <p:sp>
        <p:nvSpPr>
          <p:cNvPr id="5" name="Rectangle 4">
            <a:extLst>
              <a:ext uri="{FF2B5EF4-FFF2-40B4-BE49-F238E27FC236}">
                <a16:creationId xmlns:a16="http://schemas.microsoft.com/office/drawing/2014/main" id="{D0C08D4A-13BC-4F54-869A-48B57410F60B}"/>
              </a:ext>
            </a:extLst>
          </p:cNvPr>
          <p:cNvSpPr>
            <a:spLocks noGrp="1"/>
          </p:cNvSpPr>
          <p:nvPr/>
        </p:nvSpPr>
        <p:spPr>
          <a:xfrm>
            <a:off x="1285875" y="2124075"/>
            <a:ext cx="13144500" cy="571500"/>
          </a:xfrm>
          <a:prstGeom prst="rect">
            <a:avLst/>
          </a:prstGeom>
          <a:noFill/>
          <a:ln w="0">
            <a:noFill/>
          </a:ln>
        </p:spPr>
        <p:txBody>
          <a:bodyPr wrap="square" lIns="0" tIns="0" rIns="0" bIns="0" anchor="t">
            <a:noAutofit/>
          </a:bodyPr>
          <a:lstStyle>
            <a:defPPr>
              <a:defRPr sz="2250" b="0">
                <a:solidFill>
                  <a:srgbClr val="075CA8"/>
                </a:solidFill>
                <a:latin typeface="Menlo"/>
                <a:ea typeface="Menlo"/>
                <a:cs typeface="Menlo"/>
              </a:defRPr>
            </a:defPPr>
            <a:lvl1pPr>
              <a:defRPr sz="2250" b="0">
                <a:solidFill>
                  <a:srgbClr val="075CA8"/>
                </a:solidFill>
                <a:latin typeface="Menlo"/>
                <a:ea typeface="Menlo"/>
                <a:cs typeface="Menlo"/>
              </a:defRPr>
            </a:lvl1pPr>
            <a:lvl2pPr>
              <a:defRPr sz="2250" b="0">
                <a:solidFill>
                  <a:srgbClr val="075CA8"/>
                </a:solidFill>
                <a:latin typeface="Menlo"/>
                <a:ea typeface="Menlo"/>
                <a:cs typeface="Menlo"/>
              </a:defRPr>
            </a:lvl2pPr>
            <a:lvl3pPr>
              <a:defRPr sz="2250" b="0">
                <a:solidFill>
                  <a:srgbClr val="075CA8"/>
                </a:solidFill>
                <a:latin typeface="Menlo"/>
                <a:ea typeface="Menlo"/>
                <a:cs typeface="Menlo"/>
              </a:defRPr>
            </a:lvl3pPr>
            <a:lvl4pPr>
              <a:defRPr sz="2250" b="0">
                <a:solidFill>
                  <a:srgbClr val="075CA8"/>
                </a:solidFill>
                <a:latin typeface="Menlo"/>
                <a:ea typeface="Menlo"/>
                <a:cs typeface="Menlo"/>
              </a:defRPr>
            </a:lvl4pPr>
            <a:lvl5pPr>
              <a:defRPr sz="2250" b="0">
                <a:solidFill>
                  <a:srgbClr val="075CA8"/>
                </a:solidFill>
                <a:latin typeface="Menlo"/>
                <a:ea typeface="Menlo"/>
                <a:cs typeface="Menlo"/>
              </a:defRPr>
            </a:lvl5pPr>
            <a:lvl6pPr>
              <a:defRPr sz="2250" b="0">
                <a:solidFill>
                  <a:srgbClr val="075CA8"/>
                </a:solidFill>
                <a:latin typeface="Menlo"/>
                <a:ea typeface="Menlo"/>
                <a:cs typeface="Menlo"/>
              </a:defRPr>
            </a:lvl6pPr>
            <a:lvl7pPr>
              <a:defRPr sz="2250" b="0">
                <a:solidFill>
                  <a:srgbClr val="075CA8"/>
                </a:solidFill>
                <a:latin typeface="Menlo"/>
                <a:ea typeface="Menlo"/>
                <a:cs typeface="Menlo"/>
              </a:defRPr>
            </a:lvl7pPr>
            <a:lvl8pPr>
              <a:defRPr sz="2250" b="0">
                <a:solidFill>
                  <a:srgbClr val="075CA8"/>
                </a:solidFill>
                <a:latin typeface="Menlo"/>
                <a:ea typeface="Menlo"/>
                <a:cs typeface="Menlo"/>
              </a:defRPr>
            </a:lvl8pPr>
            <a:lvl9pPr>
              <a:defRPr sz="2250" b="0">
                <a:solidFill>
                  <a:srgbClr val="075CA8"/>
                </a:solidFill>
                <a:latin typeface="Menlo"/>
                <a:ea typeface="Menlo"/>
                <a:cs typeface="Menlo"/>
              </a:defRPr>
            </a:lvl9pPr>
          </a:lstStyle>
          <a:p>
            <a:pPr>
              <a:defRPr sz="2250" b="0">
                <a:solidFill>
                  <a:srgbClr val="075CA8"/>
                </a:solidFill>
                <a:latin typeface="Menlo"/>
                <a:ea typeface="Menlo"/>
                <a:cs typeface="Menlo"/>
              </a:defRPr>
            </a:pPr>
            <a:r>
              <a:rPr sz="2250" b="0">
                <a:solidFill>
                  <a:srgbClr val="075CA8"/>
                </a:solidFill>
                <a:latin typeface="Menlo"/>
                <a:ea typeface="Menlo"/>
                <a:cs typeface="Menlo"/>
              </a:rPr>
              <a:t>cd /bb8/lingrui/my_projects/FAST_IC443</a:t>
            </a:r>
          </a:p>
        </p:txBody>
      </p:sp>
      <p:sp>
        <p:nvSpPr>
          <p:cNvPr id="6" name="Oval 5">
            <a:extLst>
              <a:ext uri="{FF2B5EF4-FFF2-40B4-BE49-F238E27FC236}">
                <a16:creationId xmlns:a16="http://schemas.microsoft.com/office/drawing/2014/main" id="{0A1B2514-B76B-43C2-8D71-431AA04FBEBA}"/>
              </a:ext>
            </a:extLst>
          </p:cNvPr>
          <p:cNvSpPr>
            <a:spLocks noGrp="1"/>
          </p:cNvSpPr>
          <p:nvPr/>
        </p:nvSpPr>
        <p:spPr>
          <a:xfrm>
            <a:off x="657225" y="3333750"/>
            <a:ext cx="361950" cy="361950"/>
          </a:xfrm>
          <a:prstGeom prst="ellipse">
            <a:avLst/>
          </a:prstGeom>
          <a:solidFill>
            <a:srgbClr val="D77313"/>
          </a:solidFill>
          <a:ln w="19050">
            <a:solidFill>
              <a:srgbClr val="FFFFFF"/>
            </a:solidFill>
          </a:ln>
        </p:spPr>
        <p:txBody>
          <a:bodyPr lIns="0" tIns="0" rIns="0" bIns="0" anchor="ctr"/>
          <a:lstStyle>
            <a:defPPr algn="ctr">
              <a:defRPr sz="1739" b="1">
                <a:solidFill>
                  <a:srgbClr val="FFFFFF"/>
                </a:solidFill>
                <a:latin typeface="Arial"/>
                <a:ea typeface="Arial"/>
                <a:cs typeface="Arial"/>
              </a:defRPr>
            </a:defPPr>
            <a:lvl1pPr algn="ctr">
              <a:defRPr sz="1739" b="1">
                <a:solidFill>
                  <a:srgbClr val="FFFFFF"/>
                </a:solidFill>
                <a:latin typeface="Arial"/>
                <a:ea typeface="Arial"/>
                <a:cs typeface="Arial"/>
              </a:defRPr>
            </a:lvl1pPr>
            <a:lvl2pPr algn="ctr">
              <a:defRPr sz="1739" b="1">
                <a:solidFill>
                  <a:srgbClr val="FFFFFF"/>
                </a:solidFill>
                <a:latin typeface="Arial"/>
                <a:ea typeface="Arial"/>
                <a:cs typeface="Arial"/>
              </a:defRPr>
            </a:lvl2pPr>
            <a:lvl3pPr algn="ctr">
              <a:defRPr sz="1739" b="1">
                <a:solidFill>
                  <a:srgbClr val="FFFFFF"/>
                </a:solidFill>
                <a:latin typeface="Arial"/>
                <a:ea typeface="Arial"/>
                <a:cs typeface="Arial"/>
              </a:defRPr>
            </a:lvl3pPr>
            <a:lvl4pPr algn="ctr">
              <a:defRPr sz="1739" b="1">
                <a:solidFill>
                  <a:srgbClr val="FFFFFF"/>
                </a:solidFill>
                <a:latin typeface="Arial"/>
                <a:ea typeface="Arial"/>
                <a:cs typeface="Arial"/>
              </a:defRPr>
            </a:lvl4pPr>
            <a:lvl5pPr algn="ctr">
              <a:defRPr sz="1739" b="1">
                <a:solidFill>
                  <a:srgbClr val="FFFFFF"/>
                </a:solidFill>
                <a:latin typeface="Arial"/>
                <a:ea typeface="Arial"/>
                <a:cs typeface="Arial"/>
              </a:defRPr>
            </a:lvl5pPr>
            <a:lvl6pPr algn="ctr">
              <a:defRPr sz="1739" b="1">
                <a:solidFill>
                  <a:srgbClr val="FFFFFF"/>
                </a:solidFill>
                <a:latin typeface="Arial"/>
                <a:ea typeface="Arial"/>
                <a:cs typeface="Arial"/>
              </a:defRPr>
            </a:lvl6pPr>
            <a:lvl7pPr algn="ctr">
              <a:defRPr sz="1739" b="1">
                <a:solidFill>
                  <a:srgbClr val="FFFFFF"/>
                </a:solidFill>
                <a:latin typeface="Arial"/>
                <a:ea typeface="Arial"/>
                <a:cs typeface="Arial"/>
              </a:defRPr>
            </a:lvl7pPr>
            <a:lvl8pPr algn="ctr">
              <a:defRPr sz="1739" b="1">
                <a:solidFill>
                  <a:srgbClr val="FFFFFF"/>
                </a:solidFill>
                <a:latin typeface="Arial"/>
                <a:ea typeface="Arial"/>
                <a:cs typeface="Arial"/>
              </a:defRPr>
            </a:lvl8pPr>
            <a:lvl9pPr algn="ctr">
              <a:defRPr sz="1739" b="1">
                <a:solidFill>
                  <a:srgbClr val="FFFFFF"/>
                </a:solidFill>
                <a:latin typeface="Arial"/>
                <a:ea typeface="Arial"/>
                <a:cs typeface="Arial"/>
              </a:defRPr>
            </a:lvl9pPr>
          </a:lstStyle>
          <a:p>
            <a:pPr algn="ctr">
              <a:defRPr sz="1739" b="1">
                <a:solidFill>
                  <a:srgbClr val="FFFFFF"/>
                </a:solidFill>
                <a:latin typeface="Arial"/>
                <a:ea typeface="Arial"/>
                <a:cs typeface="Arial"/>
              </a:defRPr>
            </a:pPr>
            <a:r>
              <a:rPr sz="1739" b="1">
                <a:solidFill>
                  <a:srgbClr val="FFFFFF"/>
                </a:solidFill>
                <a:latin typeface="Arial"/>
                <a:ea typeface="Arial"/>
                <a:cs typeface="Arial"/>
              </a:rPr>
              <a:t>2</a:t>
            </a:r>
          </a:p>
        </p:txBody>
      </p:sp>
      <p:sp>
        <p:nvSpPr>
          <p:cNvPr id="7" name="Rectangle 6">
            <a:extLst>
              <a:ext uri="{FF2B5EF4-FFF2-40B4-BE49-F238E27FC236}">
                <a16:creationId xmlns:a16="http://schemas.microsoft.com/office/drawing/2014/main" id="{367BB99C-ECA6-4FED-BDB5-711C79633F12}"/>
              </a:ext>
            </a:extLst>
          </p:cNvPr>
          <p:cNvSpPr>
            <a:spLocks noGrp="1"/>
          </p:cNvSpPr>
          <p:nvPr/>
        </p:nvSpPr>
        <p:spPr>
          <a:xfrm>
            <a:off x="1285875" y="3324225"/>
            <a:ext cx="13144500" cy="809625"/>
          </a:xfrm>
          <a:prstGeom prst="rect">
            <a:avLst/>
          </a:prstGeom>
          <a:noFill/>
          <a:ln w="0">
            <a:noFill/>
          </a:ln>
        </p:spPr>
        <p:txBody>
          <a:bodyPr wrap="square" lIns="0" tIns="0" rIns="0" bIns="0" anchor="t">
            <a:noAutofit/>
          </a:bodyPr>
          <a:lstStyle>
            <a:defPPr>
              <a:defRPr sz="2025" b="0">
                <a:solidFill>
                  <a:srgbClr val="075CA8"/>
                </a:solidFill>
                <a:latin typeface="Menlo"/>
                <a:ea typeface="Menlo"/>
                <a:cs typeface="Menlo"/>
              </a:defRPr>
            </a:defPPr>
            <a:lvl1pPr>
              <a:defRPr sz="2025" b="0">
                <a:solidFill>
                  <a:srgbClr val="075CA8"/>
                </a:solidFill>
                <a:latin typeface="Menlo"/>
                <a:ea typeface="Menlo"/>
                <a:cs typeface="Menlo"/>
              </a:defRPr>
            </a:lvl1pPr>
            <a:lvl2pPr>
              <a:defRPr sz="2025" b="0">
                <a:solidFill>
                  <a:srgbClr val="075CA8"/>
                </a:solidFill>
                <a:latin typeface="Menlo"/>
                <a:ea typeface="Menlo"/>
                <a:cs typeface="Menlo"/>
              </a:defRPr>
            </a:lvl2pPr>
            <a:lvl3pPr>
              <a:defRPr sz="2025" b="0">
                <a:solidFill>
                  <a:srgbClr val="075CA8"/>
                </a:solidFill>
                <a:latin typeface="Menlo"/>
                <a:ea typeface="Menlo"/>
                <a:cs typeface="Menlo"/>
              </a:defRPr>
            </a:lvl3pPr>
            <a:lvl4pPr>
              <a:defRPr sz="2025" b="0">
                <a:solidFill>
                  <a:srgbClr val="075CA8"/>
                </a:solidFill>
                <a:latin typeface="Menlo"/>
                <a:ea typeface="Menlo"/>
                <a:cs typeface="Menlo"/>
              </a:defRPr>
            </a:lvl4pPr>
            <a:lvl5pPr>
              <a:defRPr sz="2025" b="0">
                <a:solidFill>
                  <a:srgbClr val="075CA8"/>
                </a:solidFill>
                <a:latin typeface="Menlo"/>
                <a:ea typeface="Menlo"/>
                <a:cs typeface="Menlo"/>
              </a:defRPr>
            </a:lvl5pPr>
            <a:lvl6pPr>
              <a:defRPr sz="2025" b="0">
                <a:solidFill>
                  <a:srgbClr val="075CA8"/>
                </a:solidFill>
                <a:latin typeface="Menlo"/>
                <a:ea typeface="Menlo"/>
                <a:cs typeface="Menlo"/>
              </a:defRPr>
            </a:lvl6pPr>
            <a:lvl7pPr>
              <a:defRPr sz="2025" b="0">
                <a:solidFill>
                  <a:srgbClr val="075CA8"/>
                </a:solidFill>
                <a:latin typeface="Menlo"/>
                <a:ea typeface="Menlo"/>
                <a:cs typeface="Menlo"/>
              </a:defRPr>
            </a:lvl7pPr>
            <a:lvl8pPr>
              <a:defRPr sz="2025" b="0">
                <a:solidFill>
                  <a:srgbClr val="075CA8"/>
                </a:solidFill>
                <a:latin typeface="Menlo"/>
                <a:ea typeface="Menlo"/>
                <a:cs typeface="Menlo"/>
              </a:defRPr>
            </a:lvl8pPr>
            <a:lvl9pPr>
              <a:defRPr sz="2025" b="0">
                <a:solidFill>
                  <a:srgbClr val="075CA8"/>
                </a:solidFill>
                <a:latin typeface="Menlo"/>
                <a:ea typeface="Menlo"/>
                <a:cs typeface="Menlo"/>
              </a:defRPr>
            </a:lvl9pPr>
          </a:lstStyle>
          <a:p>
            <a:pPr>
              <a:defRPr sz="2025" b="0">
                <a:solidFill>
                  <a:srgbClr val="075CA8"/>
                </a:solidFill>
                <a:latin typeface="Menlo"/>
                <a:ea typeface="Menlo"/>
                <a:cs typeface="Menlo"/>
              </a:defRPr>
            </a:pPr>
            <a:r>
              <a:rPr sz="2025" b="0">
                <a:solidFill>
                  <a:srgbClr val="075CA8"/>
                </a:solidFill>
                <a:latin typeface="Menlo"/>
                <a:ea typeface="Menlo"/>
                <a:cs typeface="Menlo"/>
              </a:rPr>
              <a:t>export LD_PRELOAD=/astrosoft/anaconda/anaconda3/lib/libstdc++.so.6</a:t>
            </a:r>
          </a:p>
        </p:txBody>
      </p:sp>
      <p:sp>
        <p:nvSpPr>
          <p:cNvPr id="8" name="Rectangle 7">
            <a:extLst>
              <a:ext uri="{FF2B5EF4-FFF2-40B4-BE49-F238E27FC236}">
                <a16:creationId xmlns:a16="http://schemas.microsoft.com/office/drawing/2014/main" id="{A69969C1-D76D-4654-8669-7A24E64CB8C9}"/>
              </a:ext>
            </a:extLst>
          </p:cNvPr>
          <p:cNvSpPr>
            <a:spLocks noGrp="1"/>
          </p:cNvSpPr>
          <p:nvPr/>
        </p:nvSpPr>
        <p:spPr>
          <a:xfrm>
            <a:off x="1295400" y="4057650"/>
            <a:ext cx="12858750" cy="523875"/>
          </a:xfrm>
          <a:prstGeom prst="rect">
            <a:avLst/>
          </a:prstGeom>
          <a:noFill/>
          <a:ln w="0">
            <a:noFill/>
          </a:ln>
        </p:spPr>
        <p:txBody>
          <a:bodyPr wrap="square" lIns="0" tIns="0" rIns="0" bIns="0" anchor="t">
            <a:noAutofit/>
          </a:bodyPr>
          <a:lstStyle>
            <a:defPPr>
              <a:defRPr sz="2100" b="0">
                <a:solidFill>
                  <a:srgbClr val="4B5E70"/>
                </a:solidFill>
                <a:latin typeface="Arial"/>
                <a:ea typeface="Arial"/>
                <a:cs typeface="Arial"/>
              </a:defRPr>
            </a:defPPr>
            <a:lvl1pPr>
              <a:defRPr sz="2100" b="0">
                <a:solidFill>
                  <a:srgbClr val="4B5E70"/>
                </a:solidFill>
                <a:latin typeface="Arial"/>
                <a:ea typeface="Arial"/>
                <a:cs typeface="Arial"/>
              </a:defRPr>
            </a:lvl1pPr>
            <a:lvl2pPr>
              <a:defRPr sz="2100" b="0">
                <a:solidFill>
                  <a:srgbClr val="4B5E70"/>
                </a:solidFill>
                <a:latin typeface="Arial"/>
                <a:ea typeface="Arial"/>
                <a:cs typeface="Arial"/>
              </a:defRPr>
            </a:lvl2pPr>
            <a:lvl3pPr>
              <a:defRPr sz="2100" b="0">
                <a:solidFill>
                  <a:srgbClr val="4B5E70"/>
                </a:solidFill>
                <a:latin typeface="Arial"/>
                <a:ea typeface="Arial"/>
                <a:cs typeface="Arial"/>
              </a:defRPr>
            </a:lvl3pPr>
            <a:lvl4pPr>
              <a:defRPr sz="2100" b="0">
                <a:solidFill>
                  <a:srgbClr val="4B5E70"/>
                </a:solidFill>
                <a:latin typeface="Arial"/>
                <a:ea typeface="Arial"/>
                <a:cs typeface="Arial"/>
              </a:defRPr>
            </a:lvl4pPr>
            <a:lvl5pPr>
              <a:defRPr sz="2100" b="0">
                <a:solidFill>
                  <a:srgbClr val="4B5E70"/>
                </a:solidFill>
                <a:latin typeface="Arial"/>
                <a:ea typeface="Arial"/>
                <a:cs typeface="Arial"/>
              </a:defRPr>
            </a:lvl5pPr>
            <a:lvl6pPr>
              <a:defRPr sz="2100" b="0">
                <a:solidFill>
                  <a:srgbClr val="4B5E70"/>
                </a:solidFill>
                <a:latin typeface="Arial"/>
                <a:ea typeface="Arial"/>
                <a:cs typeface="Arial"/>
              </a:defRPr>
            </a:lvl6pPr>
            <a:lvl7pPr>
              <a:defRPr sz="2100" b="0">
                <a:solidFill>
                  <a:srgbClr val="4B5E70"/>
                </a:solidFill>
                <a:latin typeface="Arial"/>
                <a:ea typeface="Arial"/>
                <a:cs typeface="Arial"/>
              </a:defRPr>
            </a:lvl7pPr>
            <a:lvl8pPr>
              <a:defRPr sz="2100" b="0">
                <a:solidFill>
                  <a:srgbClr val="4B5E70"/>
                </a:solidFill>
                <a:latin typeface="Arial"/>
                <a:ea typeface="Arial"/>
                <a:cs typeface="Arial"/>
              </a:defRPr>
            </a:lvl8pPr>
            <a:lvl9pPr>
              <a:defRPr sz="2100" b="0">
                <a:solidFill>
                  <a:srgbClr val="4B5E70"/>
                </a:solidFill>
                <a:latin typeface="Arial"/>
                <a:ea typeface="Arial"/>
                <a:cs typeface="Arial"/>
              </a:defRPr>
            </a:lvl9pPr>
          </a:lstStyle>
          <a:p>
            <a:pPr>
              <a:defRPr sz="2100" b="0">
                <a:solidFill>
                  <a:srgbClr val="4B5E70"/>
                </a:solidFill>
                <a:latin typeface="Arial"/>
                <a:ea typeface="Arial"/>
                <a:cs typeface="Arial"/>
              </a:defRPr>
            </a:pPr>
            <a:r>
              <a:rPr sz="2100" b="0">
                <a:solidFill>
                  <a:srgbClr val="4B5E70"/>
                </a:solidFill>
                <a:latin typeface="Arial"/>
                <a:ea typeface="Arial"/>
                <a:cs typeface="Arial"/>
              </a:rPr>
              <a:t>This selects the C++ library already installed on .114.</a:t>
            </a:r>
          </a:p>
        </p:txBody>
      </p:sp>
      <p:sp>
        <p:nvSpPr>
          <p:cNvPr id="9" name="Oval 8">
            <a:extLst>
              <a:ext uri="{FF2B5EF4-FFF2-40B4-BE49-F238E27FC236}">
                <a16:creationId xmlns:a16="http://schemas.microsoft.com/office/drawing/2014/main" id="{528AD269-951D-4AB1-9C51-42D6B9FFC894}"/>
              </a:ext>
            </a:extLst>
          </p:cNvPr>
          <p:cNvSpPr>
            <a:spLocks noGrp="1"/>
          </p:cNvSpPr>
          <p:nvPr/>
        </p:nvSpPr>
        <p:spPr>
          <a:xfrm>
            <a:off x="657225" y="5238750"/>
            <a:ext cx="361950" cy="361950"/>
          </a:xfrm>
          <a:prstGeom prst="ellipse">
            <a:avLst/>
          </a:prstGeom>
          <a:solidFill>
            <a:srgbClr val="D77313"/>
          </a:solidFill>
          <a:ln w="19050">
            <a:solidFill>
              <a:srgbClr val="FFFFFF"/>
            </a:solidFill>
          </a:ln>
        </p:spPr>
        <p:txBody>
          <a:bodyPr lIns="0" tIns="0" rIns="0" bIns="0" anchor="ctr"/>
          <a:lstStyle>
            <a:defPPr algn="ctr">
              <a:defRPr sz="1739" b="1">
                <a:solidFill>
                  <a:srgbClr val="FFFFFF"/>
                </a:solidFill>
                <a:latin typeface="Arial"/>
                <a:ea typeface="Arial"/>
                <a:cs typeface="Arial"/>
              </a:defRPr>
            </a:defPPr>
            <a:lvl1pPr algn="ctr">
              <a:defRPr sz="1739" b="1">
                <a:solidFill>
                  <a:srgbClr val="FFFFFF"/>
                </a:solidFill>
                <a:latin typeface="Arial"/>
                <a:ea typeface="Arial"/>
                <a:cs typeface="Arial"/>
              </a:defRPr>
            </a:lvl1pPr>
            <a:lvl2pPr algn="ctr">
              <a:defRPr sz="1739" b="1">
                <a:solidFill>
                  <a:srgbClr val="FFFFFF"/>
                </a:solidFill>
                <a:latin typeface="Arial"/>
                <a:ea typeface="Arial"/>
                <a:cs typeface="Arial"/>
              </a:defRPr>
            </a:lvl2pPr>
            <a:lvl3pPr algn="ctr">
              <a:defRPr sz="1739" b="1">
                <a:solidFill>
                  <a:srgbClr val="FFFFFF"/>
                </a:solidFill>
                <a:latin typeface="Arial"/>
                <a:ea typeface="Arial"/>
                <a:cs typeface="Arial"/>
              </a:defRPr>
            </a:lvl3pPr>
            <a:lvl4pPr algn="ctr">
              <a:defRPr sz="1739" b="1">
                <a:solidFill>
                  <a:srgbClr val="FFFFFF"/>
                </a:solidFill>
                <a:latin typeface="Arial"/>
                <a:ea typeface="Arial"/>
                <a:cs typeface="Arial"/>
              </a:defRPr>
            </a:lvl4pPr>
            <a:lvl5pPr algn="ctr">
              <a:defRPr sz="1739" b="1">
                <a:solidFill>
                  <a:srgbClr val="FFFFFF"/>
                </a:solidFill>
                <a:latin typeface="Arial"/>
                <a:ea typeface="Arial"/>
                <a:cs typeface="Arial"/>
              </a:defRPr>
            </a:lvl5pPr>
            <a:lvl6pPr algn="ctr">
              <a:defRPr sz="1739" b="1">
                <a:solidFill>
                  <a:srgbClr val="FFFFFF"/>
                </a:solidFill>
                <a:latin typeface="Arial"/>
                <a:ea typeface="Arial"/>
                <a:cs typeface="Arial"/>
              </a:defRPr>
            </a:lvl6pPr>
            <a:lvl7pPr algn="ctr">
              <a:defRPr sz="1739" b="1">
                <a:solidFill>
                  <a:srgbClr val="FFFFFF"/>
                </a:solidFill>
                <a:latin typeface="Arial"/>
                <a:ea typeface="Arial"/>
                <a:cs typeface="Arial"/>
              </a:defRPr>
            </a:lvl7pPr>
            <a:lvl8pPr algn="ctr">
              <a:defRPr sz="1739" b="1">
                <a:solidFill>
                  <a:srgbClr val="FFFFFF"/>
                </a:solidFill>
                <a:latin typeface="Arial"/>
                <a:ea typeface="Arial"/>
                <a:cs typeface="Arial"/>
              </a:defRPr>
            </a:lvl8pPr>
            <a:lvl9pPr algn="ctr">
              <a:defRPr sz="1739" b="1">
                <a:solidFill>
                  <a:srgbClr val="FFFFFF"/>
                </a:solidFill>
                <a:latin typeface="Arial"/>
                <a:ea typeface="Arial"/>
                <a:cs typeface="Arial"/>
              </a:defRPr>
            </a:lvl9pPr>
          </a:lstStyle>
          <a:p>
            <a:pPr algn="ctr">
              <a:defRPr sz="1739" b="1">
                <a:solidFill>
                  <a:srgbClr val="FFFFFF"/>
                </a:solidFill>
                <a:latin typeface="Arial"/>
                <a:ea typeface="Arial"/>
                <a:cs typeface="Arial"/>
              </a:defRPr>
            </a:pPr>
            <a:r>
              <a:rPr sz="1739" b="1">
                <a:solidFill>
                  <a:srgbClr val="FFFFFF"/>
                </a:solidFill>
                <a:latin typeface="Arial"/>
                <a:ea typeface="Arial"/>
                <a:cs typeface="Arial"/>
              </a:rPr>
              <a:t>3</a:t>
            </a:r>
          </a:p>
        </p:txBody>
      </p:sp>
      <p:sp>
        <p:nvSpPr>
          <p:cNvPr id="10" name="Rectangle 9">
            <a:extLst>
              <a:ext uri="{FF2B5EF4-FFF2-40B4-BE49-F238E27FC236}">
                <a16:creationId xmlns:a16="http://schemas.microsoft.com/office/drawing/2014/main" id="{D1BDECEB-0010-417C-AB6E-8B332EE038C6}"/>
              </a:ext>
            </a:extLst>
          </p:cNvPr>
          <p:cNvSpPr>
            <a:spLocks noGrp="1"/>
          </p:cNvSpPr>
          <p:nvPr/>
        </p:nvSpPr>
        <p:spPr>
          <a:xfrm>
            <a:off x="1285875" y="5219700"/>
            <a:ext cx="12858750" cy="619125"/>
          </a:xfrm>
          <a:prstGeom prst="rect">
            <a:avLst/>
          </a:prstGeom>
          <a:noFill/>
          <a:ln w="0">
            <a:noFill/>
          </a:ln>
        </p:spPr>
        <p:txBody>
          <a:bodyPr wrap="square" lIns="0" tIns="0" rIns="0" bIns="0" anchor="t">
            <a:noAutofit/>
          </a:bodyPr>
          <a:lstStyle>
            <a:defPPr>
              <a:defRPr sz="2475" b="0">
                <a:solidFill>
                  <a:srgbClr val="075CA8"/>
                </a:solidFill>
                <a:latin typeface="Menlo"/>
                <a:ea typeface="Menlo"/>
                <a:cs typeface="Menlo"/>
              </a:defRPr>
            </a:defPPr>
            <a:lvl1pPr>
              <a:defRPr sz="2475" b="0">
                <a:solidFill>
                  <a:srgbClr val="075CA8"/>
                </a:solidFill>
                <a:latin typeface="Menlo"/>
                <a:ea typeface="Menlo"/>
                <a:cs typeface="Menlo"/>
              </a:defRPr>
            </a:lvl1pPr>
            <a:lvl2pPr>
              <a:defRPr sz="2475" b="0">
                <a:solidFill>
                  <a:srgbClr val="075CA8"/>
                </a:solidFill>
                <a:latin typeface="Menlo"/>
                <a:ea typeface="Menlo"/>
                <a:cs typeface="Menlo"/>
              </a:defRPr>
            </a:lvl2pPr>
            <a:lvl3pPr>
              <a:defRPr sz="2475" b="0">
                <a:solidFill>
                  <a:srgbClr val="075CA8"/>
                </a:solidFill>
                <a:latin typeface="Menlo"/>
                <a:ea typeface="Menlo"/>
                <a:cs typeface="Menlo"/>
              </a:defRPr>
            </a:lvl3pPr>
            <a:lvl4pPr>
              <a:defRPr sz="2475" b="0">
                <a:solidFill>
                  <a:srgbClr val="075CA8"/>
                </a:solidFill>
                <a:latin typeface="Menlo"/>
                <a:ea typeface="Menlo"/>
                <a:cs typeface="Menlo"/>
              </a:defRPr>
            </a:lvl4pPr>
            <a:lvl5pPr>
              <a:defRPr sz="2475" b="0">
                <a:solidFill>
                  <a:srgbClr val="075CA8"/>
                </a:solidFill>
                <a:latin typeface="Menlo"/>
                <a:ea typeface="Menlo"/>
                <a:cs typeface="Menlo"/>
              </a:defRPr>
            </a:lvl5pPr>
            <a:lvl6pPr>
              <a:defRPr sz="2475" b="0">
                <a:solidFill>
                  <a:srgbClr val="075CA8"/>
                </a:solidFill>
                <a:latin typeface="Menlo"/>
                <a:ea typeface="Menlo"/>
                <a:cs typeface="Menlo"/>
              </a:defRPr>
            </a:lvl6pPr>
            <a:lvl7pPr>
              <a:defRPr sz="2475" b="0">
                <a:solidFill>
                  <a:srgbClr val="075CA8"/>
                </a:solidFill>
                <a:latin typeface="Menlo"/>
                <a:ea typeface="Menlo"/>
                <a:cs typeface="Menlo"/>
              </a:defRPr>
            </a:lvl7pPr>
            <a:lvl8pPr>
              <a:defRPr sz="2475" b="0">
                <a:solidFill>
                  <a:srgbClr val="075CA8"/>
                </a:solidFill>
                <a:latin typeface="Menlo"/>
                <a:ea typeface="Menlo"/>
                <a:cs typeface="Menlo"/>
              </a:defRPr>
            </a:lvl8pPr>
            <a:lvl9pPr>
              <a:defRPr sz="2475" b="0">
                <a:solidFill>
                  <a:srgbClr val="075CA8"/>
                </a:solidFill>
                <a:latin typeface="Menlo"/>
                <a:ea typeface="Menlo"/>
                <a:cs typeface="Menlo"/>
              </a:defRPr>
            </a:lvl9pPr>
          </a:lstStyle>
          <a:p>
            <a:pPr>
              <a:defRPr sz="2475" b="0">
                <a:solidFill>
                  <a:srgbClr val="075CA8"/>
                </a:solidFill>
                <a:latin typeface="Menlo"/>
                <a:ea typeface="Menlo"/>
                <a:cs typeface="Menlo"/>
              </a:defRPr>
            </a:pPr>
            <a:r>
              <a:rPr sz="2475" b="0">
                <a:solidFill>
                  <a:srgbClr val="075CA8"/>
                </a:solidFill>
                <a:latin typeface="Menlo"/>
                <a:ea typeface="Menlo"/>
                <a:cs typeface="Menlo"/>
              </a:rPr>
              <a:t>~/.local/bin/fish --viewer qt</a:t>
            </a:r>
          </a:p>
        </p:txBody>
      </p:sp>
      <p:sp>
        <p:nvSpPr>
          <p:cNvPr id="11" name="Rectangle 10">
            <a:extLst>
              <a:ext uri="{FF2B5EF4-FFF2-40B4-BE49-F238E27FC236}">
                <a16:creationId xmlns:a16="http://schemas.microsoft.com/office/drawing/2014/main" id="{55183ED6-3861-4EAA-B70B-226DB8CBB651}"/>
              </a:ext>
            </a:extLst>
          </p:cNvPr>
          <p:cNvSpPr>
            <a:spLocks noGrp="1"/>
          </p:cNvSpPr>
          <p:nvPr/>
        </p:nvSpPr>
        <p:spPr>
          <a:xfrm>
            <a:off x="1285875" y="6334125"/>
            <a:ext cx="12287250" cy="952500"/>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The prompt becomes fish&gt;. Qt windows need a graphical desktop or a working display connection.</a:t>
            </a:r>
          </a:p>
        </p:txBody>
      </p:sp>
    </p:spTree>
    <p:extLst>
      <p:ext uri="{BB962C8B-B14F-4D97-AF65-F5344CB8AC3E}">
        <p14:creationId xmlns:p14="http://schemas.microsoft.com/office/powerpoint/2010/main" val="755610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0AB69A2-7E76-4204-B81D-F84B945142EB}"/>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Opening N_0002, N_0003 and N_0004</a:t>
            </a:r>
          </a:p>
        </p:txBody>
      </p:sp>
      <p:sp>
        <p:nvSpPr>
          <p:cNvPr id="2" name="Rectangle 1">
            <a:extLst>
              <a:ext uri="{FF2B5EF4-FFF2-40B4-BE49-F238E27FC236}">
                <a16:creationId xmlns:a16="http://schemas.microsoft.com/office/drawing/2014/main" id="{8C4C31CD-847F-42A0-BAF9-2A047014BDB4}"/>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Enter these commands at the fish&gt; prompt</a:t>
            </a:r>
          </a:p>
        </p:txBody>
      </p:sp>
      <p:sp>
        <p:nvSpPr>
          <p:cNvPr id="3" name="Rectangle 2">
            <a:extLst>
              <a:ext uri="{FF2B5EF4-FFF2-40B4-BE49-F238E27FC236}">
                <a16:creationId xmlns:a16="http://schemas.microsoft.com/office/drawing/2014/main" id="{7672456B-18D0-4A85-B9DC-D14D13ACF6A0}"/>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04</a:t>
            </a:r>
          </a:p>
        </p:txBody>
      </p:sp>
      <p:sp>
        <p:nvSpPr>
          <p:cNvPr id="4" name="Rectangle 3">
            <a:extLst>
              <a:ext uri="{FF2B5EF4-FFF2-40B4-BE49-F238E27FC236}">
                <a16:creationId xmlns:a16="http://schemas.microsoft.com/office/drawing/2014/main" id="{56FC8351-C214-4D1D-B71F-AAA0816FC820}"/>
              </a:ext>
            </a:extLst>
          </p:cNvPr>
          <p:cNvSpPr>
            <a:spLocks noGrp="1"/>
          </p:cNvSpPr>
          <p:nvPr/>
        </p:nvSpPr>
        <p:spPr>
          <a:xfrm>
            <a:off x="666750" y="2238375"/>
            <a:ext cx="14001750" cy="619125"/>
          </a:xfrm>
          <a:prstGeom prst="rect">
            <a:avLst/>
          </a:prstGeom>
          <a:noFill/>
          <a:ln w="0">
            <a:noFill/>
          </a:ln>
        </p:spPr>
        <p:txBody>
          <a:bodyPr wrap="square" lIns="0" tIns="0" rIns="0" bIns="0" anchor="t">
            <a:noAutofit/>
          </a:bodyPr>
          <a:lstStyle>
            <a:defPPr>
              <a:defRPr sz="2175" b="0">
                <a:solidFill>
                  <a:srgbClr val="075CA8"/>
                </a:solidFill>
                <a:latin typeface="Menlo"/>
                <a:ea typeface="Menlo"/>
                <a:cs typeface="Menlo"/>
              </a:defRPr>
            </a:defPPr>
            <a:lvl1pPr>
              <a:defRPr sz="2175" b="0">
                <a:solidFill>
                  <a:srgbClr val="075CA8"/>
                </a:solidFill>
                <a:latin typeface="Menlo"/>
                <a:ea typeface="Menlo"/>
                <a:cs typeface="Menlo"/>
              </a:defRPr>
            </a:lvl1pPr>
            <a:lvl2pPr>
              <a:defRPr sz="2175" b="0">
                <a:solidFill>
                  <a:srgbClr val="075CA8"/>
                </a:solidFill>
                <a:latin typeface="Menlo"/>
                <a:ea typeface="Menlo"/>
                <a:cs typeface="Menlo"/>
              </a:defRPr>
            </a:lvl2pPr>
            <a:lvl3pPr>
              <a:defRPr sz="2175" b="0">
                <a:solidFill>
                  <a:srgbClr val="075CA8"/>
                </a:solidFill>
                <a:latin typeface="Menlo"/>
                <a:ea typeface="Menlo"/>
                <a:cs typeface="Menlo"/>
              </a:defRPr>
            </a:lvl3pPr>
            <a:lvl4pPr>
              <a:defRPr sz="2175" b="0">
                <a:solidFill>
                  <a:srgbClr val="075CA8"/>
                </a:solidFill>
                <a:latin typeface="Menlo"/>
                <a:ea typeface="Menlo"/>
                <a:cs typeface="Menlo"/>
              </a:defRPr>
            </a:lvl4pPr>
            <a:lvl5pPr>
              <a:defRPr sz="2175" b="0">
                <a:solidFill>
                  <a:srgbClr val="075CA8"/>
                </a:solidFill>
                <a:latin typeface="Menlo"/>
                <a:ea typeface="Menlo"/>
                <a:cs typeface="Menlo"/>
              </a:defRPr>
            </a:lvl5pPr>
            <a:lvl6pPr>
              <a:defRPr sz="2175" b="0">
                <a:solidFill>
                  <a:srgbClr val="075CA8"/>
                </a:solidFill>
                <a:latin typeface="Menlo"/>
                <a:ea typeface="Menlo"/>
                <a:cs typeface="Menlo"/>
              </a:defRPr>
            </a:lvl6pPr>
            <a:lvl7pPr>
              <a:defRPr sz="2175" b="0">
                <a:solidFill>
                  <a:srgbClr val="075CA8"/>
                </a:solidFill>
                <a:latin typeface="Menlo"/>
                <a:ea typeface="Menlo"/>
                <a:cs typeface="Menlo"/>
              </a:defRPr>
            </a:lvl7pPr>
            <a:lvl8pPr>
              <a:defRPr sz="2175" b="0">
                <a:solidFill>
                  <a:srgbClr val="075CA8"/>
                </a:solidFill>
                <a:latin typeface="Menlo"/>
                <a:ea typeface="Menlo"/>
                <a:cs typeface="Menlo"/>
              </a:defRPr>
            </a:lvl8pPr>
            <a:lvl9pPr>
              <a:defRPr sz="2175" b="0">
                <a:solidFill>
                  <a:srgbClr val="075CA8"/>
                </a:solidFill>
                <a:latin typeface="Menlo"/>
                <a:ea typeface="Menlo"/>
                <a:cs typeface="Menlo"/>
              </a:defRPr>
            </a:lvl9pPr>
          </a:lstStyle>
          <a:p>
            <a:pPr>
              <a:defRPr sz="2175" b="0">
                <a:solidFill>
                  <a:srgbClr val="075CA8"/>
                </a:solidFill>
                <a:latin typeface="Menlo"/>
                <a:ea typeface="Menlo"/>
                <a:cs typeface="Menlo"/>
              </a:defRPr>
            </a:pPr>
            <a:r>
              <a:rPr sz="2175" b="0">
                <a:solidFill>
                  <a:srgbClr val="075CA8"/>
                </a:solidFill>
                <a:latin typeface="Menlo"/>
                <a:ea typeface="Menlo"/>
                <a:cs typeface="Menlo"/>
              </a:rPr>
              <a:t>project /bb8/lingrui/my_projects/FAST_IC443</a:t>
            </a:r>
          </a:p>
        </p:txBody>
      </p:sp>
      <p:sp>
        <p:nvSpPr>
          <p:cNvPr id="5" name="Rectangle 4">
            <a:extLst>
              <a:ext uri="{FF2B5EF4-FFF2-40B4-BE49-F238E27FC236}">
                <a16:creationId xmlns:a16="http://schemas.microsoft.com/office/drawing/2014/main" id="{882C51E2-94CE-4450-BC16-87960E37D3F0}"/>
              </a:ext>
            </a:extLst>
          </p:cNvPr>
          <p:cNvSpPr>
            <a:spLocks noGrp="1"/>
          </p:cNvSpPr>
          <p:nvPr/>
        </p:nvSpPr>
        <p:spPr>
          <a:xfrm>
            <a:off x="666750" y="3381375"/>
            <a:ext cx="14001750" cy="904875"/>
          </a:xfrm>
          <a:prstGeom prst="rect">
            <a:avLst/>
          </a:prstGeom>
          <a:noFill/>
          <a:ln w="0">
            <a:noFill/>
          </a:ln>
        </p:spPr>
        <p:txBody>
          <a:bodyPr wrap="square" lIns="0" tIns="0" rIns="0" bIns="0" anchor="t">
            <a:noAutofit/>
          </a:bodyPr>
          <a:lstStyle>
            <a:defPPr>
              <a:defRPr sz="1950" b="0">
                <a:solidFill>
                  <a:srgbClr val="075CA8"/>
                </a:solidFill>
                <a:latin typeface="Menlo"/>
                <a:ea typeface="Menlo"/>
                <a:cs typeface="Menlo"/>
              </a:defRPr>
            </a:defPPr>
            <a:lvl1pPr>
              <a:defRPr sz="1950" b="0">
                <a:solidFill>
                  <a:srgbClr val="075CA8"/>
                </a:solidFill>
                <a:latin typeface="Menlo"/>
                <a:ea typeface="Menlo"/>
                <a:cs typeface="Menlo"/>
              </a:defRPr>
            </a:lvl1pPr>
            <a:lvl2pPr>
              <a:defRPr sz="1950" b="0">
                <a:solidFill>
                  <a:srgbClr val="075CA8"/>
                </a:solidFill>
                <a:latin typeface="Menlo"/>
                <a:ea typeface="Menlo"/>
                <a:cs typeface="Menlo"/>
              </a:defRPr>
            </a:lvl2pPr>
            <a:lvl3pPr>
              <a:defRPr sz="1950" b="0">
                <a:solidFill>
                  <a:srgbClr val="075CA8"/>
                </a:solidFill>
                <a:latin typeface="Menlo"/>
                <a:ea typeface="Menlo"/>
                <a:cs typeface="Menlo"/>
              </a:defRPr>
            </a:lvl3pPr>
            <a:lvl4pPr>
              <a:defRPr sz="1950" b="0">
                <a:solidFill>
                  <a:srgbClr val="075CA8"/>
                </a:solidFill>
                <a:latin typeface="Menlo"/>
                <a:ea typeface="Menlo"/>
                <a:cs typeface="Menlo"/>
              </a:defRPr>
            </a:lvl4pPr>
            <a:lvl5pPr>
              <a:defRPr sz="1950" b="0">
                <a:solidFill>
                  <a:srgbClr val="075CA8"/>
                </a:solidFill>
                <a:latin typeface="Menlo"/>
                <a:ea typeface="Menlo"/>
                <a:cs typeface="Menlo"/>
              </a:defRPr>
            </a:lvl5pPr>
            <a:lvl6pPr>
              <a:defRPr sz="1950" b="0">
                <a:solidFill>
                  <a:srgbClr val="075CA8"/>
                </a:solidFill>
                <a:latin typeface="Menlo"/>
                <a:ea typeface="Menlo"/>
                <a:cs typeface="Menlo"/>
              </a:defRPr>
            </a:lvl6pPr>
            <a:lvl7pPr>
              <a:defRPr sz="1950" b="0">
                <a:solidFill>
                  <a:srgbClr val="075CA8"/>
                </a:solidFill>
                <a:latin typeface="Menlo"/>
                <a:ea typeface="Menlo"/>
                <a:cs typeface="Menlo"/>
              </a:defRPr>
            </a:lvl7pPr>
            <a:lvl8pPr>
              <a:defRPr sz="1950" b="0">
                <a:solidFill>
                  <a:srgbClr val="075CA8"/>
                </a:solidFill>
                <a:latin typeface="Menlo"/>
                <a:ea typeface="Menlo"/>
                <a:cs typeface="Menlo"/>
              </a:defRPr>
            </a:lvl8pPr>
            <a:lvl9pPr>
              <a:defRPr sz="1950" b="0">
                <a:solidFill>
                  <a:srgbClr val="075CA8"/>
                </a:solidFill>
                <a:latin typeface="Menlo"/>
                <a:ea typeface="Menlo"/>
                <a:cs typeface="Menlo"/>
              </a:defRPr>
            </a:lvl9pPr>
          </a:lstStyle>
          <a:p>
            <a:pPr>
              <a:defRPr sz="1950" b="0">
                <a:solidFill>
                  <a:srgbClr val="075CA8"/>
                </a:solidFill>
                <a:latin typeface="Menlo"/>
                <a:ea typeface="Menlo"/>
                <a:cs typeface="Menlo"/>
              </a:defRPr>
            </a:pPr>
            <a:r>
              <a:rPr sz="1950" b="0">
                <a:solidFill>
                  <a:srgbClr val="075CA8"/>
                </a:solidFill>
                <a:latin typeface="Menlo"/>
                <a:ea typeface="Menlo"/>
                <a:cs typeface="Menlo"/>
              </a:rPr>
              <a:t>file in org_spec/*/*/*_N_000[234].fits --run-root fish_runs/IC443_0002_0004</a:t>
            </a:r>
          </a:p>
        </p:txBody>
      </p:sp>
      <p:sp>
        <p:nvSpPr>
          <p:cNvPr id="6" name="Rectangle 5">
            <a:extLst>
              <a:ext uri="{FF2B5EF4-FFF2-40B4-BE49-F238E27FC236}">
                <a16:creationId xmlns:a16="http://schemas.microsoft.com/office/drawing/2014/main" id="{71515D89-BD06-4995-AC5A-75CEBB5F8E6D}"/>
              </a:ext>
            </a:extLst>
          </p:cNvPr>
          <p:cNvSpPr>
            <a:spLocks noGrp="1"/>
          </p:cNvSpPr>
          <p:nvPr/>
        </p:nvSpPr>
        <p:spPr>
          <a:xfrm>
            <a:off x="666750" y="4857750"/>
            <a:ext cx="14001750" cy="571500"/>
          </a:xfrm>
          <a:prstGeom prst="rect">
            <a:avLst/>
          </a:prstGeom>
          <a:noFill/>
          <a:ln w="0">
            <a:noFill/>
          </a:ln>
        </p:spPr>
        <p:txBody>
          <a:bodyPr wrap="square" lIns="0" tIns="0" rIns="0" bIns="0" anchor="t">
            <a:noAutofit/>
          </a:bodyPr>
          <a:lstStyle>
            <a:defPPr>
              <a:defRPr sz="2550" b="0">
                <a:solidFill>
                  <a:srgbClr val="075CA8"/>
                </a:solidFill>
                <a:latin typeface="Menlo"/>
                <a:ea typeface="Menlo"/>
                <a:cs typeface="Menlo"/>
              </a:defRPr>
            </a:defPPr>
            <a:lvl1pPr>
              <a:defRPr sz="2550" b="0">
                <a:solidFill>
                  <a:srgbClr val="075CA8"/>
                </a:solidFill>
                <a:latin typeface="Menlo"/>
                <a:ea typeface="Menlo"/>
                <a:cs typeface="Menlo"/>
              </a:defRPr>
            </a:lvl1pPr>
            <a:lvl2pPr>
              <a:defRPr sz="2550" b="0">
                <a:solidFill>
                  <a:srgbClr val="075CA8"/>
                </a:solidFill>
                <a:latin typeface="Menlo"/>
                <a:ea typeface="Menlo"/>
                <a:cs typeface="Menlo"/>
              </a:defRPr>
            </a:lvl2pPr>
            <a:lvl3pPr>
              <a:defRPr sz="2550" b="0">
                <a:solidFill>
                  <a:srgbClr val="075CA8"/>
                </a:solidFill>
                <a:latin typeface="Menlo"/>
                <a:ea typeface="Menlo"/>
                <a:cs typeface="Menlo"/>
              </a:defRPr>
            </a:lvl3pPr>
            <a:lvl4pPr>
              <a:defRPr sz="2550" b="0">
                <a:solidFill>
                  <a:srgbClr val="075CA8"/>
                </a:solidFill>
                <a:latin typeface="Menlo"/>
                <a:ea typeface="Menlo"/>
                <a:cs typeface="Menlo"/>
              </a:defRPr>
            </a:lvl4pPr>
            <a:lvl5pPr>
              <a:defRPr sz="2550" b="0">
                <a:solidFill>
                  <a:srgbClr val="075CA8"/>
                </a:solidFill>
                <a:latin typeface="Menlo"/>
                <a:ea typeface="Menlo"/>
                <a:cs typeface="Menlo"/>
              </a:defRPr>
            </a:lvl5pPr>
            <a:lvl6pPr>
              <a:defRPr sz="2550" b="0">
                <a:solidFill>
                  <a:srgbClr val="075CA8"/>
                </a:solidFill>
                <a:latin typeface="Menlo"/>
                <a:ea typeface="Menlo"/>
                <a:cs typeface="Menlo"/>
              </a:defRPr>
            </a:lvl6pPr>
            <a:lvl7pPr>
              <a:defRPr sz="2550" b="0">
                <a:solidFill>
                  <a:srgbClr val="075CA8"/>
                </a:solidFill>
                <a:latin typeface="Menlo"/>
                <a:ea typeface="Menlo"/>
                <a:cs typeface="Menlo"/>
              </a:defRPr>
            </a:lvl7pPr>
            <a:lvl8pPr>
              <a:defRPr sz="2550" b="0">
                <a:solidFill>
                  <a:srgbClr val="075CA8"/>
                </a:solidFill>
                <a:latin typeface="Menlo"/>
                <a:ea typeface="Menlo"/>
                <a:cs typeface="Menlo"/>
              </a:defRPr>
            </a:lvl8pPr>
            <a:lvl9pPr>
              <a:defRPr sz="2550" b="0">
                <a:solidFill>
                  <a:srgbClr val="075CA8"/>
                </a:solidFill>
                <a:latin typeface="Menlo"/>
                <a:ea typeface="Menlo"/>
                <a:cs typeface="Menlo"/>
              </a:defRPr>
            </a:lvl9pPr>
          </a:lstStyle>
          <a:p>
            <a:pPr>
              <a:defRPr sz="2550" b="0">
                <a:solidFill>
                  <a:srgbClr val="075CA8"/>
                </a:solidFill>
                <a:latin typeface="Menlo"/>
                <a:ea typeface="Menlo"/>
                <a:cs typeface="Menlo"/>
              </a:defRPr>
            </a:pPr>
            <a:r>
              <a:rPr sz="2550" b="0">
                <a:solidFill>
                  <a:srgbClr val="075CA8"/>
                </a:solidFill>
                <a:latin typeface="Menlo"/>
                <a:ea typeface="Menlo"/>
                <a:cs typeface="Menlo"/>
              </a:rPr>
              <a:t>list</a:t>
            </a:r>
          </a:p>
        </p:txBody>
      </p:sp>
      <p:sp>
        <p:nvSpPr>
          <p:cNvPr id="7" name="Rectangle 6">
            <a:extLst>
              <a:ext uri="{FF2B5EF4-FFF2-40B4-BE49-F238E27FC236}">
                <a16:creationId xmlns:a16="http://schemas.microsoft.com/office/drawing/2014/main" id="{26A85DB0-FD70-4E39-AC09-9C339D5DCB2B}"/>
              </a:ext>
            </a:extLst>
          </p:cNvPr>
          <p:cNvSpPr>
            <a:spLocks noGrp="1"/>
          </p:cNvSpPr>
          <p:nvPr/>
        </p:nvSpPr>
        <p:spPr>
          <a:xfrm>
            <a:off x="666750" y="5953125"/>
            <a:ext cx="13811250" cy="571500"/>
          </a:xfrm>
          <a:prstGeom prst="rect">
            <a:avLst/>
          </a:prstGeom>
          <a:noFill/>
          <a:ln w="0">
            <a:noFill/>
          </a:ln>
        </p:spPr>
        <p:txBody>
          <a:bodyPr wrap="square" lIns="0" tIns="0" rIns="0" bIns="0" anchor="t">
            <a:noAutofit/>
          </a:bodyPr>
          <a:lstStyle>
            <a:defPPr>
              <a:defRPr sz="2550" b="1">
                <a:solidFill>
                  <a:srgbClr val="075CA8"/>
                </a:solidFill>
                <a:latin typeface="Arial"/>
                <a:ea typeface="Arial"/>
                <a:cs typeface="Arial"/>
              </a:defRPr>
            </a:defPPr>
            <a:lvl1pPr>
              <a:defRPr sz="2550" b="1">
                <a:solidFill>
                  <a:srgbClr val="075CA8"/>
                </a:solidFill>
                <a:latin typeface="Arial"/>
                <a:ea typeface="Arial"/>
                <a:cs typeface="Arial"/>
              </a:defRPr>
            </a:lvl1pPr>
            <a:lvl2pPr>
              <a:defRPr sz="2550" b="1">
                <a:solidFill>
                  <a:srgbClr val="075CA8"/>
                </a:solidFill>
                <a:latin typeface="Arial"/>
                <a:ea typeface="Arial"/>
                <a:cs typeface="Arial"/>
              </a:defRPr>
            </a:lvl2pPr>
            <a:lvl3pPr>
              <a:defRPr sz="2550" b="1">
                <a:solidFill>
                  <a:srgbClr val="075CA8"/>
                </a:solidFill>
                <a:latin typeface="Arial"/>
                <a:ea typeface="Arial"/>
                <a:cs typeface="Arial"/>
              </a:defRPr>
            </a:lvl3pPr>
            <a:lvl4pPr>
              <a:defRPr sz="2550" b="1">
                <a:solidFill>
                  <a:srgbClr val="075CA8"/>
                </a:solidFill>
                <a:latin typeface="Arial"/>
                <a:ea typeface="Arial"/>
                <a:cs typeface="Arial"/>
              </a:defRPr>
            </a:lvl4pPr>
            <a:lvl5pPr>
              <a:defRPr sz="2550" b="1">
                <a:solidFill>
                  <a:srgbClr val="075CA8"/>
                </a:solidFill>
                <a:latin typeface="Arial"/>
                <a:ea typeface="Arial"/>
                <a:cs typeface="Arial"/>
              </a:defRPr>
            </a:lvl5pPr>
            <a:lvl6pPr>
              <a:defRPr sz="2550" b="1">
                <a:solidFill>
                  <a:srgbClr val="075CA8"/>
                </a:solidFill>
                <a:latin typeface="Arial"/>
                <a:ea typeface="Arial"/>
                <a:cs typeface="Arial"/>
              </a:defRPr>
            </a:lvl6pPr>
            <a:lvl7pPr>
              <a:defRPr sz="2550" b="1">
                <a:solidFill>
                  <a:srgbClr val="075CA8"/>
                </a:solidFill>
                <a:latin typeface="Arial"/>
                <a:ea typeface="Arial"/>
                <a:cs typeface="Arial"/>
              </a:defRPr>
            </a:lvl7pPr>
            <a:lvl8pPr>
              <a:defRPr sz="2550" b="1">
                <a:solidFill>
                  <a:srgbClr val="075CA8"/>
                </a:solidFill>
                <a:latin typeface="Arial"/>
                <a:ea typeface="Arial"/>
                <a:cs typeface="Arial"/>
              </a:defRPr>
            </a:lvl8pPr>
            <a:lvl9pPr>
              <a:defRPr sz="2550" b="1">
                <a:solidFill>
                  <a:srgbClr val="075CA8"/>
                </a:solidFill>
                <a:latin typeface="Arial"/>
                <a:ea typeface="Arial"/>
                <a:cs typeface="Arial"/>
              </a:defRPr>
            </a:lvl9pPr>
          </a:lstStyle>
          <a:p>
            <a:pPr>
              <a:defRPr sz="2550" b="1">
                <a:solidFill>
                  <a:srgbClr val="075CA8"/>
                </a:solidFill>
                <a:latin typeface="Arial"/>
                <a:ea typeface="Arial"/>
                <a:cs typeface="Arial"/>
              </a:defRPr>
            </a:pPr>
            <a:r>
              <a:rPr sz="2550" b="1">
                <a:solidFill>
                  <a:srgbClr val="075CA8"/>
                </a:solidFill>
                <a:latin typeface="Arial"/>
                <a:ea typeface="Arial"/>
                <a:cs typeface="Arial"/>
              </a:rPr>
              <a:t>Expected inventory: 285 files and 583,680 input timestamps.</a:t>
            </a:r>
          </a:p>
        </p:txBody>
      </p:sp>
      <p:sp>
        <p:nvSpPr>
          <p:cNvPr id="8" name="Rectangle 7">
            <a:extLst>
              <a:ext uri="{FF2B5EF4-FFF2-40B4-BE49-F238E27FC236}">
                <a16:creationId xmlns:a16="http://schemas.microsoft.com/office/drawing/2014/main" id="{11BF40BF-E33E-4C1A-9B87-2BF19BC0A1D8}"/>
              </a:ext>
            </a:extLst>
          </p:cNvPr>
          <p:cNvSpPr>
            <a:spLocks noGrp="1"/>
          </p:cNvSpPr>
          <p:nvPr/>
        </p:nvSpPr>
        <p:spPr>
          <a:xfrm>
            <a:off x="666750" y="6896100"/>
            <a:ext cx="13811250" cy="666750"/>
          </a:xfrm>
          <a:prstGeom prst="rect">
            <a:avLst/>
          </a:prstGeom>
          <a:noFill/>
          <a:ln w="0">
            <a:noFill/>
          </a:ln>
        </p:spPr>
        <p:txBody>
          <a:bodyPr wrap="square" lIns="0" tIns="0" rIns="0" bIns="0" anchor="t">
            <a:noAutofit/>
          </a:bodyPr>
          <a:lstStyle>
            <a:defPPr>
              <a:defRPr sz="2100" b="0">
                <a:solidFill>
                  <a:srgbClr val="4B5E70"/>
                </a:solidFill>
                <a:latin typeface="Arial"/>
                <a:ea typeface="Arial"/>
                <a:cs typeface="Arial"/>
              </a:defRPr>
            </a:defPPr>
            <a:lvl1pPr>
              <a:defRPr sz="2100" b="0">
                <a:solidFill>
                  <a:srgbClr val="4B5E70"/>
                </a:solidFill>
                <a:latin typeface="Arial"/>
                <a:ea typeface="Arial"/>
                <a:cs typeface="Arial"/>
              </a:defRPr>
            </a:lvl1pPr>
            <a:lvl2pPr>
              <a:defRPr sz="2100" b="0">
                <a:solidFill>
                  <a:srgbClr val="4B5E70"/>
                </a:solidFill>
                <a:latin typeface="Arial"/>
                <a:ea typeface="Arial"/>
                <a:cs typeface="Arial"/>
              </a:defRPr>
            </a:lvl2pPr>
            <a:lvl3pPr>
              <a:defRPr sz="2100" b="0">
                <a:solidFill>
                  <a:srgbClr val="4B5E70"/>
                </a:solidFill>
                <a:latin typeface="Arial"/>
                <a:ea typeface="Arial"/>
                <a:cs typeface="Arial"/>
              </a:defRPr>
            </a:lvl3pPr>
            <a:lvl4pPr>
              <a:defRPr sz="2100" b="0">
                <a:solidFill>
                  <a:srgbClr val="4B5E70"/>
                </a:solidFill>
                <a:latin typeface="Arial"/>
                <a:ea typeface="Arial"/>
                <a:cs typeface="Arial"/>
              </a:defRPr>
            </a:lvl4pPr>
            <a:lvl5pPr>
              <a:defRPr sz="2100" b="0">
                <a:solidFill>
                  <a:srgbClr val="4B5E70"/>
                </a:solidFill>
                <a:latin typeface="Arial"/>
                <a:ea typeface="Arial"/>
                <a:cs typeface="Arial"/>
              </a:defRPr>
            </a:lvl5pPr>
            <a:lvl6pPr>
              <a:defRPr sz="2100" b="0">
                <a:solidFill>
                  <a:srgbClr val="4B5E70"/>
                </a:solidFill>
                <a:latin typeface="Arial"/>
                <a:ea typeface="Arial"/>
                <a:cs typeface="Arial"/>
              </a:defRPr>
            </a:lvl6pPr>
            <a:lvl7pPr>
              <a:defRPr sz="2100" b="0">
                <a:solidFill>
                  <a:srgbClr val="4B5E70"/>
                </a:solidFill>
                <a:latin typeface="Arial"/>
                <a:ea typeface="Arial"/>
                <a:cs typeface="Arial"/>
              </a:defRPr>
            </a:lvl7pPr>
            <a:lvl8pPr>
              <a:defRPr sz="2100" b="0">
                <a:solidFill>
                  <a:srgbClr val="4B5E70"/>
                </a:solidFill>
                <a:latin typeface="Arial"/>
                <a:ea typeface="Arial"/>
                <a:cs typeface="Arial"/>
              </a:defRPr>
            </a:lvl8pPr>
            <a:lvl9pPr>
              <a:defRPr sz="2100" b="0">
                <a:solidFill>
                  <a:srgbClr val="4B5E70"/>
                </a:solidFill>
                <a:latin typeface="Arial"/>
                <a:ea typeface="Arial"/>
                <a:cs typeface="Arial"/>
              </a:defRPr>
            </a:lvl9pPr>
          </a:lstStyle>
          <a:p>
            <a:pPr>
              <a:defRPr sz="2100" b="0">
                <a:solidFill>
                  <a:srgbClr val="4B5E70"/>
                </a:solidFill>
                <a:latin typeface="Arial"/>
                <a:ea typeface="Arial"/>
                <a:cs typeface="Arial"/>
              </a:defRPr>
            </a:pPr>
            <a:r>
              <a:rPr sz="2100" b="0">
                <a:solidFill>
                  <a:srgbClr val="4B5E70"/>
                </a:solidFill>
                <a:latin typeface="Arial"/>
                <a:ea typeface="Arial"/>
                <a:cs typeface="Arial"/>
              </a:rPr>
              <a:t>The valid pointing count appears after go where. A new run needs an empty directory.</a:t>
            </a:r>
          </a:p>
        </p:txBody>
      </p:sp>
    </p:spTree>
    <p:extLst>
      <p:ext uri="{BB962C8B-B14F-4D97-AF65-F5344CB8AC3E}">
        <p14:creationId xmlns:p14="http://schemas.microsoft.com/office/powerpoint/2010/main" val="2002134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FA1A2B5-68C6-461C-846C-FCBD74F31E22}"/>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Footprint and scan colors</a:t>
            </a:r>
          </a:p>
        </p:txBody>
      </p:sp>
      <p:sp>
        <p:nvSpPr>
          <p:cNvPr id="2" name="Rectangle 1">
            <a:extLst>
              <a:ext uri="{FF2B5EF4-FFF2-40B4-BE49-F238E27FC236}">
                <a16:creationId xmlns:a16="http://schemas.microsoft.com/office/drawing/2014/main" id="{A24F258B-D27D-4B47-88C5-9606B22F6D3D}"/>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fish&gt; go where /workers 64</a:t>
            </a:r>
          </a:p>
        </p:txBody>
      </p:sp>
      <p:sp>
        <p:nvSpPr>
          <p:cNvPr id="3" name="Rectangle 2">
            <a:extLst>
              <a:ext uri="{FF2B5EF4-FFF2-40B4-BE49-F238E27FC236}">
                <a16:creationId xmlns:a16="http://schemas.microsoft.com/office/drawing/2014/main" id="{6FC17CBF-3FF1-42C5-88B6-CF73A0EC1BC7}"/>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05</a:t>
            </a:r>
          </a:p>
        </p:txBody>
      </p:sp>
      <p:pic>
        <p:nvPicPr>
          <p:cNvPr id="4" name="Picture 3">
            <a:extLst>
              <a:ext uri="{FF2B5EF4-FFF2-40B4-BE49-F238E27FC236}">
                <a16:creationId xmlns:a16="http://schemas.microsoft.com/office/drawing/2014/main" id="{6457DA00-BEFA-4D9E-B43F-7E0D6B21F0CE}"/>
              </a:ext>
            </a:extLst>
          </p:cNvPr>
          <p:cNvPicPr>
            <a:picLocks noChangeAspect="1"/>
          </p:cNvPicPr>
          <p:nvPr/>
        </p:nvPicPr>
        <p:blipFill>
          <a:blip r:embed="rId3"/>
          <a:stretch/>
        </p:blipFill>
        <p:spPr>
          <a:xfrm>
            <a:off x="552450" y="1866889"/>
            <a:ext cx="10048875" cy="5648348"/>
          </a:xfrm>
          <a:prstGeom prst="rect">
            <a:avLst/>
          </a:prstGeom>
        </p:spPr>
      </p:pic>
      <p:sp>
        <p:nvSpPr>
          <p:cNvPr id="5" name="Rectangle 4">
            <a:extLst>
              <a:ext uri="{FF2B5EF4-FFF2-40B4-BE49-F238E27FC236}">
                <a16:creationId xmlns:a16="http://schemas.microsoft.com/office/drawing/2014/main" id="{D66464E4-CF3F-4399-B7DA-6D84456F3D5A}"/>
              </a:ext>
            </a:extLst>
          </p:cNvPr>
          <p:cNvSpPr>
            <a:spLocks noGrp="1"/>
          </p:cNvSpPr>
          <p:nvPr/>
        </p:nvSpPr>
        <p:spPr>
          <a:xfrm>
            <a:off x="833840" y="1874482"/>
            <a:ext cx="1119065" cy="231965"/>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34B8B665-6A85-4FE7-846C-69FDCEB83281}"/>
              </a:ext>
            </a:extLst>
          </p:cNvPr>
          <p:cNvSpPr>
            <a:spLocks noGrp="1"/>
          </p:cNvSpPr>
          <p:nvPr/>
        </p:nvSpPr>
        <p:spPr>
          <a:xfrm>
            <a:off x="643340" y="165540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EBFD8801-C3F9-4E5C-9F30-61A63A8B5BD6}"/>
              </a:ext>
            </a:extLst>
          </p:cNvPr>
          <p:cNvSpPr>
            <a:spLocks noGrp="1"/>
          </p:cNvSpPr>
          <p:nvPr/>
        </p:nvSpPr>
        <p:spPr>
          <a:xfrm>
            <a:off x="5553858" y="2067382"/>
            <a:ext cx="847799" cy="225937"/>
          </a:xfrm>
          <a:prstGeom prst="rect">
            <a:avLst/>
          </a:prstGeom>
          <a:noFill/>
          <a:ln w="28575">
            <a:solidFill>
              <a:srgbClr val="D77313"/>
            </a:solidFill>
            <a:prstDash val="solid"/>
          </a:ln>
        </p:spPr>
      </p:sp>
      <p:sp>
        <p:nvSpPr>
          <p:cNvPr id="8" name="Oval 7">
            <a:extLst>
              <a:ext uri="{FF2B5EF4-FFF2-40B4-BE49-F238E27FC236}">
                <a16:creationId xmlns:a16="http://schemas.microsoft.com/office/drawing/2014/main" id="{7D367517-18E4-4F31-B64B-4B6CD05AC2D8}"/>
              </a:ext>
            </a:extLst>
          </p:cNvPr>
          <p:cNvSpPr>
            <a:spLocks noGrp="1"/>
          </p:cNvSpPr>
          <p:nvPr/>
        </p:nvSpPr>
        <p:spPr>
          <a:xfrm>
            <a:off x="5363358" y="184830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pic>
        <p:nvPicPr>
          <p:cNvPr id="9" name="Picture 8">
            <a:extLst>
              <a:ext uri="{FF2B5EF4-FFF2-40B4-BE49-F238E27FC236}">
                <a16:creationId xmlns:a16="http://schemas.microsoft.com/office/drawing/2014/main" id="{D0913531-83B8-4B95-B224-944706AECCB9}"/>
              </a:ext>
            </a:extLst>
          </p:cNvPr>
          <p:cNvPicPr>
            <a:picLocks noChangeAspect="1"/>
          </p:cNvPicPr>
          <p:nvPr/>
        </p:nvPicPr>
        <p:blipFill>
          <a:blip r:embed="rId4"/>
          <a:stretch/>
        </p:blipFill>
        <p:spPr>
          <a:xfrm>
            <a:off x="11125200" y="2335889"/>
            <a:ext cx="3476625" cy="2910121"/>
          </a:xfrm>
          <a:prstGeom prst="rect">
            <a:avLst/>
          </a:prstGeom>
        </p:spPr>
      </p:pic>
      <p:sp>
        <p:nvSpPr>
          <p:cNvPr id="10" name="Rectangle 9">
            <a:extLst>
              <a:ext uri="{FF2B5EF4-FFF2-40B4-BE49-F238E27FC236}">
                <a16:creationId xmlns:a16="http://schemas.microsoft.com/office/drawing/2014/main" id="{DB8D708B-5D28-4412-9FA6-579BEC96336E}"/>
              </a:ext>
            </a:extLst>
          </p:cNvPr>
          <p:cNvSpPr>
            <a:spLocks noGrp="1"/>
          </p:cNvSpPr>
          <p:nvPr/>
        </p:nvSpPr>
        <p:spPr>
          <a:xfrm>
            <a:off x="11191875" y="5619750"/>
            <a:ext cx="3333750" cy="53340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1  View: Footprint</a:t>
            </a:r>
          </a:p>
        </p:txBody>
      </p:sp>
      <p:sp>
        <p:nvSpPr>
          <p:cNvPr id="11" name="Rectangle 10">
            <a:extLst>
              <a:ext uri="{FF2B5EF4-FFF2-40B4-BE49-F238E27FC236}">
                <a16:creationId xmlns:a16="http://schemas.microsoft.com/office/drawing/2014/main" id="{49D05CB8-A1FE-4F88-AB7F-EC8426D19609}"/>
              </a:ext>
            </a:extLst>
          </p:cNvPr>
          <p:cNvSpPr>
            <a:spLocks noGrp="1"/>
          </p:cNvSpPr>
          <p:nvPr/>
        </p:nvSpPr>
        <p:spPr>
          <a:xfrm>
            <a:off x="11191875" y="6276975"/>
            <a:ext cx="3333750" cy="1000125"/>
          </a:xfrm>
          <a:prstGeom prst="rect">
            <a:avLst/>
          </a:prstGeom>
          <a:noFill/>
          <a:ln w="0">
            <a:noFill/>
          </a:ln>
        </p:spPr>
        <p:txBody>
          <a:bodyPr wrap="square" lIns="0" tIns="0" rIns="0" bIns="0" anchor="t">
            <a:noAutofit/>
          </a:bodyPr>
          <a:lstStyle>
            <a:defPPr>
              <a:defRPr sz="2100" b="0">
                <a:solidFill>
                  <a:srgbClr val="152A40"/>
                </a:solidFill>
                <a:latin typeface="Arial"/>
                <a:ea typeface="Arial"/>
                <a:cs typeface="Arial"/>
              </a:defRPr>
            </a:defPPr>
            <a:lvl1pPr>
              <a:defRPr sz="2100" b="0">
                <a:solidFill>
                  <a:srgbClr val="152A40"/>
                </a:solidFill>
                <a:latin typeface="Arial"/>
                <a:ea typeface="Arial"/>
                <a:cs typeface="Arial"/>
              </a:defRPr>
            </a:lvl1pPr>
            <a:lvl2pPr>
              <a:defRPr sz="2100" b="0">
                <a:solidFill>
                  <a:srgbClr val="152A40"/>
                </a:solidFill>
                <a:latin typeface="Arial"/>
                <a:ea typeface="Arial"/>
                <a:cs typeface="Arial"/>
              </a:defRPr>
            </a:lvl2pPr>
            <a:lvl3pPr>
              <a:defRPr sz="2100" b="0">
                <a:solidFill>
                  <a:srgbClr val="152A40"/>
                </a:solidFill>
                <a:latin typeface="Arial"/>
                <a:ea typeface="Arial"/>
                <a:cs typeface="Arial"/>
              </a:defRPr>
            </a:lvl3pPr>
            <a:lvl4pPr>
              <a:defRPr sz="2100" b="0">
                <a:solidFill>
                  <a:srgbClr val="152A40"/>
                </a:solidFill>
                <a:latin typeface="Arial"/>
                <a:ea typeface="Arial"/>
                <a:cs typeface="Arial"/>
              </a:defRPr>
            </a:lvl4pPr>
            <a:lvl5pPr>
              <a:defRPr sz="2100" b="0">
                <a:solidFill>
                  <a:srgbClr val="152A40"/>
                </a:solidFill>
                <a:latin typeface="Arial"/>
                <a:ea typeface="Arial"/>
                <a:cs typeface="Arial"/>
              </a:defRPr>
            </a:lvl5pPr>
            <a:lvl6pPr>
              <a:defRPr sz="2100" b="0">
                <a:solidFill>
                  <a:srgbClr val="152A40"/>
                </a:solidFill>
                <a:latin typeface="Arial"/>
                <a:ea typeface="Arial"/>
                <a:cs typeface="Arial"/>
              </a:defRPr>
            </a:lvl6pPr>
            <a:lvl7pPr>
              <a:defRPr sz="2100" b="0">
                <a:solidFill>
                  <a:srgbClr val="152A40"/>
                </a:solidFill>
                <a:latin typeface="Arial"/>
                <a:ea typeface="Arial"/>
                <a:cs typeface="Arial"/>
              </a:defRPr>
            </a:lvl7pPr>
            <a:lvl8pPr>
              <a:defRPr sz="2100" b="0">
                <a:solidFill>
                  <a:srgbClr val="152A40"/>
                </a:solidFill>
                <a:latin typeface="Arial"/>
                <a:ea typeface="Arial"/>
                <a:cs typeface="Arial"/>
              </a:defRPr>
            </a:lvl8pPr>
            <a:lvl9pPr>
              <a:defRPr sz="2100" b="0">
                <a:solidFill>
                  <a:srgbClr val="152A40"/>
                </a:solidFill>
                <a:latin typeface="Arial"/>
                <a:ea typeface="Arial"/>
                <a:cs typeface="Arial"/>
              </a:defRPr>
            </a:lvl9pPr>
          </a:lstStyle>
          <a:p>
            <a:pPr>
              <a:defRPr sz="2100" b="0">
                <a:solidFill>
                  <a:srgbClr val="152A40"/>
                </a:solidFill>
                <a:latin typeface="Arial"/>
                <a:ea typeface="Arial"/>
                <a:cs typeface="Arial"/>
              </a:defRPr>
            </a:pPr>
            <a:r>
              <a:rPr sz="2100" b="0">
                <a:solidFill>
                  <a:srgbClr val="152A40"/>
                </a:solidFill>
                <a:latin typeface="Arial"/>
                <a:ea typeface="Arial"/>
                <a:cs typeface="Arial"/>
              </a:rPr>
              <a:t>2  Scan colors menu</a:t>
            </a:r>
          </a:p>
          <a:p>
            <a:pPr>
              <a:defRPr sz="2100" b="0">
                <a:solidFill>
                  <a:srgbClr val="152A40"/>
                </a:solidFill>
                <a:latin typeface="Arial"/>
                <a:ea typeface="Arial"/>
                <a:cs typeface="Arial"/>
              </a:defRPr>
            </a:pPr>
            <a:r>
              <a:rPr sz="2100" b="0">
                <a:solidFill>
                  <a:srgbClr val="152A40"/>
                </a:solidFill>
                <a:latin typeface="Arial"/>
                <a:ea typeface="Arial"/>
                <a:cs typeface="Arial"/>
              </a:rPr>
              <a:t>Show scan legend</a:t>
            </a:r>
          </a:p>
        </p:txBody>
      </p:sp>
      <p:sp>
        <p:nvSpPr>
          <p:cNvPr id="12" name="Rectangle 11">
            <a:extLst>
              <a:ext uri="{FF2B5EF4-FFF2-40B4-BE49-F238E27FC236}">
                <a16:creationId xmlns:a16="http://schemas.microsoft.com/office/drawing/2014/main" id="{21B60401-22D6-4948-AEE5-39E1962C9918}"/>
              </a:ext>
            </a:extLst>
          </p:cNvPr>
          <p:cNvSpPr>
            <a:spLocks noGrp="1"/>
          </p:cNvSpPr>
          <p:nvPr/>
        </p:nvSpPr>
        <p:spPr>
          <a:xfrm>
            <a:off x="638175" y="7781925"/>
            <a:ext cx="13811250" cy="352425"/>
          </a:xfrm>
          <a:prstGeom prst="rect">
            <a:avLst/>
          </a:prstGeom>
          <a:noFill/>
          <a:ln w="0">
            <a:noFill/>
          </a:ln>
        </p:spPr>
        <p:txBody>
          <a:bodyPr wrap="square" lIns="0" tIns="0" rIns="0" bIns="0" anchor="t">
            <a:noAutofit/>
          </a:bodyPr>
          <a:lstStyle>
            <a:defPPr>
              <a:defRPr sz="1575" b="0">
                <a:solidFill>
                  <a:srgbClr val="4B5E70"/>
                </a:solidFill>
                <a:latin typeface="Arial"/>
                <a:ea typeface="Arial"/>
                <a:cs typeface="Arial"/>
              </a:defRPr>
            </a:defPPr>
            <a:lvl1pPr>
              <a:defRPr sz="1575" b="0">
                <a:solidFill>
                  <a:srgbClr val="4B5E70"/>
                </a:solidFill>
                <a:latin typeface="Arial"/>
                <a:ea typeface="Arial"/>
                <a:cs typeface="Arial"/>
              </a:defRPr>
            </a:lvl1pPr>
            <a:lvl2pPr>
              <a:defRPr sz="1575" b="0">
                <a:solidFill>
                  <a:srgbClr val="4B5E70"/>
                </a:solidFill>
                <a:latin typeface="Arial"/>
                <a:ea typeface="Arial"/>
                <a:cs typeface="Arial"/>
              </a:defRPr>
            </a:lvl2pPr>
            <a:lvl3pPr>
              <a:defRPr sz="1575" b="0">
                <a:solidFill>
                  <a:srgbClr val="4B5E70"/>
                </a:solidFill>
                <a:latin typeface="Arial"/>
                <a:ea typeface="Arial"/>
                <a:cs typeface="Arial"/>
              </a:defRPr>
            </a:lvl3pPr>
            <a:lvl4pPr>
              <a:defRPr sz="1575" b="0">
                <a:solidFill>
                  <a:srgbClr val="4B5E70"/>
                </a:solidFill>
                <a:latin typeface="Arial"/>
                <a:ea typeface="Arial"/>
                <a:cs typeface="Arial"/>
              </a:defRPr>
            </a:lvl4pPr>
            <a:lvl5pPr>
              <a:defRPr sz="1575" b="0">
                <a:solidFill>
                  <a:srgbClr val="4B5E70"/>
                </a:solidFill>
                <a:latin typeface="Arial"/>
                <a:ea typeface="Arial"/>
                <a:cs typeface="Arial"/>
              </a:defRPr>
            </a:lvl5pPr>
            <a:lvl6pPr>
              <a:defRPr sz="1575" b="0">
                <a:solidFill>
                  <a:srgbClr val="4B5E70"/>
                </a:solidFill>
                <a:latin typeface="Arial"/>
                <a:ea typeface="Arial"/>
                <a:cs typeface="Arial"/>
              </a:defRPr>
            </a:lvl6pPr>
            <a:lvl7pPr>
              <a:defRPr sz="1575" b="0">
                <a:solidFill>
                  <a:srgbClr val="4B5E70"/>
                </a:solidFill>
                <a:latin typeface="Arial"/>
                <a:ea typeface="Arial"/>
                <a:cs typeface="Arial"/>
              </a:defRPr>
            </a:lvl7pPr>
            <a:lvl8pPr>
              <a:defRPr sz="1575" b="0">
                <a:solidFill>
                  <a:srgbClr val="4B5E70"/>
                </a:solidFill>
                <a:latin typeface="Arial"/>
                <a:ea typeface="Arial"/>
                <a:cs typeface="Arial"/>
              </a:defRPr>
            </a:lvl8pPr>
            <a:lvl9pPr>
              <a:defRPr sz="1575" b="0">
                <a:solidFill>
                  <a:srgbClr val="4B5E70"/>
                </a:solidFill>
                <a:latin typeface="Arial"/>
                <a:ea typeface="Arial"/>
                <a:cs typeface="Arial"/>
              </a:defRPr>
            </a:lvl9pPr>
          </a:lstStyle>
          <a:p>
            <a:pPr>
              <a:defRPr sz="1575" b="0">
                <a:solidFill>
                  <a:srgbClr val="4B5E70"/>
                </a:solidFill>
                <a:latin typeface="Arial"/>
                <a:ea typeface="Arial"/>
                <a:cs typeface="Arial"/>
              </a:defRPr>
            </a:pPr>
            <a:r>
              <a:rPr sz="1575" b="0">
                <a:solidFill>
                  <a:srgbClr val="4B5E70"/>
                </a:solidFill>
                <a:latin typeface="Arial"/>
                <a:ea typeface="Arial"/>
                <a:cs typeface="Arial"/>
              </a:rPr>
              <a:t>Screenshot: 32 exact pointings per SCI file. The production selection contains all valid timestamps.</a:t>
            </a:r>
          </a:p>
        </p:txBody>
      </p:sp>
    </p:spTree>
    <p:extLst>
      <p:ext uri="{BB962C8B-B14F-4D97-AF65-F5344CB8AC3E}">
        <p14:creationId xmlns:p14="http://schemas.microsoft.com/office/powerpoint/2010/main" val="1444274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D4CF45E-E5C6-4215-AA47-CDC32D24FAD1}"/>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A pointing and its spectrum</a:t>
            </a:r>
          </a:p>
        </p:txBody>
      </p:sp>
      <p:sp>
        <p:nvSpPr>
          <p:cNvPr id="2" name="Rectangle 1">
            <a:extLst>
              <a:ext uri="{FF2B5EF4-FFF2-40B4-BE49-F238E27FC236}">
                <a16:creationId xmlns:a16="http://schemas.microsoft.com/office/drawing/2014/main" id="{6F0ABF66-255E-4318-A780-F61AC2B719CF}"/>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Choose a processing view before clicking on the map</a:t>
            </a:r>
          </a:p>
        </p:txBody>
      </p:sp>
      <p:sp>
        <p:nvSpPr>
          <p:cNvPr id="3" name="Rectangle 2">
            <a:extLst>
              <a:ext uri="{FF2B5EF4-FFF2-40B4-BE49-F238E27FC236}">
                <a16:creationId xmlns:a16="http://schemas.microsoft.com/office/drawing/2014/main" id="{ED67F15C-C8E6-47C3-BC25-1C640BC8077A}"/>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06</a:t>
            </a:r>
          </a:p>
        </p:txBody>
      </p:sp>
      <p:pic>
        <p:nvPicPr>
          <p:cNvPr id="4" name="Picture 3">
            <a:extLst>
              <a:ext uri="{FF2B5EF4-FFF2-40B4-BE49-F238E27FC236}">
                <a16:creationId xmlns:a16="http://schemas.microsoft.com/office/drawing/2014/main" id="{B98C799A-1BF6-4105-9375-688059F8EF34}"/>
              </a:ext>
            </a:extLst>
          </p:cNvPr>
          <p:cNvPicPr>
            <a:picLocks noChangeAspect="1"/>
          </p:cNvPicPr>
          <p:nvPr/>
        </p:nvPicPr>
        <p:blipFill>
          <a:blip r:embed="rId3"/>
          <a:stretch/>
        </p:blipFill>
        <p:spPr>
          <a:xfrm>
            <a:off x="523875" y="1909254"/>
            <a:ext cx="10525125" cy="5916042"/>
          </a:xfrm>
          <a:prstGeom prst="rect">
            <a:avLst/>
          </a:prstGeom>
        </p:spPr>
      </p:pic>
      <p:sp>
        <p:nvSpPr>
          <p:cNvPr id="5" name="Rectangle 4">
            <a:extLst>
              <a:ext uri="{FF2B5EF4-FFF2-40B4-BE49-F238E27FC236}">
                <a16:creationId xmlns:a16="http://schemas.microsoft.com/office/drawing/2014/main" id="{17E38082-55E4-4745-8C6D-AFD13B55174C}"/>
              </a:ext>
            </a:extLst>
          </p:cNvPr>
          <p:cNvSpPr>
            <a:spLocks noGrp="1"/>
          </p:cNvSpPr>
          <p:nvPr/>
        </p:nvSpPr>
        <p:spPr>
          <a:xfrm>
            <a:off x="820407" y="1918562"/>
            <a:ext cx="1168490" cy="240251"/>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B2D4AFF0-2532-4828-A407-084FC76E139C}"/>
              </a:ext>
            </a:extLst>
          </p:cNvPr>
          <p:cNvSpPr>
            <a:spLocks noGrp="1"/>
          </p:cNvSpPr>
          <p:nvPr/>
        </p:nvSpPr>
        <p:spPr>
          <a:xfrm>
            <a:off x="629907" y="169948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Oval 6">
            <a:extLst>
              <a:ext uri="{FF2B5EF4-FFF2-40B4-BE49-F238E27FC236}">
                <a16:creationId xmlns:a16="http://schemas.microsoft.com/office/drawing/2014/main" id="{82EFCCB9-13DF-47E6-B38A-BF4D8945DB31}"/>
              </a:ext>
            </a:extLst>
          </p:cNvPr>
          <p:cNvSpPr>
            <a:spLocks noGrp="1"/>
          </p:cNvSpPr>
          <p:nvPr/>
        </p:nvSpPr>
        <p:spPr>
          <a:xfrm>
            <a:off x="3370427" y="480631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8" name="Rectangle 7">
            <a:extLst>
              <a:ext uri="{FF2B5EF4-FFF2-40B4-BE49-F238E27FC236}">
                <a16:creationId xmlns:a16="http://schemas.microsoft.com/office/drawing/2014/main" id="{5BB144A6-1E1F-4D89-99CA-EF05AC336100}"/>
              </a:ext>
            </a:extLst>
          </p:cNvPr>
          <p:cNvSpPr>
            <a:spLocks noGrp="1"/>
          </p:cNvSpPr>
          <p:nvPr/>
        </p:nvSpPr>
        <p:spPr>
          <a:xfrm>
            <a:off x="1950579" y="1918562"/>
            <a:ext cx="1111665" cy="240251"/>
          </a:xfrm>
          <a:prstGeom prst="rect">
            <a:avLst/>
          </a:prstGeom>
          <a:noFill/>
          <a:ln w="28575">
            <a:solidFill>
              <a:srgbClr val="D77313"/>
            </a:solidFill>
            <a:prstDash val="solid"/>
          </a:ln>
        </p:spPr>
      </p:sp>
      <p:sp>
        <p:nvSpPr>
          <p:cNvPr id="9" name="Oval 8">
            <a:extLst>
              <a:ext uri="{FF2B5EF4-FFF2-40B4-BE49-F238E27FC236}">
                <a16:creationId xmlns:a16="http://schemas.microsoft.com/office/drawing/2014/main" id="{ED946DC3-9622-484E-9546-E7241FC0E38D}"/>
              </a:ext>
            </a:extLst>
          </p:cNvPr>
          <p:cNvSpPr>
            <a:spLocks noGrp="1"/>
          </p:cNvSpPr>
          <p:nvPr/>
        </p:nvSpPr>
        <p:spPr>
          <a:xfrm>
            <a:off x="1760079" y="169948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10" name="Oval 9">
            <a:extLst>
              <a:ext uri="{FF2B5EF4-FFF2-40B4-BE49-F238E27FC236}">
                <a16:creationId xmlns:a16="http://schemas.microsoft.com/office/drawing/2014/main" id="{C4058548-FCA9-488E-8E6D-C1B8C84DA4E0}"/>
              </a:ext>
            </a:extLst>
          </p:cNvPr>
          <p:cNvSpPr>
            <a:spLocks noGrp="1"/>
          </p:cNvSpPr>
          <p:nvPr/>
        </p:nvSpPr>
        <p:spPr>
          <a:xfrm>
            <a:off x="11334750" y="202882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1</a:t>
            </a:r>
          </a:p>
        </p:txBody>
      </p:sp>
      <p:sp>
        <p:nvSpPr>
          <p:cNvPr id="11" name="Rectangle 10">
            <a:extLst>
              <a:ext uri="{FF2B5EF4-FFF2-40B4-BE49-F238E27FC236}">
                <a16:creationId xmlns:a16="http://schemas.microsoft.com/office/drawing/2014/main" id="{0A7C1042-660E-4FB6-8F43-9A6E18960750}"/>
              </a:ext>
            </a:extLst>
          </p:cNvPr>
          <p:cNvSpPr>
            <a:spLocks noGrp="1"/>
          </p:cNvSpPr>
          <p:nvPr/>
        </p:nvSpPr>
        <p:spPr>
          <a:xfrm>
            <a:off x="11849100" y="201930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Choose a view</a:t>
            </a:r>
          </a:p>
        </p:txBody>
      </p:sp>
      <p:sp>
        <p:nvSpPr>
          <p:cNvPr id="12" name="Rectangle 11">
            <a:extLst>
              <a:ext uri="{FF2B5EF4-FFF2-40B4-BE49-F238E27FC236}">
                <a16:creationId xmlns:a16="http://schemas.microsoft.com/office/drawing/2014/main" id="{C501E936-A00F-4737-A97B-3F46C36304C1}"/>
              </a:ext>
            </a:extLst>
          </p:cNvPr>
          <p:cNvSpPr>
            <a:spLocks noGrp="1"/>
          </p:cNvSpPr>
          <p:nvPr/>
        </p:nvSpPr>
        <p:spPr>
          <a:xfrm>
            <a:off x="11363325" y="273367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Select Apply calibration or Baseline.</a:t>
            </a:r>
          </a:p>
        </p:txBody>
      </p:sp>
      <p:sp>
        <p:nvSpPr>
          <p:cNvPr id="13" name="Oval 12">
            <a:extLst>
              <a:ext uri="{FF2B5EF4-FFF2-40B4-BE49-F238E27FC236}">
                <a16:creationId xmlns:a16="http://schemas.microsoft.com/office/drawing/2014/main" id="{FB76E187-77EA-4EB6-85BF-06CB7755B667}"/>
              </a:ext>
            </a:extLst>
          </p:cNvPr>
          <p:cNvSpPr>
            <a:spLocks noGrp="1"/>
          </p:cNvSpPr>
          <p:nvPr/>
        </p:nvSpPr>
        <p:spPr>
          <a:xfrm>
            <a:off x="11334750" y="395287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E3AFF49D-2F4F-474A-8AFF-C29668D6B982}"/>
              </a:ext>
            </a:extLst>
          </p:cNvPr>
          <p:cNvSpPr>
            <a:spLocks noGrp="1"/>
          </p:cNvSpPr>
          <p:nvPr/>
        </p:nvSpPr>
        <p:spPr>
          <a:xfrm>
            <a:off x="11849100" y="394335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Click a pointing</a:t>
            </a:r>
          </a:p>
        </p:txBody>
      </p:sp>
      <p:sp>
        <p:nvSpPr>
          <p:cNvPr id="15" name="Rectangle 14">
            <a:extLst>
              <a:ext uri="{FF2B5EF4-FFF2-40B4-BE49-F238E27FC236}">
                <a16:creationId xmlns:a16="http://schemas.microsoft.com/office/drawing/2014/main" id="{263134F1-A069-4EB3-910C-8FB32A47B6C8}"/>
              </a:ext>
            </a:extLst>
          </p:cNvPr>
          <p:cNvSpPr>
            <a:spLocks noGrp="1"/>
          </p:cNvSpPr>
          <p:nvPr/>
        </p:nvSpPr>
        <p:spPr>
          <a:xfrm>
            <a:off x="11363325" y="465772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The yellow marker identifies the selected spectrum.</a:t>
            </a:r>
          </a:p>
        </p:txBody>
      </p:sp>
      <p:sp>
        <p:nvSpPr>
          <p:cNvPr id="16" name="Oval 15">
            <a:extLst>
              <a:ext uri="{FF2B5EF4-FFF2-40B4-BE49-F238E27FC236}">
                <a16:creationId xmlns:a16="http://schemas.microsoft.com/office/drawing/2014/main" id="{A09C62BF-125D-4486-B44F-500DC45F5FEB}"/>
              </a:ext>
            </a:extLst>
          </p:cNvPr>
          <p:cNvSpPr>
            <a:spLocks noGrp="1"/>
          </p:cNvSpPr>
          <p:nvPr/>
        </p:nvSpPr>
        <p:spPr>
          <a:xfrm>
            <a:off x="11334750" y="587692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3</a:t>
            </a:r>
          </a:p>
        </p:txBody>
      </p:sp>
      <p:sp>
        <p:nvSpPr>
          <p:cNvPr id="17" name="Rectangle 16">
            <a:extLst>
              <a:ext uri="{FF2B5EF4-FFF2-40B4-BE49-F238E27FC236}">
                <a16:creationId xmlns:a16="http://schemas.microsoft.com/office/drawing/2014/main" id="{BB2BA141-39EC-4B15-9ECA-BBE3B88D3EAC}"/>
              </a:ext>
            </a:extLst>
          </p:cNvPr>
          <p:cNvSpPr>
            <a:spLocks noGrp="1"/>
          </p:cNvSpPr>
          <p:nvPr/>
        </p:nvSpPr>
        <p:spPr>
          <a:xfrm>
            <a:off x="11849100" y="586740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Step through time</a:t>
            </a:r>
          </a:p>
        </p:txBody>
      </p:sp>
      <p:sp>
        <p:nvSpPr>
          <p:cNvPr id="18" name="Rectangle 17">
            <a:extLst>
              <a:ext uri="{FF2B5EF4-FFF2-40B4-BE49-F238E27FC236}">
                <a16:creationId xmlns:a16="http://schemas.microsoft.com/office/drawing/2014/main" id="{0B6050C2-E882-4294-BDD4-EB03751C49CF}"/>
              </a:ext>
            </a:extLst>
          </p:cNvPr>
          <p:cNvSpPr>
            <a:spLocks noGrp="1"/>
          </p:cNvSpPr>
          <p:nvPr/>
        </p:nvSpPr>
        <p:spPr>
          <a:xfrm>
            <a:off x="11363325" y="658177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Use Previous and Next to inspect neighboring samples.</a:t>
            </a:r>
          </a:p>
        </p:txBody>
      </p:sp>
    </p:spTree>
    <p:extLst>
      <p:ext uri="{BB962C8B-B14F-4D97-AF65-F5344CB8AC3E}">
        <p14:creationId xmlns:p14="http://schemas.microsoft.com/office/powerpoint/2010/main" val="174598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769428-4190-4A9C-8124-A653C45BED93}"/>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Zoom and vertical range</a:t>
            </a:r>
          </a:p>
        </p:txBody>
      </p:sp>
      <p:sp>
        <p:nvSpPr>
          <p:cNvPr id="2" name="Rectangle 1">
            <a:extLst>
              <a:ext uri="{FF2B5EF4-FFF2-40B4-BE49-F238E27FC236}">
                <a16:creationId xmlns:a16="http://schemas.microsoft.com/office/drawing/2014/main" id="{1E0CE16C-6E5D-4F65-8DBB-A3FEB27B93A9}"/>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Click the plotting canvas and place the cursor over the panel you want to change</a:t>
            </a:r>
          </a:p>
        </p:txBody>
      </p:sp>
      <p:sp>
        <p:nvSpPr>
          <p:cNvPr id="3" name="Rectangle 2">
            <a:extLst>
              <a:ext uri="{FF2B5EF4-FFF2-40B4-BE49-F238E27FC236}">
                <a16:creationId xmlns:a16="http://schemas.microsoft.com/office/drawing/2014/main" id="{710B43BF-CBD6-4B52-8AB3-504B936C3F0C}"/>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07</a:t>
            </a:r>
          </a:p>
        </p:txBody>
      </p:sp>
      <p:pic>
        <p:nvPicPr>
          <p:cNvPr id="4" name="Picture 3">
            <a:extLst>
              <a:ext uri="{FF2B5EF4-FFF2-40B4-BE49-F238E27FC236}">
                <a16:creationId xmlns:a16="http://schemas.microsoft.com/office/drawing/2014/main" id="{92B734A9-2B5E-4125-A802-517126E74AC1}"/>
              </a:ext>
            </a:extLst>
          </p:cNvPr>
          <p:cNvPicPr>
            <a:picLocks noChangeAspect="1"/>
          </p:cNvPicPr>
          <p:nvPr/>
        </p:nvPicPr>
        <p:blipFill>
          <a:blip r:embed="rId3"/>
          <a:stretch/>
        </p:blipFill>
        <p:spPr>
          <a:xfrm>
            <a:off x="523875" y="1919028"/>
            <a:ext cx="10287000" cy="5782195"/>
          </a:xfrm>
          <a:prstGeom prst="rect">
            <a:avLst/>
          </a:prstGeom>
        </p:spPr>
      </p:pic>
      <p:sp>
        <p:nvSpPr>
          <p:cNvPr id="5" name="Rectangle 4">
            <a:extLst>
              <a:ext uri="{FF2B5EF4-FFF2-40B4-BE49-F238E27FC236}">
                <a16:creationId xmlns:a16="http://schemas.microsoft.com/office/drawing/2014/main" id="{5D40073C-7776-4C5D-80B0-74FA1BBE9E40}"/>
              </a:ext>
            </a:extLst>
          </p:cNvPr>
          <p:cNvSpPr>
            <a:spLocks noGrp="1"/>
          </p:cNvSpPr>
          <p:nvPr/>
        </p:nvSpPr>
        <p:spPr>
          <a:xfrm>
            <a:off x="11382375" y="2047875"/>
            <a:ext cx="3143250" cy="457200"/>
          </a:xfrm>
          <a:prstGeom prst="rect">
            <a:avLst/>
          </a:prstGeom>
          <a:noFill/>
          <a:ln w="0">
            <a:noFill/>
          </a:ln>
        </p:spPr>
        <p:txBody>
          <a:bodyPr wrap="square" lIns="0" tIns="0" rIns="0" bIns="0" anchor="t">
            <a:noAutofit/>
          </a:bodyPr>
          <a:lstStyle>
            <a:defPPr>
              <a:defRPr sz="2700" b="1">
                <a:solidFill>
                  <a:srgbClr val="075CA8"/>
                </a:solidFill>
                <a:latin typeface="Arial"/>
                <a:ea typeface="Arial"/>
                <a:cs typeface="Arial"/>
              </a:defRPr>
            </a:defPPr>
            <a:lvl1pPr>
              <a:defRPr sz="2700" b="1">
                <a:solidFill>
                  <a:srgbClr val="075CA8"/>
                </a:solidFill>
                <a:latin typeface="Arial"/>
                <a:ea typeface="Arial"/>
                <a:cs typeface="Arial"/>
              </a:defRPr>
            </a:lvl1pPr>
            <a:lvl2pPr>
              <a:defRPr sz="2700" b="1">
                <a:solidFill>
                  <a:srgbClr val="075CA8"/>
                </a:solidFill>
                <a:latin typeface="Arial"/>
                <a:ea typeface="Arial"/>
                <a:cs typeface="Arial"/>
              </a:defRPr>
            </a:lvl2pPr>
            <a:lvl3pPr>
              <a:defRPr sz="2700" b="1">
                <a:solidFill>
                  <a:srgbClr val="075CA8"/>
                </a:solidFill>
                <a:latin typeface="Arial"/>
                <a:ea typeface="Arial"/>
                <a:cs typeface="Arial"/>
              </a:defRPr>
            </a:lvl3pPr>
            <a:lvl4pPr>
              <a:defRPr sz="2700" b="1">
                <a:solidFill>
                  <a:srgbClr val="075CA8"/>
                </a:solidFill>
                <a:latin typeface="Arial"/>
                <a:ea typeface="Arial"/>
                <a:cs typeface="Arial"/>
              </a:defRPr>
            </a:lvl4pPr>
            <a:lvl5pPr>
              <a:defRPr sz="2700" b="1">
                <a:solidFill>
                  <a:srgbClr val="075CA8"/>
                </a:solidFill>
                <a:latin typeface="Arial"/>
                <a:ea typeface="Arial"/>
                <a:cs typeface="Arial"/>
              </a:defRPr>
            </a:lvl5pPr>
            <a:lvl6pPr>
              <a:defRPr sz="2700" b="1">
                <a:solidFill>
                  <a:srgbClr val="075CA8"/>
                </a:solidFill>
                <a:latin typeface="Arial"/>
                <a:ea typeface="Arial"/>
                <a:cs typeface="Arial"/>
              </a:defRPr>
            </a:lvl6pPr>
            <a:lvl7pPr>
              <a:defRPr sz="2700" b="1">
                <a:solidFill>
                  <a:srgbClr val="075CA8"/>
                </a:solidFill>
                <a:latin typeface="Arial"/>
                <a:ea typeface="Arial"/>
                <a:cs typeface="Arial"/>
              </a:defRPr>
            </a:lvl7pPr>
            <a:lvl8pPr>
              <a:defRPr sz="2700" b="1">
                <a:solidFill>
                  <a:srgbClr val="075CA8"/>
                </a:solidFill>
                <a:latin typeface="Arial"/>
                <a:ea typeface="Arial"/>
                <a:cs typeface="Arial"/>
              </a:defRPr>
            </a:lvl8pPr>
            <a:lvl9pPr>
              <a:defRPr sz="2700" b="1">
                <a:solidFill>
                  <a:srgbClr val="075CA8"/>
                </a:solidFill>
                <a:latin typeface="Arial"/>
                <a:ea typeface="Arial"/>
                <a:cs typeface="Arial"/>
              </a:defRPr>
            </a:lvl9pPr>
          </a:lstStyle>
          <a:p>
            <a:pPr>
              <a:defRPr sz="2700" b="1">
                <a:solidFill>
                  <a:srgbClr val="075CA8"/>
                </a:solidFill>
                <a:latin typeface="Arial"/>
                <a:ea typeface="Arial"/>
                <a:cs typeface="Arial"/>
              </a:defRPr>
            </a:pPr>
            <a:r>
              <a:rPr sz="2700" b="1">
                <a:solidFill>
                  <a:srgbClr val="075CA8"/>
                </a:solidFill>
                <a:latin typeface="Arial"/>
                <a:ea typeface="Arial"/>
                <a:cs typeface="Arial"/>
              </a:rPr>
              <a:t>Z</a:t>
            </a:r>
          </a:p>
        </p:txBody>
      </p:sp>
      <p:sp>
        <p:nvSpPr>
          <p:cNvPr id="6" name="Rectangle 5">
            <a:extLst>
              <a:ext uri="{FF2B5EF4-FFF2-40B4-BE49-F238E27FC236}">
                <a16:creationId xmlns:a16="http://schemas.microsoft.com/office/drawing/2014/main" id="{CCBD96E5-0911-41C2-BF51-4351F4A2075C}"/>
              </a:ext>
            </a:extLst>
          </p:cNvPr>
          <p:cNvSpPr>
            <a:spLocks noGrp="1"/>
          </p:cNvSpPr>
          <p:nvPr/>
        </p:nvSpPr>
        <p:spPr>
          <a:xfrm>
            <a:off x="11382375" y="2543175"/>
            <a:ext cx="3190875" cy="714375"/>
          </a:xfrm>
          <a:prstGeom prst="rect">
            <a:avLst/>
          </a:prstGeom>
          <a:noFill/>
          <a:ln w="0">
            <a:noFill/>
          </a:ln>
        </p:spPr>
        <p:txBody>
          <a:bodyPr wrap="square" lIns="0" tIns="0" rIns="0" bIns="0" anchor="t">
            <a:noAutofit/>
          </a:bodyPr>
          <a:lstStyle>
            <a:defPPr>
              <a:defRPr sz="2025" b="0">
                <a:solidFill>
                  <a:srgbClr val="152A40"/>
                </a:solidFill>
                <a:latin typeface="Arial"/>
                <a:ea typeface="Arial"/>
                <a:cs typeface="Arial"/>
              </a:defRPr>
            </a:defPPr>
            <a:lvl1pPr>
              <a:defRPr sz="2025" b="0">
                <a:solidFill>
                  <a:srgbClr val="152A40"/>
                </a:solidFill>
                <a:latin typeface="Arial"/>
                <a:ea typeface="Arial"/>
                <a:cs typeface="Arial"/>
              </a:defRPr>
            </a:lvl1pPr>
            <a:lvl2pPr>
              <a:defRPr sz="2025" b="0">
                <a:solidFill>
                  <a:srgbClr val="152A40"/>
                </a:solidFill>
                <a:latin typeface="Arial"/>
                <a:ea typeface="Arial"/>
                <a:cs typeface="Arial"/>
              </a:defRPr>
            </a:lvl2pPr>
            <a:lvl3pPr>
              <a:defRPr sz="2025" b="0">
                <a:solidFill>
                  <a:srgbClr val="152A40"/>
                </a:solidFill>
                <a:latin typeface="Arial"/>
                <a:ea typeface="Arial"/>
                <a:cs typeface="Arial"/>
              </a:defRPr>
            </a:lvl3pPr>
            <a:lvl4pPr>
              <a:defRPr sz="2025" b="0">
                <a:solidFill>
                  <a:srgbClr val="152A40"/>
                </a:solidFill>
                <a:latin typeface="Arial"/>
                <a:ea typeface="Arial"/>
                <a:cs typeface="Arial"/>
              </a:defRPr>
            </a:lvl4pPr>
            <a:lvl5pPr>
              <a:defRPr sz="2025" b="0">
                <a:solidFill>
                  <a:srgbClr val="152A40"/>
                </a:solidFill>
                <a:latin typeface="Arial"/>
                <a:ea typeface="Arial"/>
                <a:cs typeface="Arial"/>
              </a:defRPr>
            </a:lvl5pPr>
            <a:lvl6pPr>
              <a:defRPr sz="2025" b="0">
                <a:solidFill>
                  <a:srgbClr val="152A40"/>
                </a:solidFill>
                <a:latin typeface="Arial"/>
                <a:ea typeface="Arial"/>
                <a:cs typeface="Arial"/>
              </a:defRPr>
            </a:lvl6pPr>
            <a:lvl7pPr>
              <a:defRPr sz="2025" b="0">
                <a:solidFill>
                  <a:srgbClr val="152A40"/>
                </a:solidFill>
                <a:latin typeface="Arial"/>
                <a:ea typeface="Arial"/>
                <a:cs typeface="Arial"/>
              </a:defRPr>
            </a:lvl7pPr>
            <a:lvl8pPr>
              <a:defRPr sz="2025" b="0">
                <a:solidFill>
                  <a:srgbClr val="152A40"/>
                </a:solidFill>
                <a:latin typeface="Arial"/>
                <a:ea typeface="Arial"/>
                <a:cs typeface="Arial"/>
              </a:defRPr>
            </a:lvl8pPr>
            <a:lvl9pPr>
              <a:defRPr sz="2025" b="0">
                <a:solidFill>
                  <a:srgbClr val="152A40"/>
                </a:solidFill>
                <a:latin typeface="Arial"/>
                <a:ea typeface="Arial"/>
                <a:cs typeface="Arial"/>
              </a:defRPr>
            </a:lvl9pPr>
          </a:lstStyle>
          <a:p>
            <a:pPr>
              <a:defRPr sz="2025" b="0">
                <a:solidFill>
                  <a:srgbClr val="152A40"/>
                </a:solidFill>
                <a:latin typeface="Arial"/>
                <a:ea typeface="Arial"/>
                <a:cs typeface="Arial"/>
              </a:defRPr>
            </a:pPr>
            <a:r>
              <a:rPr sz="2025" b="0">
                <a:solidFill>
                  <a:srgbClr val="152A40"/>
                </a:solidFill>
                <a:latin typeface="Arial"/>
                <a:ea typeface="Arial"/>
                <a:cs typeface="Arial"/>
              </a:rPr>
              <a:t>Drag to zoom velocity only.</a:t>
            </a:r>
          </a:p>
        </p:txBody>
      </p:sp>
      <p:sp>
        <p:nvSpPr>
          <p:cNvPr id="7" name="Rectangle 6">
            <a:extLst>
              <a:ext uri="{FF2B5EF4-FFF2-40B4-BE49-F238E27FC236}">
                <a16:creationId xmlns:a16="http://schemas.microsoft.com/office/drawing/2014/main" id="{1BF1DA66-56DD-4CFD-9E2F-9AB661012A7D}"/>
              </a:ext>
            </a:extLst>
          </p:cNvPr>
          <p:cNvSpPr>
            <a:spLocks noGrp="1"/>
          </p:cNvSpPr>
          <p:nvPr/>
        </p:nvSpPr>
        <p:spPr>
          <a:xfrm>
            <a:off x="11382375" y="3514725"/>
            <a:ext cx="3143250" cy="457200"/>
          </a:xfrm>
          <a:prstGeom prst="rect">
            <a:avLst/>
          </a:prstGeom>
          <a:noFill/>
          <a:ln w="0">
            <a:noFill/>
          </a:ln>
        </p:spPr>
        <p:txBody>
          <a:bodyPr wrap="square" lIns="0" tIns="0" rIns="0" bIns="0" anchor="t">
            <a:noAutofit/>
          </a:bodyPr>
          <a:lstStyle>
            <a:defPPr>
              <a:defRPr sz="2700" b="1">
                <a:solidFill>
                  <a:srgbClr val="075CA8"/>
                </a:solidFill>
                <a:latin typeface="Arial"/>
                <a:ea typeface="Arial"/>
                <a:cs typeface="Arial"/>
              </a:defRPr>
            </a:defPPr>
            <a:lvl1pPr>
              <a:defRPr sz="2700" b="1">
                <a:solidFill>
                  <a:srgbClr val="075CA8"/>
                </a:solidFill>
                <a:latin typeface="Arial"/>
                <a:ea typeface="Arial"/>
                <a:cs typeface="Arial"/>
              </a:defRPr>
            </a:lvl1pPr>
            <a:lvl2pPr>
              <a:defRPr sz="2700" b="1">
                <a:solidFill>
                  <a:srgbClr val="075CA8"/>
                </a:solidFill>
                <a:latin typeface="Arial"/>
                <a:ea typeface="Arial"/>
                <a:cs typeface="Arial"/>
              </a:defRPr>
            </a:lvl2pPr>
            <a:lvl3pPr>
              <a:defRPr sz="2700" b="1">
                <a:solidFill>
                  <a:srgbClr val="075CA8"/>
                </a:solidFill>
                <a:latin typeface="Arial"/>
                <a:ea typeface="Arial"/>
                <a:cs typeface="Arial"/>
              </a:defRPr>
            </a:lvl3pPr>
            <a:lvl4pPr>
              <a:defRPr sz="2700" b="1">
                <a:solidFill>
                  <a:srgbClr val="075CA8"/>
                </a:solidFill>
                <a:latin typeface="Arial"/>
                <a:ea typeface="Arial"/>
                <a:cs typeface="Arial"/>
              </a:defRPr>
            </a:lvl4pPr>
            <a:lvl5pPr>
              <a:defRPr sz="2700" b="1">
                <a:solidFill>
                  <a:srgbClr val="075CA8"/>
                </a:solidFill>
                <a:latin typeface="Arial"/>
                <a:ea typeface="Arial"/>
                <a:cs typeface="Arial"/>
              </a:defRPr>
            </a:lvl5pPr>
            <a:lvl6pPr>
              <a:defRPr sz="2700" b="1">
                <a:solidFill>
                  <a:srgbClr val="075CA8"/>
                </a:solidFill>
                <a:latin typeface="Arial"/>
                <a:ea typeface="Arial"/>
                <a:cs typeface="Arial"/>
              </a:defRPr>
            </a:lvl6pPr>
            <a:lvl7pPr>
              <a:defRPr sz="2700" b="1">
                <a:solidFill>
                  <a:srgbClr val="075CA8"/>
                </a:solidFill>
                <a:latin typeface="Arial"/>
                <a:ea typeface="Arial"/>
                <a:cs typeface="Arial"/>
              </a:defRPr>
            </a:lvl7pPr>
            <a:lvl8pPr>
              <a:defRPr sz="2700" b="1">
                <a:solidFill>
                  <a:srgbClr val="075CA8"/>
                </a:solidFill>
                <a:latin typeface="Arial"/>
                <a:ea typeface="Arial"/>
                <a:cs typeface="Arial"/>
              </a:defRPr>
            </a:lvl8pPr>
            <a:lvl9pPr>
              <a:defRPr sz="2700" b="1">
                <a:solidFill>
                  <a:srgbClr val="075CA8"/>
                </a:solidFill>
                <a:latin typeface="Arial"/>
                <a:ea typeface="Arial"/>
                <a:cs typeface="Arial"/>
              </a:defRPr>
            </a:lvl9pPr>
          </a:lstStyle>
          <a:p>
            <a:pPr>
              <a:defRPr sz="2700" b="1">
                <a:solidFill>
                  <a:srgbClr val="075CA8"/>
                </a:solidFill>
                <a:latin typeface="Arial"/>
                <a:ea typeface="Arial"/>
                <a:cs typeface="Arial"/>
              </a:defRPr>
            </a:pPr>
            <a:r>
              <a:rPr sz="2700" b="1">
                <a:solidFill>
                  <a:srgbClr val="075CA8"/>
                </a:solidFill>
                <a:latin typeface="Arial"/>
                <a:ea typeface="Arial"/>
                <a:cs typeface="Arial"/>
              </a:rPr>
              <a:t>Shift + Z</a:t>
            </a:r>
          </a:p>
        </p:txBody>
      </p:sp>
      <p:sp>
        <p:nvSpPr>
          <p:cNvPr id="8" name="Rectangle 7">
            <a:extLst>
              <a:ext uri="{FF2B5EF4-FFF2-40B4-BE49-F238E27FC236}">
                <a16:creationId xmlns:a16="http://schemas.microsoft.com/office/drawing/2014/main" id="{D115AAAA-B684-45A2-8CE7-59DA44E628A7}"/>
              </a:ext>
            </a:extLst>
          </p:cNvPr>
          <p:cNvSpPr>
            <a:spLocks noGrp="1"/>
          </p:cNvSpPr>
          <p:nvPr/>
        </p:nvSpPr>
        <p:spPr>
          <a:xfrm>
            <a:off x="11382375" y="4010025"/>
            <a:ext cx="3190875" cy="904875"/>
          </a:xfrm>
          <a:prstGeom prst="rect">
            <a:avLst/>
          </a:prstGeom>
          <a:noFill/>
          <a:ln w="0">
            <a:noFill/>
          </a:ln>
        </p:spPr>
        <p:txBody>
          <a:bodyPr wrap="square" lIns="0" tIns="0" rIns="0" bIns="0" anchor="t">
            <a:noAutofit/>
          </a:bodyPr>
          <a:lstStyle>
            <a:defPPr>
              <a:defRPr sz="2025" b="0">
                <a:solidFill>
                  <a:srgbClr val="152A40"/>
                </a:solidFill>
                <a:latin typeface="Arial"/>
                <a:ea typeface="Arial"/>
                <a:cs typeface="Arial"/>
              </a:defRPr>
            </a:defPPr>
            <a:lvl1pPr>
              <a:defRPr sz="2025" b="0">
                <a:solidFill>
                  <a:srgbClr val="152A40"/>
                </a:solidFill>
                <a:latin typeface="Arial"/>
                <a:ea typeface="Arial"/>
                <a:cs typeface="Arial"/>
              </a:defRPr>
            </a:lvl1pPr>
            <a:lvl2pPr>
              <a:defRPr sz="2025" b="0">
                <a:solidFill>
                  <a:srgbClr val="152A40"/>
                </a:solidFill>
                <a:latin typeface="Arial"/>
                <a:ea typeface="Arial"/>
                <a:cs typeface="Arial"/>
              </a:defRPr>
            </a:lvl2pPr>
            <a:lvl3pPr>
              <a:defRPr sz="2025" b="0">
                <a:solidFill>
                  <a:srgbClr val="152A40"/>
                </a:solidFill>
                <a:latin typeface="Arial"/>
                <a:ea typeface="Arial"/>
                <a:cs typeface="Arial"/>
              </a:defRPr>
            </a:lvl3pPr>
            <a:lvl4pPr>
              <a:defRPr sz="2025" b="0">
                <a:solidFill>
                  <a:srgbClr val="152A40"/>
                </a:solidFill>
                <a:latin typeface="Arial"/>
                <a:ea typeface="Arial"/>
                <a:cs typeface="Arial"/>
              </a:defRPr>
            </a:lvl4pPr>
            <a:lvl5pPr>
              <a:defRPr sz="2025" b="0">
                <a:solidFill>
                  <a:srgbClr val="152A40"/>
                </a:solidFill>
                <a:latin typeface="Arial"/>
                <a:ea typeface="Arial"/>
                <a:cs typeface="Arial"/>
              </a:defRPr>
            </a:lvl5pPr>
            <a:lvl6pPr>
              <a:defRPr sz="2025" b="0">
                <a:solidFill>
                  <a:srgbClr val="152A40"/>
                </a:solidFill>
                <a:latin typeface="Arial"/>
                <a:ea typeface="Arial"/>
                <a:cs typeface="Arial"/>
              </a:defRPr>
            </a:lvl6pPr>
            <a:lvl7pPr>
              <a:defRPr sz="2025" b="0">
                <a:solidFill>
                  <a:srgbClr val="152A40"/>
                </a:solidFill>
                <a:latin typeface="Arial"/>
                <a:ea typeface="Arial"/>
                <a:cs typeface="Arial"/>
              </a:defRPr>
            </a:lvl7pPr>
            <a:lvl8pPr>
              <a:defRPr sz="2025" b="0">
                <a:solidFill>
                  <a:srgbClr val="152A40"/>
                </a:solidFill>
                <a:latin typeface="Arial"/>
                <a:ea typeface="Arial"/>
                <a:cs typeface="Arial"/>
              </a:defRPr>
            </a:lvl8pPr>
            <a:lvl9pPr>
              <a:defRPr sz="2025" b="0">
                <a:solidFill>
                  <a:srgbClr val="152A40"/>
                </a:solidFill>
                <a:latin typeface="Arial"/>
                <a:ea typeface="Arial"/>
                <a:cs typeface="Arial"/>
              </a:defRPr>
            </a:lvl9pPr>
          </a:lstStyle>
          <a:p>
            <a:pPr>
              <a:defRPr sz="2025" b="0">
                <a:solidFill>
                  <a:srgbClr val="152A40"/>
                </a:solidFill>
                <a:latin typeface="Arial"/>
                <a:ea typeface="Arial"/>
                <a:cs typeface="Arial"/>
              </a:defRPr>
            </a:pPr>
            <a:r>
              <a:rPr sz="2025" b="0">
                <a:solidFill>
                  <a:srgbClr val="152A40"/>
                </a:solidFill>
                <a:latin typeface="Arial"/>
                <a:ea typeface="Arial"/>
                <a:cs typeface="Arial"/>
              </a:rPr>
              <a:t>Drag to change velocity and intensity.</a:t>
            </a:r>
          </a:p>
        </p:txBody>
      </p:sp>
      <p:sp>
        <p:nvSpPr>
          <p:cNvPr id="9" name="Rectangle 8">
            <a:extLst>
              <a:ext uri="{FF2B5EF4-FFF2-40B4-BE49-F238E27FC236}">
                <a16:creationId xmlns:a16="http://schemas.microsoft.com/office/drawing/2014/main" id="{87BA2498-7954-4131-B074-56B1FE941943}"/>
              </a:ext>
            </a:extLst>
          </p:cNvPr>
          <p:cNvSpPr>
            <a:spLocks noGrp="1"/>
          </p:cNvSpPr>
          <p:nvPr/>
        </p:nvSpPr>
        <p:spPr>
          <a:xfrm>
            <a:off x="11382375" y="5334000"/>
            <a:ext cx="3190875" cy="457200"/>
          </a:xfrm>
          <a:prstGeom prst="rect">
            <a:avLst/>
          </a:prstGeom>
          <a:noFill/>
          <a:ln w="0">
            <a:noFill/>
          </a:ln>
        </p:spPr>
        <p:txBody>
          <a:bodyPr wrap="square" lIns="0" tIns="0" rIns="0" bIns="0" anchor="t">
            <a:noAutofit/>
          </a:bodyPr>
          <a:lstStyle>
            <a:defPPr>
              <a:defRPr sz="2250" b="1">
                <a:solidFill>
                  <a:srgbClr val="075CA8"/>
                </a:solidFill>
                <a:latin typeface="Arial"/>
                <a:ea typeface="Arial"/>
                <a:cs typeface="Arial"/>
              </a:defRPr>
            </a:defPPr>
            <a:lvl1pPr>
              <a:defRPr sz="2250" b="1">
                <a:solidFill>
                  <a:srgbClr val="075CA8"/>
                </a:solidFill>
                <a:latin typeface="Arial"/>
                <a:ea typeface="Arial"/>
                <a:cs typeface="Arial"/>
              </a:defRPr>
            </a:lvl1pPr>
            <a:lvl2pPr>
              <a:defRPr sz="2250" b="1">
                <a:solidFill>
                  <a:srgbClr val="075CA8"/>
                </a:solidFill>
                <a:latin typeface="Arial"/>
                <a:ea typeface="Arial"/>
                <a:cs typeface="Arial"/>
              </a:defRPr>
            </a:lvl2pPr>
            <a:lvl3pPr>
              <a:defRPr sz="2250" b="1">
                <a:solidFill>
                  <a:srgbClr val="075CA8"/>
                </a:solidFill>
                <a:latin typeface="Arial"/>
                <a:ea typeface="Arial"/>
                <a:cs typeface="Arial"/>
              </a:defRPr>
            </a:lvl3pPr>
            <a:lvl4pPr>
              <a:defRPr sz="2250" b="1">
                <a:solidFill>
                  <a:srgbClr val="075CA8"/>
                </a:solidFill>
                <a:latin typeface="Arial"/>
                <a:ea typeface="Arial"/>
                <a:cs typeface="Arial"/>
              </a:defRPr>
            </a:lvl4pPr>
            <a:lvl5pPr>
              <a:defRPr sz="2250" b="1">
                <a:solidFill>
                  <a:srgbClr val="075CA8"/>
                </a:solidFill>
                <a:latin typeface="Arial"/>
                <a:ea typeface="Arial"/>
                <a:cs typeface="Arial"/>
              </a:defRPr>
            </a:lvl5pPr>
            <a:lvl6pPr>
              <a:defRPr sz="2250" b="1">
                <a:solidFill>
                  <a:srgbClr val="075CA8"/>
                </a:solidFill>
                <a:latin typeface="Arial"/>
                <a:ea typeface="Arial"/>
                <a:cs typeface="Arial"/>
              </a:defRPr>
            </a:lvl6pPr>
            <a:lvl7pPr>
              <a:defRPr sz="2250" b="1">
                <a:solidFill>
                  <a:srgbClr val="075CA8"/>
                </a:solidFill>
                <a:latin typeface="Arial"/>
                <a:ea typeface="Arial"/>
                <a:cs typeface="Arial"/>
              </a:defRPr>
            </a:lvl7pPr>
            <a:lvl8pPr>
              <a:defRPr sz="2250" b="1">
                <a:solidFill>
                  <a:srgbClr val="075CA8"/>
                </a:solidFill>
                <a:latin typeface="Arial"/>
                <a:ea typeface="Arial"/>
                <a:cs typeface="Arial"/>
              </a:defRPr>
            </a:lvl8pPr>
            <a:lvl9pPr>
              <a:defRPr sz="2250" b="1">
                <a:solidFill>
                  <a:srgbClr val="075CA8"/>
                </a:solidFill>
                <a:latin typeface="Arial"/>
                <a:ea typeface="Arial"/>
                <a:cs typeface="Arial"/>
              </a:defRPr>
            </a:lvl9pPr>
          </a:lstStyle>
          <a:p>
            <a:pPr>
              <a:defRPr sz="2250" b="1">
                <a:solidFill>
                  <a:srgbClr val="075CA8"/>
                </a:solidFill>
                <a:latin typeface="Arial"/>
                <a:ea typeface="Arial"/>
                <a:cs typeface="Arial"/>
              </a:defRPr>
            </a:pPr>
            <a:r>
              <a:rPr sz="2250" b="1">
                <a:solidFill>
                  <a:srgbClr val="075CA8"/>
                </a:solidFill>
                <a:latin typeface="Arial"/>
                <a:ea typeface="Arial"/>
                <a:cs typeface="Arial"/>
              </a:rPr>
              <a:t>B   F   Escape</a:t>
            </a:r>
          </a:p>
        </p:txBody>
      </p:sp>
      <p:sp>
        <p:nvSpPr>
          <p:cNvPr id="10" name="Rectangle 9">
            <a:extLst>
              <a:ext uri="{FF2B5EF4-FFF2-40B4-BE49-F238E27FC236}">
                <a16:creationId xmlns:a16="http://schemas.microsoft.com/office/drawing/2014/main" id="{FE8FFA0F-B3E3-4804-9710-DA17395052F5}"/>
              </a:ext>
            </a:extLst>
          </p:cNvPr>
          <p:cNvSpPr>
            <a:spLocks noGrp="1"/>
          </p:cNvSpPr>
          <p:nvPr/>
        </p:nvSpPr>
        <p:spPr>
          <a:xfrm>
            <a:off x="11382375" y="5857875"/>
            <a:ext cx="3190875" cy="952500"/>
          </a:xfrm>
          <a:prstGeom prst="rect">
            <a:avLst/>
          </a:prstGeom>
          <a:noFill/>
          <a:ln w="0">
            <a:noFill/>
          </a:ln>
        </p:spPr>
        <p:txBody>
          <a:bodyPr wrap="square" lIns="0" tIns="0" rIns="0" bIns="0" anchor="t">
            <a:noAutofit/>
          </a:bodyPr>
          <a:lstStyle>
            <a:defPPr>
              <a:defRPr sz="2025" b="0">
                <a:solidFill>
                  <a:srgbClr val="152A40"/>
                </a:solidFill>
                <a:latin typeface="Arial"/>
                <a:ea typeface="Arial"/>
                <a:cs typeface="Arial"/>
              </a:defRPr>
            </a:defPPr>
            <a:lvl1pPr>
              <a:defRPr sz="2025" b="0">
                <a:solidFill>
                  <a:srgbClr val="152A40"/>
                </a:solidFill>
                <a:latin typeface="Arial"/>
                <a:ea typeface="Arial"/>
                <a:cs typeface="Arial"/>
              </a:defRPr>
            </a:lvl1pPr>
            <a:lvl2pPr>
              <a:defRPr sz="2025" b="0">
                <a:solidFill>
                  <a:srgbClr val="152A40"/>
                </a:solidFill>
                <a:latin typeface="Arial"/>
                <a:ea typeface="Arial"/>
                <a:cs typeface="Arial"/>
              </a:defRPr>
            </a:lvl2pPr>
            <a:lvl3pPr>
              <a:defRPr sz="2025" b="0">
                <a:solidFill>
                  <a:srgbClr val="152A40"/>
                </a:solidFill>
                <a:latin typeface="Arial"/>
                <a:ea typeface="Arial"/>
                <a:cs typeface="Arial"/>
              </a:defRPr>
            </a:lvl3pPr>
            <a:lvl4pPr>
              <a:defRPr sz="2025" b="0">
                <a:solidFill>
                  <a:srgbClr val="152A40"/>
                </a:solidFill>
                <a:latin typeface="Arial"/>
                <a:ea typeface="Arial"/>
                <a:cs typeface="Arial"/>
              </a:defRPr>
            </a:lvl4pPr>
            <a:lvl5pPr>
              <a:defRPr sz="2025" b="0">
                <a:solidFill>
                  <a:srgbClr val="152A40"/>
                </a:solidFill>
                <a:latin typeface="Arial"/>
                <a:ea typeface="Arial"/>
                <a:cs typeface="Arial"/>
              </a:defRPr>
            </a:lvl5pPr>
            <a:lvl6pPr>
              <a:defRPr sz="2025" b="0">
                <a:solidFill>
                  <a:srgbClr val="152A40"/>
                </a:solidFill>
                <a:latin typeface="Arial"/>
                <a:ea typeface="Arial"/>
                <a:cs typeface="Arial"/>
              </a:defRPr>
            </a:lvl6pPr>
            <a:lvl7pPr>
              <a:defRPr sz="2025" b="0">
                <a:solidFill>
                  <a:srgbClr val="152A40"/>
                </a:solidFill>
                <a:latin typeface="Arial"/>
                <a:ea typeface="Arial"/>
                <a:cs typeface="Arial"/>
              </a:defRPr>
            </a:lvl7pPr>
            <a:lvl8pPr>
              <a:defRPr sz="2025" b="0">
                <a:solidFill>
                  <a:srgbClr val="152A40"/>
                </a:solidFill>
                <a:latin typeface="Arial"/>
                <a:ea typeface="Arial"/>
                <a:cs typeface="Arial"/>
              </a:defRPr>
            </a:lvl8pPr>
            <a:lvl9pPr>
              <a:defRPr sz="2025" b="0">
                <a:solidFill>
                  <a:srgbClr val="152A40"/>
                </a:solidFill>
                <a:latin typeface="Arial"/>
                <a:ea typeface="Arial"/>
                <a:cs typeface="Arial"/>
              </a:defRPr>
            </a:lvl9pPr>
          </a:lstStyle>
          <a:p>
            <a:pPr>
              <a:defRPr sz="2025" b="0">
                <a:solidFill>
                  <a:srgbClr val="152A40"/>
                </a:solidFill>
                <a:latin typeface="Arial"/>
                <a:ea typeface="Arial"/>
                <a:cs typeface="Arial"/>
              </a:defRPr>
            </a:pPr>
            <a:r>
              <a:rPr sz="2025" b="0">
                <a:solidFill>
                  <a:srgbClr val="152A40"/>
                </a:solidFill>
                <a:latin typeface="Arial"/>
                <a:ea typeface="Arial"/>
                <a:cs typeface="Arial"/>
              </a:rPr>
              <a:t>Previous view, full view, cancel zoom.</a:t>
            </a:r>
          </a:p>
        </p:txBody>
      </p:sp>
      <p:sp>
        <p:nvSpPr>
          <p:cNvPr id="11" name="Rectangle 10">
            <a:extLst>
              <a:ext uri="{FF2B5EF4-FFF2-40B4-BE49-F238E27FC236}">
                <a16:creationId xmlns:a16="http://schemas.microsoft.com/office/drawing/2014/main" id="{13F4D875-E034-44A5-95FC-0CCD2C0B3B0E}"/>
              </a:ext>
            </a:extLst>
          </p:cNvPr>
          <p:cNvSpPr>
            <a:spLocks noGrp="1"/>
          </p:cNvSpPr>
          <p:nvPr/>
        </p:nvSpPr>
        <p:spPr>
          <a:xfrm>
            <a:off x="638175" y="7781925"/>
            <a:ext cx="13811250" cy="352425"/>
          </a:xfrm>
          <a:prstGeom prst="rect">
            <a:avLst/>
          </a:prstGeom>
          <a:noFill/>
          <a:ln w="0">
            <a:noFill/>
          </a:ln>
        </p:spPr>
        <p:txBody>
          <a:bodyPr wrap="square" lIns="0" tIns="0" rIns="0" bIns="0" anchor="t">
            <a:noAutofit/>
          </a:bodyPr>
          <a:lstStyle>
            <a:defPPr>
              <a:defRPr sz="1575" b="0">
                <a:solidFill>
                  <a:srgbClr val="4B5E70"/>
                </a:solidFill>
                <a:latin typeface="Arial"/>
                <a:ea typeface="Arial"/>
                <a:cs typeface="Arial"/>
              </a:defRPr>
            </a:defPPr>
            <a:lvl1pPr>
              <a:defRPr sz="1575" b="0">
                <a:solidFill>
                  <a:srgbClr val="4B5E70"/>
                </a:solidFill>
                <a:latin typeface="Arial"/>
                <a:ea typeface="Arial"/>
                <a:cs typeface="Arial"/>
              </a:defRPr>
            </a:lvl1pPr>
            <a:lvl2pPr>
              <a:defRPr sz="1575" b="0">
                <a:solidFill>
                  <a:srgbClr val="4B5E70"/>
                </a:solidFill>
                <a:latin typeface="Arial"/>
                <a:ea typeface="Arial"/>
                <a:cs typeface="Arial"/>
              </a:defRPr>
            </a:lvl2pPr>
            <a:lvl3pPr>
              <a:defRPr sz="1575" b="0">
                <a:solidFill>
                  <a:srgbClr val="4B5E70"/>
                </a:solidFill>
                <a:latin typeface="Arial"/>
                <a:ea typeface="Arial"/>
                <a:cs typeface="Arial"/>
              </a:defRPr>
            </a:lvl3pPr>
            <a:lvl4pPr>
              <a:defRPr sz="1575" b="0">
                <a:solidFill>
                  <a:srgbClr val="4B5E70"/>
                </a:solidFill>
                <a:latin typeface="Arial"/>
                <a:ea typeface="Arial"/>
                <a:cs typeface="Arial"/>
              </a:defRPr>
            </a:lvl4pPr>
            <a:lvl5pPr>
              <a:defRPr sz="1575" b="0">
                <a:solidFill>
                  <a:srgbClr val="4B5E70"/>
                </a:solidFill>
                <a:latin typeface="Arial"/>
                <a:ea typeface="Arial"/>
                <a:cs typeface="Arial"/>
              </a:defRPr>
            </a:lvl5pPr>
            <a:lvl6pPr>
              <a:defRPr sz="1575" b="0">
                <a:solidFill>
                  <a:srgbClr val="4B5E70"/>
                </a:solidFill>
                <a:latin typeface="Arial"/>
                <a:ea typeface="Arial"/>
                <a:cs typeface="Arial"/>
              </a:defRPr>
            </a:lvl6pPr>
            <a:lvl7pPr>
              <a:defRPr sz="1575" b="0">
                <a:solidFill>
                  <a:srgbClr val="4B5E70"/>
                </a:solidFill>
                <a:latin typeface="Arial"/>
                <a:ea typeface="Arial"/>
                <a:cs typeface="Arial"/>
              </a:defRPr>
            </a:lvl7pPr>
            <a:lvl8pPr>
              <a:defRPr sz="1575" b="0">
                <a:solidFill>
                  <a:srgbClr val="4B5E70"/>
                </a:solidFill>
                <a:latin typeface="Arial"/>
                <a:ea typeface="Arial"/>
                <a:cs typeface="Arial"/>
              </a:defRPr>
            </a:lvl8pPr>
            <a:lvl9pPr>
              <a:defRPr sz="1575" b="0">
                <a:solidFill>
                  <a:srgbClr val="4B5E70"/>
                </a:solidFill>
                <a:latin typeface="Arial"/>
                <a:ea typeface="Arial"/>
                <a:cs typeface="Arial"/>
              </a:defRPr>
            </a:lvl9pPr>
          </a:lstStyle>
          <a:p>
            <a:pPr>
              <a:defRPr sz="1575" b="0">
                <a:solidFill>
                  <a:srgbClr val="4B5E70"/>
                </a:solidFill>
                <a:latin typeface="Arial"/>
                <a:ea typeface="Arial"/>
                <a:cs typeface="Arial"/>
              </a:defRPr>
            </a:pPr>
            <a:r>
              <a:rPr sz="1575" b="0">
                <a:solidFill>
                  <a:srgbClr val="4B5E70"/>
                </a:solidFill>
                <a:latin typeface="Arial"/>
                <a:ea typeface="Arial"/>
                <a:cs typeface="Arial"/>
              </a:rPr>
              <a:t>Exact Y limits: right-click the spectrum, open Y axis, choose Manual, then enter the limits.</a:t>
            </a:r>
          </a:p>
        </p:txBody>
      </p:sp>
    </p:spTree>
    <p:extLst>
      <p:ext uri="{BB962C8B-B14F-4D97-AF65-F5344CB8AC3E}">
        <p14:creationId xmlns:p14="http://schemas.microsoft.com/office/powerpoint/2010/main" val="945134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6C6E34-02C3-46AB-BC95-F12204B2BA38}"/>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The two smoothing controls</a:t>
            </a:r>
          </a:p>
        </p:txBody>
      </p:sp>
      <p:sp>
        <p:nvSpPr>
          <p:cNvPr id="2" name="Rectangle 1">
            <a:extLst>
              <a:ext uri="{FF2B5EF4-FFF2-40B4-BE49-F238E27FC236}">
                <a16:creationId xmlns:a16="http://schemas.microsoft.com/office/drawing/2014/main" id="{311C4730-F1ED-4848-8FB6-89D4A5287F6E}"/>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View: Tsys calibration</a:t>
            </a:r>
          </a:p>
        </p:txBody>
      </p:sp>
      <p:sp>
        <p:nvSpPr>
          <p:cNvPr id="3" name="Rectangle 2">
            <a:extLst>
              <a:ext uri="{FF2B5EF4-FFF2-40B4-BE49-F238E27FC236}">
                <a16:creationId xmlns:a16="http://schemas.microsoft.com/office/drawing/2014/main" id="{DA40C4AE-1840-4BA4-9D73-5E7B9265100F}"/>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08</a:t>
            </a:r>
          </a:p>
        </p:txBody>
      </p:sp>
      <p:pic>
        <p:nvPicPr>
          <p:cNvPr id="4" name="Picture 3">
            <a:extLst>
              <a:ext uri="{FF2B5EF4-FFF2-40B4-BE49-F238E27FC236}">
                <a16:creationId xmlns:a16="http://schemas.microsoft.com/office/drawing/2014/main" id="{99D0F05B-89D7-424A-B938-0E6F7404080D}"/>
              </a:ext>
            </a:extLst>
          </p:cNvPr>
          <p:cNvPicPr>
            <a:picLocks noChangeAspect="1"/>
          </p:cNvPicPr>
          <p:nvPr/>
        </p:nvPicPr>
        <p:blipFill>
          <a:blip r:embed="rId3"/>
          <a:stretch/>
        </p:blipFill>
        <p:spPr>
          <a:xfrm>
            <a:off x="787439" y="1905000"/>
            <a:ext cx="9997997" cy="5619750"/>
          </a:xfrm>
          <a:prstGeom prst="rect">
            <a:avLst/>
          </a:prstGeom>
        </p:spPr>
      </p:pic>
      <p:sp>
        <p:nvSpPr>
          <p:cNvPr id="5" name="Rectangle 4">
            <a:extLst>
              <a:ext uri="{FF2B5EF4-FFF2-40B4-BE49-F238E27FC236}">
                <a16:creationId xmlns:a16="http://schemas.microsoft.com/office/drawing/2014/main" id="{7CC3C933-E990-45F5-B6D4-1BCF9BE4628B}"/>
              </a:ext>
            </a:extLst>
          </p:cNvPr>
          <p:cNvSpPr>
            <a:spLocks noGrp="1"/>
          </p:cNvSpPr>
          <p:nvPr/>
        </p:nvSpPr>
        <p:spPr>
          <a:xfrm>
            <a:off x="1840902" y="2332243"/>
            <a:ext cx="538015" cy="243076"/>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5298D3F8-7ECB-4A0E-A788-F25DA6B47D3F}"/>
              </a:ext>
            </a:extLst>
          </p:cNvPr>
          <p:cNvSpPr>
            <a:spLocks noGrp="1"/>
          </p:cNvSpPr>
          <p:nvPr/>
        </p:nvSpPr>
        <p:spPr>
          <a:xfrm>
            <a:off x="1650402" y="2113168"/>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51A1A3A0-9A82-44D8-A553-343C148C12EA}"/>
              </a:ext>
            </a:extLst>
          </p:cNvPr>
          <p:cNvSpPr>
            <a:spLocks noGrp="1"/>
          </p:cNvSpPr>
          <p:nvPr/>
        </p:nvSpPr>
        <p:spPr>
          <a:xfrm>
            <a:off x="3172369" y="2332243"/>
            <a:ext cx="520022" cy="243076"/>
          </a:xfrm>
          <a:prstGeom prst="rect">
            <a:avLst/>
          </a:prstGeom>
          <a:noFill/>
          <a:ln w="28575">
            <a:solidFill>
              <a:srgbClr val="D77313"/>
            </a:solidFill>
            <a:prstDash val="solid"/>
          </a:ln>
        </p:spPr>
      </p:sp>
      <p:sp>
        <p:nvSpPr>
          <p:cNvPr id="8" name="Oval 7">
            <a:extLst>
              <a:ext uri="{FF2B5EF4-FFF2-40B4-BE49-F238E27FC236}">
                <a16:creationId xmlns:a16="http://schemas.microsoft.com/office/drawing/2014/main" id="{4FE1306C-6ECD-49D6-BBB5-50019B1CDF64}"/>
              </a:ext>
            </a:extLst>
          </p:cNvPr>
          <p:cNvSpPr>
            <a:spLocks noGrp="1"/>
          </p:cNvSpPr>
          <p:nvPr/>
        </p:nvSpPr>
        <p:spPr>
          <a:xfrm>
            <a:off x="2981869" y="2113168"/>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7CF34FDE-4D82-4DBA-A179-29686448036A}"/>
              </a:ext>
            </a:extLst>
          </p:cNvPr>
          <p:cNvSpPr>
            <a:spLocks noGrp="1"/>
          </p:cNvSpPr>
          <p:nvPr/>
        </p:nvSpPr>
        <p:spPr>
          <a:xfrm>
            <a:off x="4455855" y="1912411"/>
            <a:ext cx="723941" cy="231080"/>
          </a:xfrm>
          <a:prstGeom prst="rect">
            <a:avLst/>
          </a:prstGeom>
          <a:noFill/>
          <a:ln w="28575">
            <a:solidFill>
              <a:srgbClr val="D77313"/>
            </a:solidFill>
            <a:prstDash val="solid"/>
          </a:ln>
        </p:spPr>
      </p:sp>
      <p:sp>
        <p:nvSpPr>
          <p:cNvPr id="10" name="Oval 9">
            <a:extLst>
              <a:ext uri="{FF2B5EF4-FFF2-40B4-BE49-F238E27FC236}">
                <a16:creationId xmlns:a16="http://schemas.microsoft.com/office/drawing/2014/main" id="{B5435F56-5536-4218-A064-542038409E82}"/>
              </a:ext>
            </a:extLst>
          </p:cNvPr>
          <p:cNvSpPr>
            <a:spLocks noGrp="1"/>
          </p:cNvSpPr>
          <p:nvPr/>
        </p:nvSpPr>
        <p:spPr>
          <a:xfrm>
            <a:off x="4265355" y="1693336"/>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11" name="Oval 10">
            <a:extLst>
              <a:ext uri="{FF2B5EF4-FFF2-40B4-BE49-F238E27FC236}">
                <a16:creationId xmlns:a16="http://schemas.microsoft.com/office/drawing/2014/main" id="{1CD9A99F-8791-42D1-BB8F-236DB38BB9BF}"/>
              </a:ext>
            </a:extLst>
          </p:cNvPr>
          <p:cNvSpPr>
            <a:spLocks noGrp="1"/>
          </p:cNvSpPr>
          <p:nvPr/>
        </p:nvSpPr>
        <p:spPr>
          <a:xfrm>
            <a:off x="11334750" y="198120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1</a:t>
            </a:r>
          </a:p>
        </p:txBody>
      </p:sp>
      <p:sp>
        <p:nvSpPr>
          <p:cNvPr id="12" name="Rectangle 11">
            <a:extLst>
              <a:ext uri="{FF2B5EF4-FFF2-40B4-BE49-F238E27FC236}">
                <a16:creationId xmlns:a16="http://schemas.microsoft.com/office/drawing/2014/main" id="{90F8BA82-105F-4CC3-B9EF-61F0F2D8EEC2}"/>
              </a:ext>
            </a:extLst>
          </p:cNvPr>
          <p:cNvSpPr>
            <a:spLocks noGrp="1"/>
          </p:cNvSpPr>
          <p:nvPr/>
        </p:nvSpPr>
        <p:spPr>
          <a:xfrm>
            <a:off x="11849100" y="197167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ON−OFF smoothing</a:t>
            </a:r>
          </a:p>
        </p:txBody>
      </p:sp>
      <p:sp>
        <p:nvSpPr>
          <p:cNvPr id="13" name="Rectangle 12">
            <a:extLst>
              <a:ext uri="{FF2B5EF4-FFF2-40B4-BE49-F238E27FC236}">
                <a16:creationId xmlns:a16="http://schemas.microsoft.com/office/drawing/2014/main" id="{12FF0CE8-9269-4CC5-8FDD-EFBA89E523A7}"/>
              </a:ext>
            </a:extLst>
          </p:cNvPr>
          <p:cNvSpPr>
            <a:spLocks noGrp="1"/>
          </p:cNvSpPr>
          <p:nvPr/>
        </p:nvSpPr>
        <p:spPr>
          <a:xfrm>
            <a:off x="11363325" y="268605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n_t_cal = 10</a:t>
            </a:r>
          </a:p>
          <a:p>
            <a:pPr>
              <a:defRPr sz="1875" b="0">
                <a:solidFill>
                  <a:srgbClr val="152A40"/>
                </a:solidFill>
                <a:latin typeface="Arial"/>
                <a:ea typeface="Arial"/>
                <a:cs typeface="Arial"/>
              </a:defRPr>
            </a:pPr>
            <a:r>
              <a:rPr sz="1875" b="0">
                <a:solidFill>
                  <a:srgbClr val="152A40"/>
                </a:solidFill>
                <a:latin typeface="Arial"/>
                <a:ea typeface="Arial"/>
                <a:cs typeface="Arial"/>
              </a:rPr>
              <a:t>Filters ON−OFF before deriving Tpsr.</a:t>
            </a:r>
          </a:p>
        </p:txBody>
      </p:sp>
      <p:sp>
        <p:nvSpPr>
          <p:cNvPr id="14" name="Oval 13">
            <a:extLst>
              <a:ext uri="{FF2B5EF4-FFF2-40B4-BE49-F238E27FC236}">
                <a16:creationId xmlns:a16="http://schemas.microsoft.com/office/drawing/2014/main" id="{BE55D58C-1470-46FE-B387-97E0F6732EAF}"/>
              </a:ext>
            </a:extLst>
          </p:cNvPr>
          <p:cNvSpPr>
            <a:spLocks noGrp="1"/>
          </p:cNvSpPr>
          <p:nvPr/>
        </p:nvSpPr>
        <p:spPr>
          <a:xfrm>
            <a:off x="11334750" y="401955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2</a:t>
            </a:r>
          </a:p>
        </p:txBody>
      </p:sp>
      <p:sp>
        <p:nvSpPr>
          <p:cNvPr id="15" name="Rectangle 14">
            <a:extLst>
              <a:ext uri="{FF2B5EF4-FFF2-40B4-BE49-F238E27FC236}">
                <a16:creationId xmlns:a16="http://schemas.microsoft.com/office/drawing/2014/main" id="{799DB7DE-75EE-4599-9CA8-B3BBE3B261EA}"/>
              </a:ext>
            </a:extLst>
          </p:cNvPr>
          <p:cNvSpPr>
            <a:spLocks noGrp="1"/>
          </p:cNvSpPr>
          <p:nvPr/>
        </p:nvSpPr>
        <p:spPr>
          <a:xfrm>
            <a:off x="11849100" y="401002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Tpsr smoothing</a:t>
            </a:r>
          </a:p>
        </p:txBody>
      </p:sp>
      <p:sp>
        <p:nvSpPr>
          <p:cNvPr id="16" name="Rectangle 15">
            <a:extLst>
              <a:ext uri="{FF2B5EF4-FFF2-40B4-BE49-F238E27FC236}">
                <a16:creationId xmlns:a16="http://schemas.microsoft.com/office/drawing/2014/main" id="{E7C56ABE-AB71-45BB-871E-19BECE019709}"/>
              </a:ext>
            </a:extLst>
          </p:cNvPr>
          <p:cNvSpPr>
            <a:spLocks noGrp="1"/>
          </p:cNvSpPr>
          <p:nvPr/>
        </p:nvSpPr>
        <p:spPr>
          <a:xfrm>
            <a:off x="11363325" y="472440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n_t_apply = 10</a:t>
            </a:r>
          </a:p>
          <a:p>
            <a:pPr>
              <a:defRPr sz="1875" b="0">
                <a:solidFill>
                  <a:srgbClr val="152A40"/>
                </a:solidFill>
                <a:latin typeface="Arial"/>
                <a:ea typeface="Arial"/>
                <a:cs typeface="Arial"/>
              </a:defRPr>
            </a:pPr>
            <a:r>
              <a:rPr sz="1875" b="0">
                <a:solidFill>
                  <a:srgbClr val="152A40"/>
                </a:solidFill>
                <a:latin typeface="Arial"/>
                <a:ea typeface="Arial"/>
                <a:cs typeface="Arial"/>
              </a:rPr>
              <a:t>Filters Tpsr before science calibration.</a:t>
            </a:r>
          </a:p>
        </p:txBody>
      </p:sp>
      <p:sp>
        <p:nvSpPr>
          <p:cNvPr id="17" name="Oval 16">
            <a:extLst>
              <a:ext uri="{FF2B5EF4-FFF2-40B4-BE49-F238E27FC236}">
                <a16:creationId xmlns:a16="http://schemas.microsoft.com/office/drawing/2014/main" id="{51BC587C-6E34-48B7-A8FC-B40C5A9FC329}"/>
              </a:ext>
            </a:extLst>
          </p:cNvPr>
          <p:cNvSpPr>
            <a:spLocks noGrp="1"/>
          </p:cNvSpPr>
          <p:nvPr/>
        </p:nvSpPr>
        <p:spPr>
          <a:xfrm>
            <a:off x="11334750" y="619125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C1ADCE90-5433-4D0A-90C5-AEEF32736444}"/>
              </a:ext>
            </a:extLst>
          </p:cNvPr>
          <p:cNvSpPr>
            <a:spLocks noGrp="1"/>
          </p:cNvSpPr>
          <p:nvPr/>
        </p:nvSpPr>
        <p:spPr>
          <a:xfrm>
            <a:off x="11849100" y="618172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Apply / refit</a:t>
            </a:r>
          </a:p>
        </p:txBody>
      </p:sp>
      <p:sp>
        <p:nvSpPr>
          <p:cNvPr id="19" name="Rectangle 18">
            <a:extLst>
              <a:ext uri="{FF2B5EF4-FFF2-40B4-BE49-F238E27FC236}">
                <a16:creationId xmlns:a16="http://schemas.microsoft.com/office/drawing/2014/main" id="{6E658229-6E99-4F12-8C8A-9027A7D47819}"/>
              </a:ext>
            </a:extLst>
          </p:cNvPr>
          <p:cNvSpPr>
            <a:spLocks noGrp="1"/>
          </p:cNvSpPr>
          <p:nvPr/>
        </p:nvSpPr>
        <p:spPr>
          <a:xfrm>
            <a:off x="11363325" y="689610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Click to commit settings.</a:t>
            </a:r>
          </a:p>
          <a:p>
            <a:pPr>
              <a:defRPr sz="1875" b="0">
                <a:solidFill>
                  <a:srgbClr val="152A40"/>
                </a:solidFill>
                <a:latin typeface="Arial"/>
                <a:ea typeface="Arial"/>
                <a:cs typeface="Arial"/>
              </a:defRPr>
            </a:pPr>
            <a:r>
              <a:rPr sz="1875" b="0">
                <a:solidFill>
                  <a:srgbClr val="152A40"/>
                </a:solidFill>
                <a:latin typeface="Arial"/>
                <a:ea typeface="Arial"/>
                <a:cs typeface="Arial"/>
              </a:rPr>
              <a:t>10 CAL timestamps ≈ 2.01 s.</a:t>
            </a:r>
          </a:p>
        </p:txBody>
      </p:sp>
      <p:sp>
        <p:nvSpPr>
          <p:cNvPr id="20" name="Rectangle 19">
            <a:extLst>
              <a:ext uri="{FF2B5EF4-FFF2-40B4-BE49-F238E27FC236}">
                <a16:creationId xmlns:a16="http://schemas.microsoft.com/office/drawing/2014/main" id="{11E90F09-79CD-497A-9BC8-E341E16C47B2}"/>
              </a:ext>
            </a:extLst>
          </p:cNvPr>
          <p:cNvSpPr>
            <a:spLocks noGrp="1"/>
          </p:cNvSpPr>
          <p:nvPr/>
        </p:nvSpPr>
        <p:spPr>
          <a:xfrm>
            <a:off x="638175" y="7781925"/>
            <a:ext cx="13811250" cy="352425"/>
          </a:xfrm>
          <a:prstGeom prst="rect">
            <a:avLst/>
          </a:prstGeom>
          <a:noFill/>
          <a:ln w="0">
            <a:noFill/>
          </a:ln>
        </p:spPr>
        <p:txBody>
          <a:bodyPr wrap="square" lIns="0" tIns="0" rIns="0" bIns="0" anchor="t">
            <a:noAutofit/>
          </a:bodyPr>
          <a:lstStyle>
            <a:defPPr>
              <a:defRPr sz="1575" b="0">
                <a:solidFill>
                  <a:srgbClr val="4B5E70"/>
                </a:solidFill>
                <a:latin typeface="Arial"/>
                <a:ea typeface="Arial"/>
                <a:cs typeface="Arial"/>
              </a:defRPr>
            </a:defPPr>
            <a:lvl1pPr>
              <a:defRPr sz="1575" b="0">
                <a:solidFill>
                  <a:srgbClr val="4B5E70"/>
                </a:solidFill>
                <a:latin typeface="Arial"/>
                <a:ea typeface="Arial"/>
                <a:cs typeface="Arial"/>
              </a:defRPr>
            </a:lvl1pPr>
            <a:lvl2pPr>
              <a:defRPr sz="1575" b="0">
                <a:solidFill>
                  <a:srgbClr val="4B5E70"/>
                </a:solidFill>
                <a:latin typeface="Arial"/>
                <a:ea typeface="Arial"/>
                <a:cs typeface="Arial"/>
              </a:defRPr>
            </a:lvl2pPr>
            <a:lvl3pPr>
              <a:defRPr sz="1575" b="0">
                <a:solidFill>
                  <a:srgbClr val="4B5E70"/>
                </a:solidFill>
                <a:latin typeface="Arial"/>
                <a:ea typeface="Arial"/>
                <a:cs typeface="Arial"/>
              </a:defRPr>
            </a:lvl3pPr>
            <a:lvl4pPr>
              <a:defRPr sz="1575" b="0">
                <a:solidFill>
                  <a:srgbClr val="4B5E70"/>
                </a:solidFill>
                <a:latin typeface="Arial"/>
                <a:ea typeface="Arial"/>
                <a:cs typeface="Arial"/>
              </a:defRPr>
            </a:lvl4pPr>
            <a:lvl5pPr>
              <a:defRPr sz="1575" b="0">
                <a:solidFill>
                  <a:srgbClr val="4B5E70"/>
                </a:solidFill>
                <a:latin typeface="Arial"/>
                <a:ea typeface="Arial"/>
                <a:cs typeface="Arial"/>
              </a:defRPr>
            </a:lvl5pPr>
            <a:lvl6pPr>
              <a:defRPr sz="1575" b="0">
                <a:solidFill>
                  <a:srgbClr val="4B5E70"/>
                </a:solidFill>
                <a:latin typeface="Arial"/>
                <a:ea typeface="Arial"/>
                <a:cs typeface="Arial"/>
              </a:defRPr>
            </a:lvl6pPr>
            <a:lvl7pPr>
              <a:defRPr sz="1575" b="0">
                <a:solidFill>
                  <a:srgbClr val="4B5E70"/>
                </a:solidFill>
                <a:latin typeface="Arial"/>
                <a:ea typeface="Arial"/>
                <a:cs typeface="Arial"/>
              </a:defRPr>
            </a:lvl7pPr>
            <a:lvl8pPr>
              <a:defRPr sz="1575" b="0">
                <a:solidFill>
                  <a:srgbClr val="4B5E70"/>
                </a:solidFill>
                <a:latin typeface="Arial"/>
                <a:ea typeface="Arial"/>
                <a:cs typeface="Arial"/>
              </a:defRPr>
            </a:lvl8pPr>
            <a:lvl9pPr>
              <a:defRPr sz="1575" b="0">
                <a:solidFill>
                  <a:srgbClr val="4B5E70"/>
                </a:solidFill>
                <a:latin typeface="Arial"/>
                <a:ea typeface="Arial"/>
                <a:cs typeface="Arial"/>
              </a:defRPr>
            </a:lvl9pPr>
          </a:lstStyle>
          <a:p>
            <a:pPr>
              <a:defRPr sz="1575" b="0">
                <a:solidFill>
                  <a:srgbClr val="4B5E70"/>
                </a:solidFill>
                <a:latin typeface="Arial"/>
                <a:ea typeface="Arial"/>
                <a:cs typeface="Arial"/>
              </a:defRPr>
            </a:pPr>
            <a:r>
              <a:rPr sz="1575" b="0">
                <a:solidFill>
                  <a:srgbClr val="4B5E70"/>
                </a:solidFill>
                <a:latin typeface="Arial"/>
                <a:ea typeface="Arial"/>
                <a:cs typeface="Arial"/>
              </a:rPr>
              <a:t>These curves summarize frequency medians. The filters operate on each frequency channel.</a:t>
            </a:r>
          </a:p>
        </p:txBody>
      </p:sp>
    </p:spTree>
    <p:extLst>
      <p:ext uri="{BB962C8B-B14F-4D97-AF65-F5344CB8AC3E}">
        <p14:creationId xmlns:p14="http://schemas.microsoft.com/office/powerpoint/2010/main" val="140901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6F3F95B-0FDD-4EE1-B8AC-037C40D4B943}"/>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Applied calibration</a:t>
            </a:r>
          </a:p>
        </p:txBody>
      </p:sp>
      <p:sp>
        <p:nvSpPr>
          <p:cNvPr id="2" name="Rectangle 1">
            <a:extLst>
              <a:ext uri="{FF2B5EF4-FFF2-40B4-BE49-F238E27FC236}">
                <a16:creationId xmlns:a16="http://schemas.microsoft.com/office/drawing/2014/main" id="{FCB794A5-AFF3-47BB-AF20-1D2DD0900003}"/>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View: Apply calibration</a:t>
            </a:r>
          </a:p>
        </p:txBody>
      </p:sp>
      <p:sp>
        <p:nvSpPr>
          <p:cNvPr id="3" name="Rectangle 2">
            <a:extLst>
              <a:ext uri="{FF2B5EF4-FFF2-40B4-BE49-F238E27FC236}">
                <a16:creationId xmlns:a16="http://schemas.microsoft.com/office/drawing/2014/main" id="{796C4813-532B-4B0E-917D-DF8981C30F50}"/>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09</a:t>
            </a:r>
          </a:p>
        </p:txBody>
      </p:sp>
      <p:pic>
        <p:nvPicPr>
          <p:cNvPr id="4" name="Picture 3">
            <a:extLst>
              <a:ext uri="{FF2B5EF4-FFF2-40B4-BE49-F238E27FC236}">
                <a16:creationId xmlns:a16="http://schemas.microsoft.com/office/drawing/2014/main" id="{03C3DD59-1E66-444B-92AD-1D75D9F984D6}"/>
              </a:ext>
            </a:extLst>
          </p:cNvPr>
          <p:cNvPicPr>
            <a:picLocks noChangeAspect="1"/>
          </p:cNvPicPr>
          <p:nvPr/>
        </p:nvPicPr>
        <p:blipFill>
          <a:blip r:embed="rId3"/>
          <a:stretch/>
        </p:blipFill>
        <p:spPr>
          <a:xfrm>
            <a:off x="523875" y="1909254"/>
            <a:ext cx="10525125" cy="5916042"/>
          </a:xfrm>
          <a:prstGeom prst="rect">
            <a:avLst/>
          </a:prstGeom>
        </p:spPr>
      </p:pic>
      <p:sp>
        <p:nvSpPr>
          <p:cNvPr id="5" name="Rectangle 4">
            <a:extLst>
              <a:ext uri="{FF2B5EF4-FFF2-40B4-BE49-F238E27FC236}">
                <a16:creationId xmlns:a16="http://schemas.microsoft.com/office/drawing/2014/main" id="{483D97E4-CE1E-4EE1-8E67-7F70A1A375E0}"/>
              </a:ext>
            </a:extLst>
          </p:cNvPr>
          <p:cNvSpPr>
            <a:spLocks noGrp="1"/>
          </p:cNvSpPr>
          <p:nvPr/>
        </p:nvSpPr>
        <p:spPr>
          <a:xfrm>
            <a:off x="5934595" y="1918562"/>
            <a:ext cx="543422" cy="240251"/>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F2071878-BF80-4B0B-AC72-290EBEDFAE53}"/>
              </a:ext>
            </a:extLst>
          </p:cNvPr>
          <p:cNvSpPr>
            <a:spLocks noGrp="1"/>
          </p:cNvSpPr>
          <p:nvPr/>
        </p:nvSpPr>
        <p:spPr>
          <a:xfrm>
            <a:off x="5744095" y="169948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6AA49518-9A85-4168-8CD4-F61EB6A7A4B7}"/>
              </a:ext>
            </a:extLst>
          </p:cNvPr>
          <p:cNvSpPr>
            <a:spLocks noGrp="1"/>
          </p:cNvSpPr>
          <p:nvPr/>
        </p:nvSpPr>
        <p:spPr>
          <a:xfrm>
            <a:off x="7999212" y="2796182"/>
            <a:ext cx="2286034" cy="233937"/>
          </a:xfrm>
          <a:prstGeom prst="rect">
            <a:avLst/>
          </a:prstGeom>
          <a:noFill/>
          <a:ln w="28575">
            <a:solidFill>
              <a:srgbClr val="D77313"/>
            </a:solidFill>
            <a:prstDash val="solid"/>
          </a:ln>
        </p:spPr>
      </p:sp>
      <p:sp>
        <p:nvSpPr>
          <p:cNvPr id="8" name="Oval 7">
            <a:extLst>
              <a:ext uri="{FF2B5EF4-FFF2-40B4-BE49-F238E27FC236}">
                <a16:creationId xmlns:a16="http://schemas.microsoft.com/office/drawing/2014/main" id="{E440B9BC-BD7E-41A1-AA8E-1F0725E9DBBC}"/>
              </a:ext>
            </a:extLst>
          </p:cNvPr>
          <p:cNvSpPr>
            <a:spLocks noGrp="1"/>
          </p:cNvSpPr>
          <p:nvPr/>
        </p:nvSpPr>
        <p:spPr>
          <a:xfrm>
            <a:off x="7808712" y="257710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7F3E657B-73F1-48DE-B767-C032E59A927B}"/>
              </a:ext>
            </a:extLst>
          </p:cNvPr>
          <p:cNvSpPr>
            <a:spLocks noGrp="1"/>
          </p:cNvSpPr>
          <p:nvPr/>
        </p:nvSpPr>
        <p:spPr>
          <a:xfrm>
            <a:off x="7557245" y="5113351"/>
            <a:ext cx="2728001" cy="278133"/>
          </a:xfrm>
          <a:prstGeom prst="rect">
            <a:avLst/>
          </a:prstGeom>
          <a:noFill/>
          <a:ln w="28575">
            <a:solidFill>
              <a:srgbClr val="D77313"/>
            </a:solidFill>
            <a:prstDash val="solid"/>
          </a:ln>
        </p:spPr>
      </p:sp>
      <p:sp>
        <p:nvSpPr>
          <p:cNvPr id="10" name="Oval 9">
            <a:extLst>
              <a:ext uri="{FF2B5EF4-FFF2-40B4-BE49-F238E27FC236}">
                <a16:creationId xmlns:a16="http://schemas.microsoft.com/office/drawing/2014/main" id="{487A4EF3-1442-46A5-BEB3-162C01502E4C}"/>
              </a:ext>
            </a:extLst>
          </p:cNvPr>
          <p:cNvSpPr>
            <a:spLocks noGrp="1"/>
          </p:cNvSpPr>
          <p:nvPr/>
        </p:nvSpPr>
        <p:spPr>
          <a:xfrm>
            <a:off x="7366745" y="4894276"/>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11" name="Oval 10">
            <a:extLst>
              <a:ext uri="{FF2B5EF4-FFF2-40B4-BE49-F238E27FC236}">
                <a16:creationId xmlns:a16="http://schemas.microsoft.com/office/drawing/2014/main" id="{C30346DF-AFAF-4586-ACDE-65AEB5786DB7}"/>
              </a:ext>
            </a:extLst>
          </p:cNvPr>
          <p:cNvSpPr>
            <a:spLocks noGrp="1"/>
          </p:cNvSpPr>
          <p:nvPr/>
        </p:nvSpPr>
        <p:spPr>
          <a:xfrm>
            <a:off x="11334750" y="204787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1</a:t>
            </a:r>
          </a:p>
        </p:txBody>
      </p:sp>
      <p:sp>
        <p:nvSpPr>
          <p:cNvPr id="12" name="Rectangle 11">
            <a:extLst>
              <a:ext uri="{FF2B5EF4-FFF2-40B4-BE49-F238E27FC236}">
                <a16:creationId xmlns:a16="http://schemas.microsoft.com/office/drawing/2014/main" id="{29432E24-8D9D-4A28-8BC8-14DD7F64101D}"/>
              </a:ext>
            </a:extLst>
          </p:cNvPr>
          <p:cNvSpPr>
            <a:spLocks noGrp="1"/>
          </p:cNvSpPr>
          <p:nvPr/>
        </p:nvSpPr>
        <p:spPr>
          <a:xfrm>
            <a:off x="11849100" y="203835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AA, BB or Mean</a:t>
            </a:r>
          </a:p>
        </p:txBody>
      </p:sp>
      <p:sp>
        <p:nvSpPr>
          <p:cNvPr id="13" name="Rectangle 12">
            <a:extLst>
              <a:ext uri="{FF2B5EF4-FFF2-40B4-BE49-F238E27FC236}">
                <a16:creationId xmlns:a16="http://schemas.microsoft.com/office/drawing/2014/main" id="{9A390DE0-DA03-4735-ABA8-DF39D9D202FA}"/>
              </a:ext>
            </a:extLst>
          </p:cNvPr>
          <p:cNvSpPr>
            <a:spLocks noGrp="1"/>
          </p:cNvSpPr>
          <p:nvPr/>
        </p:nvSpPr>
        <p:spPr>
          <a:xfrm>
            <a:off x="11363325" y="275272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Compare the two polarizations before accepting calibration.</a:t>
            </a:r>
          </a:p>
        </p:txBody>
      </p:sp>
      <p:sp>
        <p:nvSpPr>
          <p:cNvPr id="14" name="Oval 13">
            <a:extLst>
              <a:ext uri="{FF2B5EF4-FFF2-40B4-BE49-F238E27FC236}">
                <a16:creationId xmlns:a16="http://schemas.microsoft.com/office/drawing/2014/main" id="{D8213062-CB56-455C-A61B-E239C77ACCDF}"/>
              </a:ext>
            </a:extLst>
          </p:cNvPr>
          <p:cNvSpPr>
            <a:spLocks noGrp="1"/>
          </p:cNvSpPr>
          <p:nvPr/>
        </p:nvSpPr>
        <p:spPr>
          <a:xfrm>
            <a:off x="11334750" y="402907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2</a:t>
            </a:r>
          </a:p>
        </p:txBody>
      </p:sp>
      <p:sp>
        <p:nvSpPr>
          <p:cNvPr id="15" name="Rectangle 14">
            <a:extLst>
              <a:ext uri="{FF2B5EF4-FFF2-40B4-BE49-F238E27FC236}">
                <a16:creationId xmlns:a16="http://schemas.microsoft.com/office/drawing/2014/main" id="{22BF4481-A0F0-453D-91A7-D85A93B83FCE}"/>
              </a:ext>
            </a:extLst>
          </p:cNvPr>
          <p:cNvSpPr>
            <a:spLocks noGrp="1"/>
          </p:cNvSpPr>
          <p:nvPr/>
        </p:nvSpPr>
        <p:spPr>
          <a:xfrm>
            <a:off x="11849100" y="401955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Upper spectrum</a:t>
            </a:r>
          </a:p>
        </p:txBody>
      </p:sp>
      <p:sp>
        <p:nvSpPr>
          <p:cNvPr id="16" name="Rectangle 15">
            <a:extLst>
              <a:ext uri="{FF2B5EF4-FFF2-40B4-BE49-F238E27FC236}">
                <a16:creationId xmlns:a16="http://schemas.microsoft.com/office/drawing/2014/main" id="{DC3EBFB7-8131-4765-A2D4-D46F71D80EF2}"/>
              </a:ext>
            </a:extLst>
          </p:cNvPr>
          <p:cNvSpPr>
            <a:spLocks noGrp="1"/>
          </p:cNvSpPr>
          <p:nvPr/>
        </p:nvSpPr>
        <p:spPr>
          <a:xfrm>
            <a:off x="11363325" y="473392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Raw science counts at the selected timestamp.</a:t>
            </a:r>
          </a:p>
        </p:txBody>
      </p:sp>
      <p:sp>
        <p:nvSpPr>
          <p:cNvPr id="17" name="Oval 16">
            <a:extLst>
              <a:ext uri="{FF2B5EF4-FFF2-40B4-BE49-F238E27FC236}">
                <a16:creationId xmlns:a16="http://schemas.microsoft.com/office/drawing/2014/main" id="{227864B5-6B8B-4B63-B030-E0B9560AFEEC}"/>
              </a:ext>
            </a:extLst>
          </p:cNvPr>
          <p:cNvSpPr>
            <a:spLocks noGrp="1"/>
          </p:cNvSpPr>
          <p:nvPr/>
        </p:nvSpPr>
        <p:spPr>
          <a:xfrm>
            <a:off x="11334750" y="601027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385A7214-AD0E-43DE-B5C1-7EF03288EBB2}"/>
              </a:ext>
            </a:extLst>
          </p:cNvPr>
          <p:cNvSpPr>
            <a:spLocks noGrp="1"/>
          </p:cNvSpPr>
          <p:nvPr/>
        </p:nvSpPr>
        <p:spPr>
          <a:xfrm>
            <a:off x="11849100" y="600075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Lower spectrum</a:t>
            </a:r>
          </a:p>
        </p:txBody>
      </p:sp>
      <p:sp>
        <p:nvSpPr>
          <p:cNvPr id="19" name="Rectangle 18">
            <a:extLst>
              <a:ext uri="{FF2B5EF4-FFF2-40B4-BE49-F238E27FC236}">
                <a16:creationId xmlns:a16="http://schemas.microsoft.com/office/drawing/2014/main" id="{5A5ACC3F-191C-4447-8126-723A39F9F4C7}"/>
              </a:ext>
            </a:extLst>
          </p:cNvPr>
          <p:cNvSpPr>
            <a:spLocks noGrp="1"/>
          </p:cNvSpPr>
          <p:nvPr/>
        </p:nvSpPr>
        <p:spPr>
          <a:xfrm>
            <a:off x="11363325" y="671512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Calibrated temperature in kelvin. Baseline subtraction comes next.</a:t>
            </a:r>
          </a:p>
        </p:txBody>
      </p:sp>
    </p:spTree>
    <p:extLst>
      <p:ext uri="{BB962C8B-B14F-4D97-AF65-F5344CB8AC3E}">
        <p14:creationId xmlns:p14="http://schemas.microsoft.com/office/powerpoint/2010/main" val="75300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3269006-F274-4040-94E0-B52E94323C0B}"/>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Display averaging and spectral rebinning</a:t>
            </a:r>
          </a:p>
        </p:txBody>
      </p:sp>
      <p:sp>
        <p:nvSpPr>
          <p:cNvPr id="2" name="Rectangle 1">
            <a:extLst>
              <a:ext uri="{FF2B5EF4-FFF2-40B4-BE49-F238E27FC236}">
                <a16:creationId xmlns:a16="http://schemas.microsoft.com/office/drawing/2014/main" id="{DFDD9DEB-66C2-4157-96FC-694F4BDFA1BF}"/>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Two controls with different effects</a:t>
            </a:r>
          </a:p>
        </p:txBody>
      </p:sp>
      <p:sp>
        <p:nvSpPr>
          <p:cNvPr id="3" name="Rectangle 2">
            <a:extLst>
              <a:ext uri="{FF2B5EF4-FFF2-40B4-BE49-F238E27FC236}">
                <a16:creationId xmlns:a16="http://schemas.microsoft.com/office/drawing/2014/main" id="{F25A0A70-8209-4856-8BE5-0C5302E25CB1}"/>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10</a:t>
            </a:r>
          </a:p>
        </p:txBody>
      </p:sp>
      <p:sp>
        <p:nvSpPr>
          <p:cNvPr id="4" name="Rectangle 3">
            <a:extLst>
              <a:ext uri="{FF2B5EF4-FFF2-40B4-BE49-F238E27FC236}">
                <a16:creationId xmlns:a16="http://schemas.microsoft.com/office/drawing/2014/main" id="{5BFCADA7-42A2-4428-80BB-C5CCB9D29356}"/>
              </a:ext>
            </a:extLst>
          </p:cNvPr>
          <p:cNvSpPr>
            <a:spLocks noGrp="1"/>
          </p:cNvSpPr>
          <p:nvPr/>
        </p:nvSpPr>
        <p:spPr>
          <a:xfrm>
            <a:off x="666750" y="2028825"/>
            <a:ext cx="13716000" cy="476250"/>
          </a:xfrm>
          <a:prstGeom prst="rect">
            <a:avLst/>
          </a:prstGeom>
          <a:noFill/>
          <a:ln w="0">
            <a:noFill/>
          </a:ln>
        </p:spPr>
        <p:txBody>
          <a:bodyPr wrap="square" lIns="0" tIns="0" rIns="0" bIns="0" anchor="t">
            <a:noAutofit/>
          </a:bodyPr>
          <a:lstStyle>
            <a:defPPr>
              <a:defRPr sz="2550" b="1">
                <a:solidFill>
                  <a:srgbClr val="075CA8"/>
                </a:solidFill>
                <a:latin typeface="Arial"/>
                <a:ea typeface="Arial"/>
                <a:cs typeface="Arial"/>
              </a:defRPr>
            </a:defPPr>
            <a:lvl1pPr>
              <a:defRPr sz="2550" b="1">
                <a:solidFill>
                  <a:srgbClr val="075CA8"/>
                </a:solidFill>
                <a:latin typeface="Arial"/>
                <a:ea typeface="Arial"/>
                <a:cs typeface="Arial"/>
              </a:defRPr>
            </a:lvl1pPr>
            <a:lvl2pPr>
              <a:defRPr sz="2550" b="1">
                <a:solidFill>
                  <a:srgbClr val="075CA8"/>
                </a:solidFill>
                <a:latin typeface="Arial"/>
                <a:ea typeface="Arial"/>
                <a:cs typeface="Arial"/>
              </a:defRPr>
            </a:lvl2pPr>
            <a:lvl3pPr>
              <a:defRPr sz="2550" b="1">
                <a:solidFill>
                  <a:srgbClr val="075CA8"/>
                </a:solidFill>
                <a:latin typeface="Arial"/>
                <a:ea typeface="Arial"/>
                <a:cs typeface="Arial"/>
              </a:defRPr>
            </a:lvl3pPr>
            <a:lvl4pPr>
              <a:defRPr sz="2550" b="1">
                <a:solidFill>
                  <a:srgbClr val="075CA8"/>
                </a:solidFill>
                <a:latin typeface="Arial"/>
                <a:ea typeface="Arial"/>
                <a:cs typeface="Arial"/>
              </a:defRPr>
            </a:lvl4pPr>
            <a:lvl5pPr>
              <a:defRPr sz="2550" b="1">
                <a:solidFill>
                  <a:srgbClr val="075CA8"/>
                </a:solidFill>
                <a:latin typeface="Arial"/>
                <a:ea typeface="Arial"/>
                <a:cs typeface="Arial"/>
              </a:defRPr>
            </a:lvl5pPr>
            <a:lvl6pPr>
              <a:defRPr sz="2550" b="1">
                <a:solidFill>
                  <a:srgbClr val="075CA8"/>
                </a:solidFill>
                <a:latin typeface="Arial"/>
                <a:ea typeface="Arial"/>
                <a:cs typeface="Arial"/>
              </a:defRPr>
            </a:lvl6pPr>
            <a:lvl7pPr>
              <a:defRPr sz="2550" b="1">
                <a:solidFill>
                  <a:srgbClr val="075CA8"/>
                </a:solidFill>
                <a:latin typeface="Arial"/>
                <a:ea typeface="Arial"/>
                <a:cs typeface="Arial"/>
              </a:defRPr>
            </a:lvl7pPr>
            <a:lvl8pPr>
              <a:defRPr sz="2550" b="1">
                <a:solidFill>
                  <a:srgbClr val="075CA8"/>
                </a:solidFill>
                <a:latin typeface="Arial"/>
                <a:ea typeface="Arial"/>
                <a:cs typeface="Arial"/>
              </a:defRPr>
            </a:lvl8pPr>
            <a:lvl9pPr>
              <a:defRPr sz="2550" b="1">
                <a:solidFill>
                  <a:srgbClr val="075CA8"/>
                </a:solidFill>
                <a:latin typeface="Arial"/>
                <a:ea typeface="Arial"/>
                <a:cs typeface="Arial"/>
              </a:defRPr>
            </a:lvl9pPr>
          </a:lstStyle>
          <a:p>
            <a:pPr>
              <a:defRPr sz="2550" b="1">
                <a:solidFill>
                  <a:srgbClr val="075CA8"/>
                </a:solidFill>
                <a:latin typeface="Arial"/>
                <a:ea typeface="Arial"/>
                <a:cs typeface="Arial"/>
              </a:defRPr>
            </a:pPr>
            <a:r>
              <a:rPr sz="2550" b="1">
                <a:solidFill>
                  <a:srgbClr val="075CA8"/>
                </a:solidFill>
                <a:latin typeface="Arial"/>
                <a:ea typeface="Arial"/>
                <a:cs typeface="Arial"/>
              </a:rPr>
              <a:t>Display bin (ch)</a:t>
            </a:r>
          </a:p>
        </p:txBody>
      </p:sp>
      <p:pic>
        <p:nvPicPr>
          <p:cNvPr id="5" name="Picture 4">
            <a:extLst>
              <a:ext uri="{FF2B5EF4-FFF2-40B4-BE49-F238E27FC236}">
                <a16:creationId xmlns:a16="http://schemas.microsoft.com/office/drawing/2014/main" id="{CE4D9FC4-994A-4516-A3EB-EDBDFF065034}"/>
              </a:ext>
            </a:extLst>
          </p:cNvPr>
          <p:cNvPicPr>
            <a:picLocks noChangeAspect="1"/>
          </p:cNvPicPr>
          <p:nvPr/>
        </p:nvPicPr>
        <p:blipFill>
          <a:blip r:embed="rId3"/>
          <a:srcRect t="49000" r="73300"/>
          <a:stretch/>
        </p:blipFill>
        <p:spPr>
          <a:xfrm>
            <a:off x="685800" y="2947654"/>
            <a:ext cx="10287000" cy="772192"/>
          </a:xfrm>
          <a:prstGeom prst="rect">
            <a:avLst/>
          </a:prstGeom>
        </p:spPr>
      </p:pic>
      <p:sp>
        <p:nvSpPr>
          <p:cNvPr id="6" name="Rectangle 5">
            <a:extLst>
              <a:ext uri="{FF2B5EF4-FFF2-40B4-BE49-F238E27FC236}">
                <a16:creationId xmlns:a16="http://schemas.microsoft.com/office/drawing/2014/main" id="{0FC05CF1-1EB6-474F-95EE-9AEE4BE5D965}"/>
              </a:ext>
            </a:extLst>
          </p:cNvPr>
          <p:cNvSpPr>
            <a:spLocks noGrp="1"/>
          </p:cNvSpPr>
          <p:nvPr/>
        </p:nvSpPr>
        <p:spPr>
          <a:xfrm>
            <a:off x="685800" y="4238625"/>
            <a:ext cx="13763625" cy="61912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32 reduces drawing points. Set 1 when you want to inspect individual channels.</a:t>
            </a:r>
          </a:p>
        </p:txBody>
      </p:sp>
      <p:sp>
        <p:nvSpPr>
          <p:cNvPr id="7" name="Rectangle 6">
            <a:extLst>
              <a:ext uri="{FF2B5EF4-FFF2-40B4-BE49-F238E27FC236}">
                <a16:creationId xmlns:a16="http://schemas.microsoft.com/office/drawing/2014/main" id="{AFE82259-3845-46AC-9B2A-2D527D6A708C}"/>
              </a:ext>
            </a:extLst>
          </p:cNvPr>
          <p:cNvSpPr>
            <a:spLocks noGrp="1"/>
          </p:cNvSpPr>
          <p:nvPr/>
        </p:nvSpPr>
        <p:spPr>
          <a:xfrm>
            <a:off x="666750" y="5353050"/>
            <a:ext cx="13716000" cy="476250"/>
          </a:xfrm>
          <a:prstGeom prst="rect">
            <a:avLst/>
          </a:prstGeom>
          <a:noFill/>
          <a:ln w="0">
            <a:noFill/>
          </a:ln>
        </p:spPr>
        <p:txBody>
          <a:bodyPr wrap="square" lIns="0" tIns="0" rIns="0" bIns="0" anchor="t">
            <a:noAutofit/>
          </a:bodyPr>
          <a:lstStyle>
            <a:defPPr>
              <a:defRPr sz="2550" b="1">
                <a:solidFill>
                  <a:srgbClr val="075CA8"/>
                </a:solidFill>
                <a:latin typeface="Arial"/>
                <a:ea typeface="Arial"/>
                <a:cs typeface="Arial"/>
              </a:defRPr>
            </a:defPPr>
            <a:lvl1pPr>
              <a:defRPr sz="2550" b="1">
                <a:solidFill>
                  <a:srgbClr val="075CA8"/>
                </a:solidFill>
                <a:latin typeface="Arial"/>
                <a:ea typeface="Arial"/>
                <a:cs typeface="Arial"/>
              </a:defRPr>
            </a:lvl1pPr>
            <a:lvl2pPr>
              <a:defRPr sz="2550" b="1">
                <a:solidFill>
                  <a:srgbClr val="075CA8"/>
                </a:solidFill>
                <a:latin typeface="Arial"/>
                <a:ea typeface="Arial"/>
                <a:cs typeface="Arial"/>
              </a:defRPr>
            </a:lvl2pPr>
            <a:lvl3pPr>
              <a:defRPr sz="2550" b="1">
                <a:solidFill>
                  <a:srgbClr val="075CA8"/>
                </a:solidFill>
                <a:latin typeface="Arial"/>
                <a:ea typeface="Arial"/>
                <a:cs typeface="Arial"/>
              </a:defRPr>
            </a:lvl3pPr>
            <a:lvl4pPr>
              <a:defRPr sz="2550" b="1">
                <a:solidFill>
                  <a:srgbClr val="075CA8"/>
                </a:solidFill>
                <a:latin typeface="Arial"/>
                <a:ea typeface="Arial"/>
                <a:cs typeface="Arial"/>
              </a:defRPr>
            </a:lvl4pPr>
            <a:lvl5pPr>
              <a:defRPr sz="2550" b="1">
                <a:solidFill>
                  <a:srgbClr val="075CA8"/>
                </a:solidFill>
                <a:latin typeface="Arial"/>
                <a:ea typeface="Arial"/>
                <a:cs typeface="Arial"/>
              </a:defRPr>
            </a:lvl5pPr>
            <a:lvl6pPr>
              <a:defRPr sz="2550" b="1">
                <a:solidFill>
                  <a:srgbClr val="075CA8"/>
                </a:solidFill>
                <a:latin typeface="Arial"/>
                <a:ea typeface="Arial"/>
                <a:cs typeface="Arial"/>
              </a:defRPr>
            </a:lvl6pPr>
            <a:lvl7pPr>
              <a:defRPr sz="2550" b="1">
                <a:solidFill>
                  <a:srgbClr val="075CA8"/>
                </a:solidFill>
                <a:latin typeface="Arial"/>
                <a:ea typeface="Arial"/>
                <a:cs typeface="Arial"/>
              </a:defRPr>
            </a:lvl7pPr>
            <a:lvl8pPr>
              <a:defRPr sz="2550" b="1">
                <a:solidFill>
                  <a:srgbClr val="075CA8"/>
                </a:solidFill>
                <a:latin typeface="Arial"/>
                <a:ea typeface="Arial"/>
                <a:cs typeface="Arial"/>
              </a:defRPr>
            </a:lvl8pPr>
            <a:lvl9pPr>
              <a:defRPr sz="2550" b="1">
                <a:solidFill>
                  <a:srgbClr val="075CA8"/>
                </a:solidFill>
                <a:latin typeface="Arial"/>
                <a:ea typeface="Arial"/>
                <a:cs typeface="Arial"/>
              </a:defRPr>
            </a:lvl9pPr>
          </a:lstStyle>
          <a:p>
            <a:pPr>
              <a:defRPr sz="2550" b="1">
                <a:solidFill>
                  <a:srgbClr val="075CA8"/>
                </a:solidFill>
                <a:latin typeface="Arial"/>
                <a:ea typeface="Arial"/>
                <a:cs typeface="Arial"/>
              </a:defRPr>
            </a:pPr>
            <a:r>
              <a:rPr sz="2550" b="1">
                <a:solidFill>
                  <a:srgbClr val="075CA8"/>
                </a:solidFill>
                <a:latin typeface="Arial"/>
                <a:ea typeface="Arial"/>
                <a:cs typeface="Arial"/>
              </a:rPr>
              <a:t>Rebin n_b</a:t>
            </a:r>
          </a:p>
        </p:txBody>
      </p:sp>
      <p:pic>
        <p:nvPicPr>
          <p:cNvPr id="8" name="Picture 7">
            <a:extLst>
              <a:ext uri="{FF2B5EF4-FFF2-40B4-BE49-F238E27FC236}">
                <a16:creationId xmlns:a16="http://schemas.microsoft.com/office/drawing/2014/main" id="{F4641154-1CBD-431C-B13C-243760F40726}"/>
              </a:ext>
            </a:extLst>
          </p:cNvPr>
          <p:cNvPicPr>
            <a:picLocks noChangeAspect="1"/>
          </p:cNvPicPr>
          <p:nvPr/>
        </p:nvPicPr>
        <p:blipFill>
          <a:blip r:embed="rId4"/>
          <a:srcRect r="55000"/>
          <a:stretch/>
        </p:blipFill>
        <p:spPr>
          <a:xfrm>
            <a:off x="685800" y="6186415"/>
            <a:ext cx="10668000" cy="533544"/>
          </a:xfrm>
          <a:prstGeom prst="rect">
            <a:avLst/>
          </a:prstGeom>
        </p:spPr>
      </p:pic>
      <p:sp>
        <p:nvSpPr>
          <p:cNvPr id="9" name="Rectangle 8">
            <a:extLst>
              <a:ext uri="{FF2B5EF4-FFF2-40B4-BE49-F238E27FC236}">
                <a16:creationId xmlns:a16="http://schemas.microsoft.com/office/drawing/2014/main" id="{3D233E3C-C3A6-4055-84A5-70AFBA1AD2C9}"/>
              </a:ext>
            </a:extLst>
          </p:cNvPr>
          <p:cNvSpPr>
            <a:spLocks noGrp="1"/>
          </p:cNvSpPr>
          <p:nvPr/>
        </p:nvSpPr>
        <p:spPr>
          <a:xfrm>
            <a:off x="685800" y="7219950"/>
            <a:ext cx="13763625" cy="590550"/>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2 combines native spectral channels in the science product.</a:t>
            </a:r>
          </a:p>
        </p:txBody>
      </p:sp>
    </p:spTree>
    <p:extLst>
      <p:ext uri="{BB962C8B-B14F-4D97-AF65-F5344CB8AC3E}">
        <p14:creationId xmlns:p14="http://schemas.microsoft.com/office/powerpoint/2010/main" val="309100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AB8D0A6-EC45-4643-899B-D7E61B747825}"/>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Baseline components</a:t>
            </a:r>
          </a:p>
        </p:txBody>
      </p:sp>
      <p:sp>
        <p:nvSpPr>
          <p:cNvPr id="2" name="Rectangle 1">
            <a:extLst>
              <a:ext uri="{FF2B5EF4-FFF2-40B4-BE49-F238E27FC236}">
                <a16:creationId xmlns:a16="http://schemas.microsoft.com/office/drawing/2014/main" id="{C7B53BD6-710E-49D5-8BA5-018AAFB92EC0}"/>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View: Baseline. Settings menu: Detach parameter console</a:t>
            </a:r>
          </a:p>
        </p:txBody>
      </p:sp>
      <p:sp>
        <p:nvSpPr>
          <p:cNvPr id="3" name="Rectangle 2">
            <a:extLst>
              <a:ext uri="{FF2B5EF4-FFF2-40B4-BE49-F238E27FC236}">
                <a16:creationId xmlns:a16="http://schemas.microsoft.com/office/drawing/2014/main" id="{BEB90A97-FC1E-4B11-BB16-DA14DF43BFF2}"/>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11</a:t>
            </a:r>
          </a:p>
        </p:txBody>
      </p:sp>
      <p:pic>
        <p:nvPicPr>
          <p:cNvPr id="4" name="Picture 3">
            <a:extLst>
              <a:ext uri="{FF2B5EF4-FFF2-40B4-BE49-F238E27FC236}">
                <a16:creationId xmlns:a16="http://schemas.microsoft.com/office/drawing/2014/main" id="{52A013CF-0E5E-4427-9E98-7F35D3F2CB8E}"/>
              </a:ext>
            </a:extLst>
          </p:cNvPr>
          <p:cNvPicPr>
            <a:picLocks noChangeAspect="1"/>
          </p:cNvPicPr>
          <p:nvPr/>
        </p:nvPicPr>
        <p:blipFill>
          <a:blip r:embed="rId3"/>
          <a:stretch/>
        </p:blipFill>
        <p:spPr>
          <a:xfrm>
            <a:off x="630626" y="1952625"/>
            <a:ext cx="13883498" cy="3810000"/>
          </a:xfrm>
          <a:prstGeom prst="rect">
            <a:avLst/>
          </a:prstGeom>
        </p:spPr>
      </p:pic>
      <p:sp>
        <p:nvSpPr>
          <p:cNvPr id="5" name="Rectangle 4">
            <a:extLst>
              <a:ext uri="{FF2B5EF4-FFF2-40B4-BE49-F238E27FC236}">
                <a16:creationId xmlns:a16="http://schemas.microsoft.com/office/drawing/2014/main" id="{10E8AC37-D4DB-4A32-B997-C463C0225CA1}"/>
              </a:ext>
            </a:extLst>
          </p:cNvPr>
          <p:cNvSpPr>
            <a:spLocks noGrp="1"/>
          </p:cNvSpPr>
          <p:nvPr/>
        </p:nvSpPr>
        <p:spPr>
          <a:xfrm>
            <a:off x="651504" y="4825784"/>
            <a:ext cx="2057872" cy="434611"/>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432A518B-42E8-4ABD-99DB-54E911E9F8FF}"/>
              </a:ext>
            </a:extLst>
          </p:cNvPr>
          <p:cNvSpPr>
            <a:spLocks noGrp="1"/>
          </p:cNvSpPr>
          <p:nvPr/>
        </p:nvSpPr>
        <p:spPr>
          <a:xfrm>
            <a:off x="461004" y="4606709"/>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9A3543E5-7093-4675-B132-550CFC9DB3CB}"/>
              </a:ext>
            </a:extLst>
          </p:cNvPr>
          <p:cNvSpPr>
            <a:spLocks noGrp="1"/>
          </p:cNvSpPr>
          <p:nvPr/>
        </p:nvSpPr>
        <p:spPr>
          <a:xfrm>
            <a:off x="2302897" y="3634422"/>
            <a:ext cx="842918" cy="812073"/>
          </a:xfrm>
          <a:prstGeom prst="rect">
            <a:avLst/>
          </a:prstGeom>
          <a:noFill/>
          <a:ln w="28575">
            <a:solidFill>
              <a:srgbClr val="D77313"/>
            </a:solidFill>
            <a:prstDash val="solid"/>
          </a:ln>
        </p:spPr>
      </p:sp>
      <p:sp>
        <p:nvSpPr>
          <p:cNvPr id="8" name="Oval 7">
            <a:extLst>
              <a:ext uri="{FF2B5EF4-FFF2-40B4-BE49-F238E27FC236}">
                <a16:creationId xmlns:a16="http://schemas.microsoft.com/office/drawing/2014/main" id="{A108B4D2-EA8F-410F-B033-D9D0AAE7BBBF}"/>
              </a:ext>
            </a:extLst>
          </p:cNvPr>
          <p:cNvSpPr>
            <a:spLocks noGrp="1"/>
          </p:cNvSpPr>
          <p:nvPr/>
        </p:nvSpPr>
        <p:spPr>
          <a:xfrm>
            <a:off x="2112397" y="341534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74E88058-B5D8-4C32-9F9F-DB225B953D04}"/>
              </a:ext>
            </a:extLst>
          </p:cNvPr>
          <p:cNvSpPr>
            <a:spLocks noGrp="1"/>
          </p:cNvSpPr>
          <p:nvPr/>
        </p:nvSpPr>
        <p:spPr>
          <a:xfrm>
            <a:off x="3081411" y="3646217"/>
            <a:ext cx="7802361" cy="800277"/>
          </a:xfrm>
          <a:prstGeom prst="rect">
            <a:avLst/>
          </a:prstGeom>
          <a:noFill/>
          <a:ln w="28575">
            <a:solidFill>
              <a:srgbClr val="D77313"/>
            </a:solidFill>
            <a:prstDash val="solid"/>
          </a:ln>
        </p:spPr>
      </p:sp>
      <p:sp>
        <p:nvSpPr>
          <p:cNvPr id="10" name="Oval 9">
            <a:extLst>
              <a:ext uri="{FF2B5EF4-FFF2-40B4-BE49-F238E27FC236}">
                <a16:creationId xmlns:a16="http://schemas.microsoft.com/office/drawing/2014/main" id="{CD3041FF-6F25-4897-B8A2-D6F20F1F2E6F}"/>
              </a:ext>
            </a:extLst>
          </p:cNvPr>
          <p:cNvSpPr>
            <a:spLocks noGrp="1"/>
          </p:cNvSpPr>
          <p:nvPr/>
        </p:nvSpPr>
        <p:spPr>
          <a:xfrm>
            <a:off x="2890911" y="3427142"/>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11" name="Rectangle 10">
            <a:extLst>
              <a:ext uri="{FF2B5EF4-FFF2-40B4-BE49-F238E27FC236}">
                <a16:creationId xmlns:a16="http://schemas.microsoft.com/office/drawing/2014/main" id="{40A50B73-7D86-4DD8-AC32-78378943AABC}"/>
              </a:ext>
            </a:extLst>
          </p:cNvPr>
          <p:cNvSpPr>
            <a:spLocks noGrp="1"/>
          </p:cNvSpPr>
          <p:nvPr/>
        </p:nvSpPr>
        <p:spPr>
          <a:xfrm>
            <a:off x="10901938" y="3634422"/>
            <a:ext cx="1739389" cy="434611"/>
          </a:xfrm>
          <a:prstGeom prst="rect">
            <a:avLst/>
          </a:prstGeom>
          <a:noFill/>
          <a:ln w="28575">
            <a:solidFill>
              <a:srgbClr val="D77313"/>
            </a:solidFill>
            <a:prstDash val="solid"/>
          </a:ln>
        </p:spPr>
      </p:sp>
      <p:sp>
        <p:nvSpPr>
          <p:cNvPr id="12" name="Oval 11">
            <a:extLst>
              <a:ext uri="{FF2B5EF4-FFF2-40B4-BE49-F238E27FC236}">
                <a16:creationId xmlns:a16="http://schemas.microsoft.com/office/drawing/2014/main" id="{D3652200-950D-4049-B451-B5FF4FD2D023}"/>
              </a:ext>
            </a:extLst>
          </p:cNvPr>
          <p:cNvSpPr>
            <a:spLocks noGrp="1"/>
          </p:cNvSpPr>
          <p:nvPr/>
        </p:nvSpPr>
        <p:spPr>
          <a:xfrm>
            <a:off x="10711438" y="341534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4</a:t>
            </a:r>
          </a:p>
        </p:txBody>
      </p:sp>
      <p:sp>
        <p:nvSpPr>
          <p:cNvPr id="13" name="Rectangle 12">
            <a:extLst>
              <a:ext uri="{FF2B5EF4-FFF2-40B4-BE49-F238E27FC236}">
                <a16:creationId xmlns:a16="http://schemas.microsoft.com/office/drawing/2014/main" id="{4883A9BF-1786-4174-916F-1E307C446EFD}"/>
              </a:ext>
            </a:extLst>
          </p:cNvPr>
          <p:cNvSpPr>
            <a:spLocks noGrp="1"/>
          </p:cNvSpPr>
          <p:nvPr/>
        </p:nvSpPr>
        <p:spPr>
          <a:xfrm>
            <a:off x="628650" y="6153150"/>
            <a:ext cx="3333750" cy="571500"/>
          </a:xfrm>
          <a:prstGeom prst="rect">
            <a:avLst/>
          </a:prstGeom>
          <a:noFill/>
          <a:ln w="0">
            <a:noFill/>
          </a:ln>
        </p:spPr>
        <p:txBody>
          <a:bodyPr wrap="square" lIns="0" tIns="0" rIns="0" bIns="0" anchor="t">
            <a:noAutofit/>
          </a:bodyPr>
          <a:lstStyle>
            <a:defPPr>
              <a:defRPr sz="2025" b="1">
                <a:solidFill>
                  <a:srgbClr val="075CA8"/>
                </a:solidFill>
                <a:latin typeface="Arial"/>
                <a:ea typeface="Arial"/>
                <a:cs typeface="Arial"/>
              </a:defRPr>
            </a:defPPr>
            <a:lvl1pPr>
              <a:defRPr sz="2025" b="1">
                <a:solidFill>
                  <a:srgbClr val="075CA8"/>
                </a:solidFill>
                <a:latin typeface="Arial"/>
                <a:ea typeface="Arial"/>
                <a:cs typeface="Arial"/>
              </a:defRPr>
            </a:lvl1pPr>
            <a:lvl2pPr>
              <a:defRPr sz="2025" b="1">
                <a:solidFill>
                  <a:srgbClr val="075CA8"/>
                </a:solidFill>
                <a:latin typeface="Arial"/>
                <a:ea typeface="Arial"/>
                <a:cs typeface="Arial"/>
              </a:defRPr>
            </a:lvl2pPr>
            <a:lvl3pPr>
              <a:defRPr sz="2025" b="1">
                <a:solidFill>
                  <a:srgbClr val="075CA8"/>
                </a:solidFill>
                <a:latin typeface="Arial"/>
                <a:ea typeface="Arial"/>
                <a:cs typeface="Arial"/>
              </a:defRPr>
            </a:lvl3pPr>
            <a:lvl4pPr>
              <a:defRPr sz="2025" b="1">
                <a:solidFill>
                  <a:srgbClr val="075CA8"/>
                </a:solidFill>
                <a:latin typeface="Arial"/>
                <a:ea typeface="Arial"/>
                <a:cs typeface="Arial"/>
              </a:defRPr>
            </a:lvl4pPr>
            <a:lvl5pPr>
              <a:defRPr sz="2025" b="1">
                <a:solidFill>
                  <a:srgbClr val="075CA8"/>
                </a:solidFill>
                <a:latin typeface="Arial"/>
                <a:ea typeface="Arial"/>
                <a:cs typeface="Arial"/>
              </a:defRPr>
            </a:lvl5pPr>
            <a:lvl6pPr>
              <a:defRPr sz="2025" b="1">
                <a:solidFill>
                  <a:srgbClr val="075CA8"/>
                </a:solidFill>
                <a:latin typeface="Arial"/>
                <a:ea typeface="Arial"/>
                <a:cs typeface="Arial"/>
              </a:defRPr>
            </a:lvl6pPr>
            <a:lvl7pPr>
              <a:defRPr sz="2025" b="1">
                <a:solidFill>
                  <a:srgbClr val="075CA8"/>
                </a:solidFill>
                <a:latin typeface="Arial"/>
                <a:ea typeface="Arial"/>
                <a:cs typeface="Arial"/>
              </a:defRPr>
            </a:lvl7pPr>
            <a:lvl8pPr>
              <a:defRPr sz="2025" b="1">
                <a:solidFill>
                  <a:srgbClr val="075CA8"/>
                </a:solidFill>
                <a:latin typeface="Arial"/>
                <a:ea typeface="Arial"/>
                <a:cs typeface="Arial"/>
              </a:defRPr>
            </a:lvl8pPr>
            <a:lvl9pPr>
              <a:defRPr sz="2025" b="1">
                <a:solidFill>
                  <a:srgbClr val="075CA8"/>
                </a:solidFill>
                <a:latin typeface="Arial"/>
                <a:ea typeface="Arial"/>
                <a:cs typeface="Arial"/>
              </a:defRPr>
            </a:lvl9pPr>
          </a:lstStyle>
          <a:p>
            <a:pPr>
              <a:defRPr sz="2025" b="1">
                <a:solidFill>
                  <a:srgbClr val="075CA8"/>
                </a:solidFill>
                <a:latin typeface="Arial"/>
                <a:ea typeface="Arial"/>
                <a:cs typeface="Arial"/>
              </a:defRPr>
            </a:pPr>
            <a:r>
              <a:rPr sz="2025" b="1">
                <a:solidFill>
                  <a:srgbClr val="075CA8"/>
                </a:solidFill>
                <a:latin typeface="Arial"/>
                <a:ea typeface="Arial"/>
                <a:cs typeface="Arial"/>
              </a:rPr>
              <a:t>1  Add component</a:t>
            </a:r>
          </a:p>
        </p:txBody>
      </p:sp>
      <p:sp>
        <p:nvSpPr>
          <p:cNvPr id="14" name="Rectangle 13">
            <a:extLst>
              <a:ext uri="{FF2B5EF4-FFF2-40B4-BE49-F238E27FC236}">
                <a16:creationId xmlns:a16="http://schemas.microsoft.com/office/drawing/2014/main" id="{96CC91A0-7DC1-4FB9-83C7-9BF62F79E389}"/>
              </a:ext>
            </a:extLst>
          </p:cNvPr>
          <p:cNvSpPr>
            <a:spLocks noGrp="1"/>
          </p:cNvSpPr>
          <p:nvPr/>
        </p:nvSpPr>
        <p:spPr>
          <a:xfrm>
            <a:off x="628650" y="6810375"/>
            <a:ext cx="3333750" cy="99060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Choose sin/cos or polynomial.</a:t>
            </a:r>
          </a:p>
          <a:p>
            <a:pPr>
              <a:defRPr sz="1875" b="0">
                <a:solidFill>
                  <a:srgbClr val="152A40"/>
                </a:solidFill>
                <a:latin typeface="Arial"/>
                <a:ea typeface="Arial"/>
                <a:cs typeface="Arial"/>
              </a:defRPr>
            </a:pPr>
            <a:r>
              <a:rPr sz="1875" b="0">
                <a:solidFill>
                  <a:srgbClr val="152A40"/>
                </a:solidFill>
                <a:latin typeface="Arial"/>
                <a:ea typeface="Arial"/>
                <a:cs typeface="Arial"/>
              </a:rPr>
              <a:t>Use the row controls to reorder or remove.</a:t>
            </a:r>
          </a:p>
        </p:txBody>
      </p:sp>
      <p:sp>
        <p:nvSpPr>
          <p:cNvPr id="15" name="Rectangle 14">
            <a:extLst>
              <a:ext uri="{FF2B5EF4-FFF2-40B4-BE49-F238E27FC236}">
                <a16:creationId xmlns:a16="http://schemas.microsoft.com/office/drawing/2014/main" id="{76E56951-E185-4B36-BBF8-B4B3E09298BE}"/>
              </a:ext>
            </a:extLst>
          </p:cNvPr>
          <p:cNvSpPr>
            <a:spLocks noGrp="1"/>
          </p:cNvSpPr>
          <p:nvPr/>
        </p:nvSpPr>
        <p:spPr>
          <a:xfrm>
            <a:off x="4286250" y="6153150"/>
            <a:ext cx="3333750" cy="571500"/>
          </a:xfrm>
          <a:prstGeom prst="rect">
            <a:avLst/>
          </a:prstGeom>
          <a:noFill/>
          <a:ln w="0">
            <a:noFill/>
          </a:ln>
        </p:spPr>
        <p:txBody>
          <a:bodyPr wrap="square" lIns="0" tIns="0" rIns="0" bIns="0" anchor="t">
            <a:noAutofit/>
          </a:bodyPr>
          <a:lstStyle>
            <a:defPPr>
              <a:defRPr sz="2025" b="1">
                <a:solidFill>
                  <a:srgbClr val="075CA8"/>
                </a:solidFill>
                <a:latin typeface="Arial"/>
                <a:ea typeface="Arial"/>
                <a:cs typeface="Arial"/>
              </a:defRPr>
            </a:defPPr>
            <a:lvl1pPr>
              <a:defRPr sz="2025" b="1">
                <a:solidFill>
                  <a:srgbClr val="075CA8"/>
                </a:solidFill>
                <a:latin typeface="Arial"/>
                <a:ea typeface="Arial"/>
                <a:cs typeface="Arial"/>
              </a:defRPr>
            </a:lvl1pPr>
            <a:lvl2pPr>
              <a:defRPr sz="2025" b="1">
                <a:solidFill>
                  <a:srgbClr val="075CA8"/>
                </a:solidFill>
                <a:latin typeface="Arial"/>
                <a:ea typeface="Arial"/>
                <a:cs typeface="Arial"/>
              </a:defRPr>
            </a:lvl2pPr>
            <a:lvl3pPr>
              <a:defRPr sz="2025" b="1">
                <a:solidFill>
                  <a:srgbClr val="075CA8"/>
                </a:solidFill>
                <a:latin typeface="Arial"/>
                <a:ea typeface="Arial"/>
                <a:cs typeface="Arial"/>
              </a:defRPr>
            </a:lvl3pPr>
            <a:lvl4pPr>
              <a:defRPr sz="2025" b="1">
                <a:solidFill>
                  <a:srgbClr val="075CA8"/>
                </a:solidFill>
                <a:latin typeface="Arial"/>
                <a:ea typeface="Arial"/>
                <a:cs typeface="Arial"/>
              </a:defRPr>
            </a:lvl4pPr>
            <a:lvl5pPr>
              <a:defRPr sz="2025" b="1">
                <a:solidFill>
                  <a:srgbClr val="075CA8"/>
                </a:solidFill>
                <a:latin typeface="Arial"/>
                <a:ea typeface="Arial"/>
                <a:cs typeface="Arial"/>
              </a:defRPr>
            </a:lvl5pPr>
            <a:lvl6pPr>
              <a:defRPr sz="2025" b="1">
                <a:solidFill>
                  <a:srgbClr val="075CA8"/>
                </a:solidFill>
                <a:latin typeface="Arial"/>
                <a:ea typeface="Arial"/>
                <a:cs typeface="Arial"/>
              </a:defRPr>
            </a:lvl6pPr>
            <a:lvl7pPr>
              <a:defRPr sz="2025" b="1">
                <a:solidFill>
                  <a:srgbClr val="075CA8"/>
                </a:solidFill>
                <a:latin typeface="Arial"/>
                <a:ea typeface="Arial"/>
                <a:cs typeface="Arial"/>
              </a:defRPr>
            </a:lvl7pPr>
            <a:lvl8pPr>
              <a:defRPr sz="2025" b="1">
                <a:solidFill>
                  <a:srgbClr val="075CA8"/>
                </a:solidFill>
                <a:latin typeface="Arial"/>
                <a:ea typeface="Arial"/>
                <a:cs typeface="Arial"/>
              </a:defRPr>
            </a:lvl8pPr>
            <a:lvl9pPr>
              <a:defRPr sz="2025" b="1">
                <a:solidFill>
                  <a:srgbClr val="075CA8"/>
                </a:solidFill>
                <a:latin typeface="Arial"/>
                <a:ea typeface="Arial"/>
                <a:cs typeface="Arial"/>
              </a:defRPr>
            </a:lvl9pPr>
          </a:lstStyle>
          <a:p>
            <a:pPr>
              <a:defRPr sz="2025" b="1">
                <a:solidFill>
                  <a:srgbClr val="075CA8"/>
                </a:solidFill>
                <a:latin typeface="Arial"/>
                <a:ea typeface="Arial"/>
                <a:cs typeface="Arial"/>
              </a:defRPr>
            </a:pPr>
            <a:r>
              <a:rPr sz="2025" b="1">
                <a:solidFill>
                  <a:srgbClr val="075CA8"/>
                </a:solidFill>
                <a:latin typeface="Arial"/>
                <a:ea typeface="Arial"/>
                <a:cs typeface="Arial"/>
              </a:rPr>
              <a:t>2  Polynomial n</a:t>
            </a:r>
          </a:p>
        </p:txBody>
      </p:sp>
      <p:sp>
        <p:nvSpPr>
          <p:cNvPr id="16" name="Rectangle 15">
            <a:extLst>
              <a:ext uri="{FF2B5EF4-FFF2-40B4-BE49-F238E27FC236}">
                <a16:creationId xmlns:a16="http://schemas.microsoft.com/office/drawing/2014/main" id="{CC51E00E-6156-4FB6-8013-208BE0C1C9EE}"/>
              </a:ext>
            </a:extLst>
          </p:cNvPr>
          <p:cNvSpPr>
            <a:spLocks noGrp="1"/>
          </p:cNvSpPr>
          <p:nvPr/>
        </p:nvSpPr>
        <p:spPr>
          <a:xfrm>
            <a:off x="4286250" y="6810375"/>
            <a:ext cx="3333750" cy="99060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0 constant, 1 linear,</a:t>
            </a:r>
          </a:p>
          <a:p>
            <a:pPr>
              <a:defRPr sz="1875" b="0">
                <a:solidFill>
                  <a:srgbClr val="152A40"/>
                </a:solidFill>
                <a:latin typeface="Arial"/>
                <a:ea typeface="Arial"/>
                <a:cs typeface="Arial"/>
              </a:defRPr>
            </a:pPr>
            <a:r>
              <a:rPr sz="1875" b="0">
                <a:solidFill>
                  <a:srgbClr val="152A40"/>
                </a:solidFill>
                <a:latin typeface="Arial"/>
                <a:ea typeface="Arial"/>
                <a:cs typeface="Arial"/>
              </a:rPr>
              <a:t>2 quadratic, 3 cubic.</a:t>
            </a:r>
          </a:p>
        </p:txBody>
      </p:sp>
      <p:sp>
        <p:nvSpPr>
          <p:cNvPr id="17" name="Rectangle 16">
            <a:extLst>
              <a:ext uri="{FF2B5EF4-FFF2-40B4-BE49-F238E27FC236}">
                <a16:creationId xmlns:a16="http://schemas.microsoft.com/office/drawing/2014/main" id="{DF3A34FC-C7C4-47DA-BC04-39A4A10AE3B7}"/>
              </a:ext>
            </a:extLst>
          </p:cNvPr>
          <p:cNvSpPr>
            <a:spLocks noGrp="1"/>
          </p:cNvSpPr>
          <p:nvPr/>
        </p:nvSpPr>
        <p:spPr>
          <a:xfrm>
            <a:off x="7943850" y="6153150"/>
            <a:ext cx="3333750" cy="571500"/>
          </a:xfrm>
          <a:prstGeom prst="rect">
            <a:avLst/>
          </a:prstGeom>
          <a:noFill/>
          <a:ln w="0">
            <a:noFill/>
          </a:ln>
        </p:spPr>
        <p:txBody>
          <a:bodyPr wrap="square" lIns="0" tIns="0" rIns="0" bIns="0" anchor="t">
            <a:noAutofit/>
          </a:bodyPr>
          <a:lstStyle>
            <a:defPPr>
              <a:defRPr sz="2025" b="1">
                <a:solidFill>
                  <a:srgbClr val="075CA8"/>
                </a:solidFill>
                <a:latin typeface="Arial"/>
                <a:ea typeface="Arial"/>
                <a:cs typeface="Arial"/>
              </a:defRPr>
            </a:defPPr>
            <a:lvl1pPr>
              <a:defRPr sz="2025" b="1">
                <a:solidFill>
                  <a:srgbClr val="075CA8"/>
                </a:solidFill>
                <a:latin typeface="Arial"/>
                <a:ea typeface="Arial"/>
                <a:cs typeface="Arial"/>
              </a:defRPr>
            </a:lvl1pPr>
            <a:lvl2pPr>
              <a:defRPr sz="2025" b="1">
                <a:solidFill>
                  <a:srgbClr val="075CA8"/>
                </a:solidFill>
                <a:latin typeface="Arial"/>
                <a:ea typeface="Arial"/>
                <a:cs typeface="Arial"/>
              </a:defRPr>
            </a:lvl2pPr>
            <a:lvl3pPr>
              <a:defRPr sz="2025" b="1">
                <a:solidFill>
                  <a:srgbClr val="075CA8"/>
                </a:solidFill>
                <a:latin typeface="Arial"/>
                <a:ea typeface="Arial"/>
                <a:cs typeface="Arial"/>
              </a:defRPr>
            </a:lvl3pPr>
            <a:lvl4pPr>
              <a:defRPr sz="2025" b="1">
                <a:solidFill>
                  <a:srgbClr val="075CA8"/>
                </a:solidFill>
                <a:latin typeface="Arial"/>
                <a:ea typeface="Arial"/>
                <a:cs typeface="Arial"/>
              </a:defRPr>
            </a:lvl4pPr>
            <a:lvl5pPr>
              <a:defRPr sz="2025" b="1">
                <a:solidFill>
                  <a:srgbClr val="075CA8"/>
                </a:solidFill>
                <a:latin typeface="Arial"/>
                <a:ea typeface="Arial"/>
                <a:cs typeface="Arial"/>
              </a:defRPr>
            </a:lvl5pPr>
            <a:lvl6pPr>
              <a:defRPr sz="2025" b="1">
                <a:solidFill>
                  <a:srgbClr val="075CA8"/>
                </a:solidFill>
                <a:latin typeface="Arial"/>
                <a:ea typeface="Arial"/>
                <a:cs typeface="Arial"/>
              </a:defRPr>
            </a:lvl6pPr>
            <a:lvl7pPr>
              <a:defRPr sz="2025" b="1">
                <a:solidFill>
                  <a:srgbClr val="075CA8"/>
                </a:solidFill>
                <a:latin typeface="Arial"/>
                <a:ea typeface="Arial"/>
                <a:cs typeface="Arial"/>
              </a:defRPr>
            </a:lvl7pPr>
            <a:lvl8pPr>
              <a:defRPr sz="2025" b="1">
                <a:solidFill>
                  <a:srgbClr val="075CA8"/>
                </a:solidFill>
                <a:latin typeface="Arial"/>
                <a:ea typeface="Arial"/>
                <a:cs typeface="Arial"/>
              </a:defRPr>
            </a:lvl8pPr>
            <a:lvl9pPr>
              <a:defRPr sz="2025" b="1">
                <a:solidFill>
                  <a:srgbClr val="075CA8"/>
                </a:solidFill>
                <a:latin typeface="Arial"/>
                <a:ea typeface="Arial"/>
                <a:cs typeface="Arial"/>
              </a:defRPr>
            </a:lvl9pPr>
          </a:lstStyle>
          <a:p>
            <a:pPr>
              <a:defRPr sz="2025" b="1">
                <a:solidFill>
                  <a:srgbClr val="075CA8"/>
                </a:solidFill>
                <a:latin typeface="Arial"/>
                <a:ea typeface="Arial"/>
                <a:cs typeface="Arial"/>
              </a:defRPr>
            </a:pPr>
            <a:r>
              <a:rPr sz="2025" b="1">
                <a:solidFill>
                  <a:srgbClr val="075CA8"/>
                </a:solidFill>
                <a:latin typeface="Arial"/>
                <a:ea typeface="Arial"/>
                <a:cs typeface="Arial"/>
              </a:rPr>
              <a:t>3  Fit &amp; apply range</a:t>
            </a:r>
          </a:p>
        </p:txBody>
      </p:sp>
      <p:sp>
        <p:nvSpPr>
          <p:cNvPr id="18" name="Rectangle 17">
            <a:extLst>
              <a:ext uri="{FF2B5EF4-FFF2-40B4-BE49-F238E27FC236}">
                <a16:creationId xmlns:a16="http://schemas.microsoft.com/office/drawing/2014/main" id="{202A1294-E1D9-46A4-9DC7-F0388A602909}"/>
              </a:ext>
            </a:extLst>
          </p:cNvPr>
          <p:cNvSpPr>
            <a:spLocks noGrp="1"/>
          </p:cNvSpPr>
          <p:nvPr/>
        </p:nvSpPr>
        <p:spPr>
          <a:xfrm>
            <a:off x="7943850" y="6810375"/>
            <a:ext cx="3333750" cy="99060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Fit and subtract only here.</a:t>
            </a:r>
          </a:p>
          <a:p>
            <a:pPr>
              <a:defRPr sz="1875" b="0">
                <a:solidFill>
                  <a:srgbClr val="152A40"/>
                </a:solidFill>
                <a:latin typeface="Arial"/>
                <a:ea typeface="Arial"/>
                <a:cs typeface="Arial"/>
              </a:defRPr>
            </a:pPr>
            <a:r>
              <a:rPr sz="1875" b="0">
                <a:solidFill>
                  <a:srgbClr val="152A40"/>
                </a:solidFill>
                <a:latin typeface="Arial"/>
                <a:ea typeface="Arial"/>
                <a:cs typeface="Arial"/>
              </a:rPr>
              <a:t>Example: -1500:1500 km/s.</a:t>
            </a:r>
          </a:p>
        </p:txBody>
      </p:sp>
      <p:sp>
        <p:nvSpPr>
          <p:cNvPr id="19" name="Rectangle 18">
            <a:extLst>
              <a:ext uri="{FF2B5EF4-FFF2-40B4-BE49-F238E27FC236}">
                <a16:creationId xmlns:a16="http://schemas.microsoft.com/office/drawing/2014/main" id="{66A385AF-1A48-4F2F-8492-F539DB9B5B42}"/>
              </a:ext>
            </a:extLst>
          </p:cNvPr>
          <p:cNvSpPr>
            <a:spLocks noGrp="1"/>
          </p:cNvSpPr>
          <p:nvPr/>
        </p:nvSpPr>
        <p:spPr>
          <a:xfrm>
            <a:off x="11601450" y="6153150"/>
            <a:ext cx="3333750" cy="571500"/>
          </a:xfrm>
          <a:prstGeom prst="rect">
            <a:avLst/>
          </a:prstGeom>
          <a:noFill/>
          <a:ln w="0">
            <a:noFill/>
          </a:ln>
        </p:spPr>
        <p:txBody>
          <a:bodyPr wrap="square" lIns="0" tIns="0" rIns="0" bIns="0" anchor="t">
            <a:noAutofit/>
          </a:bodyPr>
          <a:lstStyle>
            <a:defPPr>
              <a:defRPr sz="2025" b="1">
                <a:solidFill>
                  <a:srgbClr val="075CA8"/>
                </a:solidFill>
                <a:latin typeface="Arial"/>
                <a:ea typeface="Arial"/>
                <a:cs typeface="Arial"/>
              </a:defRPr>
            </a:defPPr>
            <a:lvl1pPr>
              <a:defRPr sz="2025" b="1">
                <a:solidFill>
                  <a:srgbClr val="075CA8"/>
                </a:solidFill>
                <a:latin typeface="Arial"/>
                <a:ea typeface="Arial"/>
                <a:cs typeface="Arial"/>
              </a:defRPr>
            </a:lvl1pPr>
            <a:lvl2pPr>
              <a:defRPr sz="2025" b="1">
                <a:solidFill>
                  <a:srgbClr val="075CA8"/>
                </a:solidFill>
                <a:latin typeface="Arial"/>
                <a:ea typeface="Arial"/>
                <a:cs typeface="Arial"/>
              </a:defRPr>
            </a:lvl2pPr>
            <a:lvl3pPr>
              <a:defRPr sz="2025" b="1">
                <a:solidFill>
                  <a:srgbClr val="075CA8"/>
                </a:solidFill>
                <a:latin typeface="Arial"/>
                <a:ea typeface="Arial"/>
                <a:cs typeface="Arial"/>
              </a:defRPr>
            </a:lvl3pPr>
            <a:lvl4pPr>
              <a:defRPr sz="2025" b="1">
                <a:solidFill>
                  <a:srgbClr val="075CA8"/>
                </a:solidFill>
                <a:latin typeface="Arial"/>
                <a:ea typeface="Arial"/>
                <a:cs typeface="Arial"/>
              </a:defRPr>
            </a:lvl4pPr>
            <a:lvl5pPr>
              <a:defRPr sz="2025" b="1">
                <a:solidFill>
                  <a:srgbClr val="075CA8"/>
                </a:solidFill>
                <a:latin typeface="Arial"/>
                <a:ea typeface="Arial"/>
                <a:cs typeface="Arial"/>
              </a:defRPr>
            </a:lvl5pPr>
            <a:lvl6pPr>
              <a:defRPr sz="2025" b="1">
                <a:solidFill>
                  <a:srgbClr val="075CA8"/>
                </a:solidFill>
                <a:latin typeface="Arial"/>
                <a:ea typeface="Arial"/>
                <a:cs typeface="Arial"/>
              </a:defRPr>
            </a:lvl6pPr>
            <a:lvl7pPr>
              <a:defRPr sz="2025" b="1">
                <a:solidFill>
                  <a:srgbClr val="075CA8"/>
                </a:solidFill>
                <a:latin typeface="Arial"/>
                <a:ea typeface="Arial"/>
                <a:cs typeface="Arial"/>
              </a:defRPr>
            </a:lvl7pPr>
            <a:lvl8pPr>
              <a:defRPr sz="2025" b="1">
                <a:solidFill>
                  <a:srgbClr val="075CA8"/>
                </a:solidFill>
                <a:latin typeface="Arial"/>
                <a:ea typeface="Arial"/>
                <a:cs typeface="Arial"/>
              </a:defRPr>
            </a:lvl8pPr>
            <a:lvl9pPr>
              <a:defRPr sz="2025" b="1">
                <a:solidFill>
                  <a:srgbClr val="075CA8"/>
                </a:solidFill>
                <a:latin typeface="Arial"/>
                <a:ea typeface="Arial"/>
                <a:cs typeface="Arial"/>
              </a:defRPr>
            </a:lvl9pPr>
          </a:lstStyle>
          <a:p>
            <a:pPr>
              <a:defRPr sz="2025" b="1">
                <a:solidFill>
                  <a:srgbClr val="075CA8"/>
                </a:solidFill>
                <a:latin typeface="Arial"/>
                <a:ea typeface="Arial"/>
                <a:cs typeface="Arial"/>
              </a:defRPr>
            </a:pPr>
            <a:r>
              <a:rPr sz="2025" b="1">
                <a:solidFill>
                  <a:srgbClr val="075CA8"/>
                </a:solidFill>
                <a:latin typeface="Arial"/>
                <a:ea typeface="Arial"/>
                <a:cs typeface="Arial"/>
              </a:rPr>
              <a:t>4  Period MHz</a:t>
            </a:r>
          </a:p>
        </p:txBody>
      </p:sp>
      <p:sp>
        <p:nvSpPr>
          <p:cNvPr id="20" name="Rectangle 19">
            <a:extLst>
              <a:ext uri="{FF2B5EF4-FFF2-40B4-BE49-F238E27FC236}">
                <a16:creationId xmlns:a16="http://schemas.microsoft.com/office/drawing/2014/main" id="{354600A6-8146-4481-B486-115A279B658F}"/>
              </a:ext>
            </a:extLst>
          </p:cNvPr>
          <p:cNvSpPr>
            <a:spLocks noGrp="1"/>
          </p:cNvSpPr>
          <p:nvPr/>
        </p:nvSpPr>
        <p:spPr>
          <a:xfrm>
            <a:off x="11601450" y="6810375"/>
            <a:ext cx="3333750" cy="99060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auto, a fixed period,</a:t>
            </a:r>
          </a:p>
          <a:p>
            <a:pPr>
              <a:defRPr sz="1875" b="0">
                <a:solidFill>
                  <a:srgbClr val="152A40"/>
                </a:solidFill>
                <a:latin typeface="Arial"/>
                <a:ea typeface="Arial"/>
                <a:cs typeface="Arial"/>
              </a:defRPr>
            </a:pPr>
            <a:r>
              <a:rPr sz="1875" b="0">
                <a:solidFill>
                  <a:srgbClr val="152A40"/>
                </a:solidFill>
                <a:latin typeface="Arial"/>
                <a:ea typeface="Arial"/>
                <a:cs typeface="Arial"/>
              </a:rPr>
              <a:t>or a search range.</a:t>
            </a:r>
          </a:p>
        </p:txBody>
      </p:sp>
      <p:sp>
        <p:nvSpPr>
          <p:cNvPr id="21" name="Rectangle 20">
            <a:extLst>
              <a:ext uri="{FF2B5EF4-FFF2-40B4-BE49-F238E27FC236}">
                <a16:creationId xmlns:a16="http://schemas.microsoft.com/office/drawing/2014/main" id="{14764A55-596A-4F14-9DD1-B1645AC4A013}"/>
              </a:ext>
            </a:extLst>
          </p:cNvPr>
          <p:cNvSpPr>
            <a:spLocks noGrp="1"/>
          </p:cNvSpPr>
          <p:nvPr/>
        </p:nvSpPr>
        <p:spPr>
          <a:xfrm>
            <a:off x="638175" y="7781925"/>
            <a:ext cx="13811250" cy="352425"/>
          </a:xfrm>
          <a:prstGeom prst="rect">
            <a:avLst/>
          </a:prstGeom>
          <a:noFill/>
          <a:ln w="0">
            <a:noFill/>
          </a:ln>
        </p:spPr>
        <p:txBody>
          <a:bodyPr wrap="square" lIns="0" tIns="0" rIns="0" bIns="0" anchor="t">
            <a:noAutofit/>
          </a:bodyPr>
          <a:lstStyle>
            <a:defPPr>
              <a:defRPr sz="1575" b="0">
                <a:solidFill>
                  <a:srgbClr val="4B5E70"/>
                </a:solidFill>
                <a:latin typeface="Arial"/>
                <a:ea typeface="Arial"/>
                <a:cs typeface="Arial"/>
              </a:defRPr>
            </a:defPPr>
            <a:lvl1pPr>
              <a:defRPr sz="1575" b="0">
                <a:solidFill>
                  <a:srgbClr val="4B5E70"/>
                </a:solidFill>
                <a:latin typeface="Arial"/>
                <a:ea typeface="Arial"/>
                <a:cs typeface="Arial"/>
              </a:defRPr>
            </a:lvl1pPr>
            <a:lvl2pPr>
              <a:defRPr sz="1575" b="0">
                <a:solidFill>
                  <a:srgbClr val="4B5E70"/>
                </a:solidFill>
                <a:latin typeface="Arial"/>
                <a:ea typeface="Arial"/>
                <a:cs typeface="Arial"/>
              </a:defRPr>
            </a:lvl2pPr>
            <a:lvl3pPr>
              <a:defRPr sz="1575" b="0">
                <a:solidFill>
                  <a:srgbClr val="4B5E70"/>
                </a:solidFill>
                <a:latin typeface="Arial"/>
                <a:ea typeface="Arial"/>
                <a:cs typeface="Arial"/>
              </a:defRPr>
            </a:lvl3pPr>
            <a:lvl4pPr>
              <a:defRPr sz="1575" b="0">
                <a:solidFill>
                  <a:srgbClr val="4B5E70"/>
                </a:solidFill>
                <a:latin typeface="Arial"/>
                <a:ea typeface="Arial"/>
                <a:cs typeface="Arial"/>
              </a:defRPr>
            </a:lvl4pPr>
            <a:lvl5pPr>
              <a:defRPr sz="1575" b="0">
                <a:solidFill>
                  <a:srgbClr val="4B5E70"/>
                </a:solidFill>
                <a:latin typeface="Arial"/>
                <a:ea typeface="Arial"/>
                <a:cs typeface="Arial"/>
              </a:defRPr>
            </a:lvl5pPr>
            <a:lvl6pPr>
              <a:defRPr sz="1575" b="0">
                <a:solidFill>
                  <a:srgbClr val="4B5E70"/>
                </a:solidFill>
                <a:latin typeface="Arial"/>
                <a:ea typeface="Arial"/>
                <a:cs typeface="Arial"/>
              </a:defRPr>
            </a:lvl6pPr>
            <a:lvl7pPr>
              <a:defRPr sz="1575" b="0">
                <a:solidFill>
                  <a:srgbClr val="4B5E70"/>
                </a:solidFill>
                <a:latin typeface="Arial"/>
                <a:ea typeface="Arial"/>
                <a:cs typeface="Arial"/>
              </a:defRPr>
            </a:lvl7pPr>
            <a:lvl8pPr>
              <a:defRPr sz="1575" b="0">
                <a:solidFill>
                  <a:srgbClr val="4B5E70"/>
                </a:solidFill>
                <a:latin typeface="Arial"/>
                <a:ea typeface="Arial"/>
                <a:cs typeface="Arial"/>
              </a:defRPr>
            </a:lvl8pPr>
            <a:lvl9pPr>
              <a:defRPr sz="1575" b="0">
                <a:solidFill>
                  <a:srgbClr val="4B5E70"/>
                </a:solidFill>
                <a:latin typeface="Arial"/>
                <a:ea typeface="Arial"/>
                <a:cs typeface="Arial"/>
              </a:defRPr>
            </a:lvl9pPr>
          </a:lstStyle>
          <a:p>
            <a:pPr>
              <a:defRPr sz="1575" b="0">
                <a:solidFill>
                  <a:srgbClr val="4B5E70"/>
                </a:solidFill>
                <a:latin typeface="Arial"/>
                <a:ea typeface="Arial"/>
                <a:cs typeface="Arial"/>
              </a:defRPr>
            </a:pPr>
            <a:r>
              <a:rPr sz="1575" b="0">
                <a:solidFill>
                  <a:srgbClr val="4B5E70"/>
                </a:solidFill>
                <a:latin typeface="Arial"/>
                <a:ea typeface="Arial"/>
                <a:cs typeface="Arial"/>
              </a:rPr>
              <a:t>Components fit in list order. Each range also limits where that component is subtracted.</a:t>
            </a:r>
          </a:p>
        </p:txBody>
      </p:sp>
    </p:spTree>
    <p:extLst>
      <p:ext uri="{BB962C8B-B14F-4D97-AF65-F5344CB8AC3E}">
        <p14:creationId xmlns:p14="http://schemas.microsoft.com/office/powerpoint/2010/main" val="1828791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37DEC2D-8D0B-46A4-9B5D-D7F7AE564B0A}"/>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Protected H I and RFI exclusions</a:t>
            </a:r>
          </a:p>
        </p:txBody>
      </p:sp>
      <p:sp>
        <p:nvSpPr>
          <p:cNvPr id="2" name="Rectangle 1">
            <a:extLst>
              <a:ext uri="{FF2B5EF4-FFF2-40B4-BE49-F238E27FC236}">
                <a16:creationId xmlns:a16="http://schemas.microsoft.com/office/drawing/2014/main" id="{FE0D3731-DC16-4EF7-9315-63BFCFDB1F35}"/>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Masks remove fitting anchors while retaining the science channels</a:t>
            </a:r>
          </a:p>
        </p:txBody>
      </p:sp>
      <p:sp>
        <p:nvSpPr>
          <p:cNvPr id="3" name="Rectangle 2">
            <a:extLst>
              <a:ext uri="{FF2B5EF4-FFF2-40B4-BE49-F238E27FC236}">
                <a16:creationId xmlns:a16="http://schemas.microsoft.com/office/drawing/2014/main" id="{F840D46D-A5EC-4B7A-AFB7-E4AB98A8C91B}"/>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12</a:t>
            </a:r>
          </a:p>
        </p:txBody>
      </p:sp>
      <p:pic>
        <p:nvPicPr>
          <p:cNvPr id="4" name="Picture 3">
            <a:extLst>
              <a:ext uri="{FF2B5EF4-FFF2-40B4-BE49-F238E27FC236}">
                <a16:creationId xmlns:a16="http://schemas.microsoft.com/office/drawing/2014/main" id="{4C5E45BB-BEFE-4B22-B669-46F0CD95282D}"/>
              </a:ext>
            </a:extLst>
          </p:cNvPr>
          <p:cNvPicPr>
            <a:picLocks noChangeAspect="1"/>
          </p:cNvPicPr>
          <p:nvPr/>
        </p:nvPicPr>
        <p:blipFill>
          <a:blip r:embed="rId3"/>
          <a:stretch/>
        </p:blipFill>
        <p:spPr>
          <a:xfrm>
            <a:off x="523875" y="1909254"/>
            <a:ext cx="10525125" cy="5916042"/>
          </a:xfrm>
          <a:prstGeom prst="rect">
            <a:avLst/>
          </a:prstGeom>
        </p:spPr>
      </p:pic>
      <p:sp>
        <p:nvSpPr>
          <p:cNvPr id="5" name="Rectangle 4">
            <a:extLst>
              <a:ext uri="{FF2B5EF4-FFF2-40B4-BE49-F238E27FC236}">
                <a16:creationId xmlns:a16="http://schemas.microsoft.com/office/drawing/2014/main" id="{DDEDB969-0844-4288-99DB-06F73AD1BE42}"/>
              </a:ext>
            </a:extLst>
          </p:cNvPr>
          <p:cNvSpPr>
            <a:spLocks noGrp="1"/>
          </p:cNvSpPr>
          <p:nvPr/>
        </p:nvSpPr>
        <p:spPr>
          <a:xfrm>
            <a:off x="1357081" y="2360529"/>
            <a:ext cx="770719" cy="246564"/>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63BC3BEC-B424-4357-ADC8-00348A709561}"/>
              </a:ext>
            </a:extLst>
          </p:cNvPr>
          <p:cNvSpPr>
            <a:spLocks noGrp="1"/>
          </p:cNvSpPr>
          <p:nvPr/>
        </p:nvSpPr>
        <p:spPr>
          <a:xfrm>
            <a:off x="1166581" y="2141454"/>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D383DDE-9277-45F0-BDC0-13C1AF920BE0}"/>
              </a:ext>
            </a:extLst>
          </p:cNvPr>
          <p:cNvSpPr>
            <a:spLocks noGrp="1"/>
          </p:cNvSpPr>
          <p:nvPr/>
        </p:nvSpPr>
        <p:spPr>
          <a:xfrm>
            <a:off x="2802944" y="2360529"/>
            <a:ext cx="7791679" cy="240251"/>
          </a:xfrm>
          <a:prstGeom prst="rect">
            <a:avLst/>
          </a:prstGeom>
          <a:noFill/>
          <a:ln w="28575">
            <a:solidFill>
              <a:srgbClr val="D77313"/>
            </a:solidFill>
            <a:prstDash val="solid"/>
          </a:ln>
        </p:spPr>
      </p:sp>
      <p:sp>
        <p:nvSpPr>
          <p:cNvPr id="8" name="Oval 7">
            <a:extLst>
              <a:ext uri="{FF2B5EF4-FFF2-40B4-BE49-F238E27FC236}">
                <a16:creationId xmlns:a16="http://schemas.microsoft.com/office/drawing/2014/main" id="{9B50C64A-C7BB-4F9A-BD49-36222992ACAA}"/>
              </a:ext>
            </a:extLst>
          </p:cNvPr>
          <p:cNvSpPr>
            <a:spLocks noGrp="1"/>
          </p:cNvSpPr>
          <p:nvPr/>
        </p:nvSpPr>
        <p:spPr>
          <a:xfrm>
            <a:off x="2612444" y="2141454"/>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9" name="Oval 8">
            <a:extLst>
              <a:ext uri="{FF2B5EF4-FFF2-40B4-BE49-F238E27FC236}">
                <a16:creationId xmlns:a16="http://schemas.microsoft.com/office/drawing/2014/main" id="{E572D048-ED61-4769-9BF6-511CD43777BF}"/>
              </a:ext>
            </a:extLst>
          </p:cNvPr>
          <p:cNvSpPr>
            <a:spLocks noGrp="1"/>
          </p:cNvSpPr>
          <p:nvPr/>
        </p:nvSpPr>
        <p:spPr>
          <a:xfrm>
            <a:off x="6640982" y="397920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10" name="Oval 9">
            <a:extLst>
              <a:ext uri="{FF2B5EF4-FFF2-40B4-BE49-F238E27FC236}">
                <a16:creationId xmlns:a16="http://schemas.microsoft.com/office/drawing/2014/main" id="{DF9C8F30-7B95-421C-94BC-3DC5440A8676}"/>
              </a:ext>
            </a:extLst>
          </p:cNvPr>
          <p:cNvSpPr>
            <a:spLocks noGrp="1"/>
          </p:cNvSpPr>
          <p:nvPr/>
        </p:nvSpPr>
        <p:spPr>
          <a:xfrm>
            <a:off x="11334750" y="204787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1</a:t>
            </a:r>
          </a:p>
        </p:txBody>
      </p:sp>
      <p:sp>
        <p:nvSpPr>
          <p:cNvPr id="11" name="Rectangle 10">
            <a:extLst>
              <a:ext uri="{FF2B5EF4-FFF2-40B4-BE49-F238E27FC236}">
                <a16:creationId xmlns:a16="http://schemas.microsoft.com/office/drawing/2014/main" id="{7DBD08FE-7EC4-4E4F-9D47-B378E4A15E6F}"/>
              </a:ext>
            </a:extLst>
          </p:cNvPr>
          <p:cNvSpPr>
            <a:spLocks noGrp="1"/>
          </p:cNvSpPr>
          <p:nvPr/>
        </p:nvSpPr>
        <p:spPr>
          <a:xfrm>
            <a:off x="11849100" y="203835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Protect ±250 km/s</a:t>
            </a:r>
          </a:p>
        </p:txBody>
      </p:sp>
      <p:sp>
        <p:nvSpPr>
          <p:cNvPr id="12" name="Rectangle 11">
            <a:extLst>
              <a:ext uri="{FF2B5EF4-FFF2-40B4-BE49-F238E27FC236}">
                <a16:creationId xmlns:a16="http://schemas.microsoft.com/office/drawing/2014/main" id="{1FEF8902-55E5-4D32-868E-D42D394681DE}"/>
              </a:ext>
            </a:extLst>
          </p:cNvPr>
          <p:cNvSpPr>
            <a:spLocks noGrp="1"/>
          </p:cNvSpPr>
          <p:nvPr/>
        </p:nvSpPr>
        <p:spPr>
          <a:xfrm>
            <a:off x="11363325" y="275272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H I stays out of baseline fitting anchors.</a:t>
            </a:r>
          </a:p>
        </p:txBody>
      </p:sp>
      <p:sp>
        <p:nvSpPr>
          <p:cNvPr id="13" name="Oval 12">
            <a:extLst>
              <a:ext uri="{FF2B5EF4-FFF2-40B4-BE49-F238E27FC236}">
                <a16:creationId xmlns:a16="http://schemas.microsoft.com/office/drawing/2014/main" id="{D3B913A3-D103-44B6-8507-337B6028A2A6}"/>
              </a:ext>
            </a:extLst>
          </p:cNvPr>
          <p:cNvSpPr>
            <a:spLocks noGrp="1"/>
          </p:cNvSpPr>
          <p:nvPr/>
        </p:nvSpPr>
        <p:spPr>
          <a:xfrm>
            <a:off x="11334750" y="402907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4AA7F549-1CEA-4094-B9EC-899256B280E3}"/>
              </a:ext>
            </a:extLst>
          </p:cNvPr>
          <p:cNvSpPr>
            <a:spLocks noGrp="1"/>
          </p:cNvSpPr>
          <p:nvPr/>
        </p:nvSpPr>
        <p:spPr>
          <a:xfrm>
            <a:off x="11849100" y="401955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Extra exclusions</a:t>
            </a:r>
          </a:p>
        </p:txBody>
      </p:sp>
      <p:sp>
        <p:nvSpPr>
          <p:cNvPr id="15" name="Rectangle 14">
            <a:extLst>
              <a:ext uri="{FF2B5EF4-FFF2-40B4-BE49-F238E27FC236}">
                <a16:creationId xmlns:a16="http://schemas.microsoft.com/office/drawing/2014/main" id="{A50AE64A-7205-48D6-A0F6-EB21BFE7DB03}"/>
              </a:ext>
            </a:extLst>
          </p:cNvPr>
          <p:cNvSpPr>
            <a:spLocks noGrp="1"/>
          </p:cNvSpPr>
          <p:nvPr/>
        </p:nvSpPr>
        <p:spPr>
          <a:xfrm>
            <a:off x="11363325" y="473392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Enter additional baseline-only windows as JSON pairs, then Apply / refit.</a:t>
            </a:r>
          </a:p>
        </p:txBody>
      </p:sp>
      <p:sp>
        <p:nvSpPr>
          <p:cNvPr id="16" name="Oval 15">
            <a:extLst>
              <a:ext uri="{FF2B5EF4-FFF2-40B4-BE49-F238E27FC236}">
                <a16:creationId xmlns:a16="http://schemas.microsoft.com/office/drawing/2014/main" id="{86530AF2-5B8C-4837-9D3D-5630A7C834DC}"/>
              </a:ext>
            </a:extLst>
          </p:cNvPr>
          <p:cNvSpPr>
            <a:spLocks noGrp="1"/>
          </p:cNvSpPr>
          <p:nvPr/>
        </p:nvSpPr>
        <p:spPr>
          <a:xfrm>
            <a:off x="11334750" y="616267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3</a:t>
            </a:r>
          </a:p>
        </p:txBody>
      </p:sp>
      <p:sp>
        <p:nvSpPr>
          <p:cNvPr id="17" name="Rectangle 16">
            <a:extLst>
              <a:ext uri="{FF2B5EF4-FFF2-40B4-BE49-F238E27FC236}">
                <a16:creationId xmlns:a16="http://schemas.microsoft.com/office/drawing/2014/main" id="{0B25B53D-67BB-4585-8214-06D1CBD5A4BB}"/>
              </a:ext>
            </a:extLst>
          </p:cNvPr>
          <p:cNvSpPr>
            <a:spLocks noGrp="1"/>
          </p:cNvSpPr>
          <p:nvPr/>
        </p:nvSpPr>
        <p:spPr>
          <a:xfrm>
            <a:off x="11849100" y="615315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Inspect the masks</a:t>
            </a:r>
          </a:p>
        </p:txBody>
      </p:sp>
      <p:sp>
        <p:nvSpPr>
          <p:cNvPr id="18" name="Rectangle 17">
            <a:extLst>
              <a:ext uri="{FF2B5EF4-FFF2-40B4-BE49-F238E27FC236}">
                <a16:creationId xmlns:a16="http://schemas.microsoft.com/office/drawing/2014/main" id="{19D212B7-8F59-4C81-A4E3-2B42A5C9701A}"/>
              </a:ext>
            </a:extLst>
          </p:cNvPr>
          <p:cNvSpPr>
            <a:spLocks noGrp="1"/>
          </p:cNvSpPr>
          <p:nvPr/>
        </p:nvSpPr>
        <p:spPr>
          <a:xfrm>
            <a:off x="11363325" y="686752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Catalog bands are priors. Only detected features trigger automatic masks.</a:t>
            </a:r>
          </a:p>
        </p:txBody>
      </p:sp>
    </p:spTree>
    <p:extLst>
      <p:ext uri="{BB962C8B-B14F-4D97-AF65-F5344CB8AC3E}">
        <p14:creationId xmlns:p14="http://schemas.microsoft.com/office/powerpoint/2010/main" val="496888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43FEE87-6582-4555-B960-C2058841D0F2}"/>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Baseline inspection before batch processing</a:t>
            </a:r>
          </a:p>
        </p:txBody>
      </p:sp>
      <p:sp>
        <p:nvSpPr>
          <p:cNvPr id="2" name="Rectangle 1">
            <a:extLst>
              <a:ext uri="{FF2B5EF4-FFF2-40B4-BE49-F238E27FC236}">
                <a16:creationId xmlns:a16="http://schemas.microsoft.com/office/drawing/2014/main" id="{D74FA794-F7E7-4DA8-BA07-1947FC1DF681}"/>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Structured residuals or a period-limit warning need review</a:t>
            </a:r>
          </a:p>
        </p:txBody>
      </p:sp>
      <p:sp>
        <p:nvSpPr>
          <p:cNvPr id="3" name="Rectangle 2">
            <a:extLst>
              <a:ext uri="{FF2B5EF4-FFF2-40B4-BE49-F238E27FC236}">
                <a16:creationId xmlns:a16="http://schemas.microsoft.com/office/drawing/2014/main" id="{C9F1E47E-8ECE-4E48-928B-8B500C0BCF03}"/>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13</a:t>
            </a:r>
          </a:p>
        </p:txBody>
      </p:sp>
      <p:pic>
        <p:nvPicPr>
          <p:cNvPr id="4" name="Picture 3">
            <a:extLst>
              <a:ext uri="{FF2B5EF4-FFF2-40B4-BE49-F238E27FC236}">
                <a16:creationId xmlns:a16="http://schemas.microsoft.com/office/drawing/2014/main" id="{D422B44E-7D5E-4089-9CDC-62323346A42B}"/>
              </a:ext>
            </a:extLst>
          </p:cNvPr>
          <p:cNvPicPr>
            <a:picLocks noChangeAspect="1"/>
          </p:cNvPicPr>
          <p:nvPr/>
        </p:nvPicPr>
        <p:blipFill>
          <a:blip r:embed="rId3"/>
          <a:stretch/>
        </p:blipFill>
        <p:spPr>
          <a:xfrm>
            <a:off x="523875" y="1909254"/>
            <a:ext cx="10525125" cy="5916042"/>
          </a:xfrm>
          <a:prstGeom prst="rect">
            <a:avLst/>
          </a:prstGeom>
        </p:spPr>
      </p:pic>
      <p:sp>
        <p:nvSpPr>
          <p:cNvPr id="5" name="Rectangle 4">
            <a:extLst>
              <a:ext uri="{FF2B5EF4-FFF2-40B4-BE49-F238E27FC236}">
                <a16:creationId xmlns:a16="http://schemas.microsoft.com/office/drawing/2014/main" id="{24157284-F6D1-4F50-95B4-DF4645B2D66D}"/>
              </a:ext>
            </a:extLst>
          </p:cNvPr>
          <p:cNvSpPr>
            <a:spLocks noGrp="1"/>
          </p:cNvSpPr>
          <p:nvPr/>
        </p:nvSpPr>
        <p:spPr>
          <a:xfrm>
            <a:off x="7651952" y="3522270"/>
            <a:ext cx="2728001" cy="259192"/>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1194BF29-2A47-426D-BF3A-A0AEFE7C14F9}"/>
              </a:ext>
            </a:extLst>
          </p:cNvPr>
          <p:cNvSpPr>
            <a:spLocks noGrp="1"/>
          </p:cNvSpPr>
          <p:nvPr/>
        </p:nvSpPr>
        <p:spPr>
          <a:xfrm>
            <a:off x="7461452" y="3303195"/>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Oval 6">
            <a:extLst>
              <a:ext uri="{FF2B5EF4-FFF2-40B4-BE49-F238E27FC236}">
                <a16:creationId xmlns:a16="http://schemas.microsoft.com/office/drawing/2014/main" id="{2F63C437-214A-4110-9D8B-BAC9EA8537CB}"/>
              </a:ext>
            </a:extLst>
          </p:cNvPr>
          <p:cNvSpPr>
            <a:spLocks noGrp="1"/>
          </p:cNvSpPr>
          <p:nvPr/>
        </p:nvSpPr>
        <p:spPr>
          <a:xfrm>
            <a:off x="8370967" y="613221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8" name="Rectangle 7">
            <a:extLst>
              <a:ext uri="{FF2B5EF4-FFF2-40B4-BE49-F238E27FC236}">
                <a16:creationId xmlns:a16="http://schemas.microsoft.com/office/drawing/2014/main" id="{AB054FCD-E5F5-4AA6-891C-5647149BAC39}"/>
              </a:ext>
            </a:extLst>
          </p:cNvPr>
          <p:cNvSpPr>
            <a:spLocks noGrp="1"/>
          </p:cNvSpPr>
          <p:nvPr/>
        </p:nvSpPr>
        <p:spPr>
          <a:xfrm>
            <a:off x="5934595" y="1918562"/>
            <a:ext cx="543422" cy="240251"/>
          </a:xfrm>
          <a:prstGeom prst="rect">
            <a:avLst/>
          </a:prstGeom>
          <a:noFill/>
          <a:ln w="28575">
            <a:solidFill>
              <a:srgbClr val="D77313"/>
            </a:solidFill>
            <a:prstDash val="solid"/>
          </a:ln>
        </p:spPr>
      </p:sp>
      <p:sp>
        <p:nvSpPr>
          <p:cNvPr id="9" name="Oval 8">
            <a:extLst>
              <a:ext uri="{FF2B5EF4-FFF2-40B4-BE49-F238E27FC236}">
                <a16:creationId xmlns:a16="http://schemas.microsoft.com/office/drawing/2014/main" id="{C597D01F-948A-4EAF-A58E-2A935F21E183}"/>
              </a:ext>
            </a:extLst>
          </p:cNvPr>
          <p:cNvSpPr>
            <a:spLocks noGrp="1"/>
          </p:cNvSpPr>
          <p:nvPr/>
        </p:nvSpPr>
        <p:spPr>
          <a:xfrm>
            <a:off x="5744095" y="169948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10" name="Oval 9">
            <a:extLst>
              <a:ext uri="{FF2B5EF4-FFF2-40B4-BE49-F238E27FC236}">
                <a16:creationId xmlns:a16="http://schemas.microsoft.com/office/drawing/2014/main" id="{6A416821-7BC4-4EE1-9937-C02476CAA23A}"/>
              </a:ext>
            </a:extLst>
          </p:cNvPr>
          <p:cNvSpPr>
            <a:spLocks noGrp="1"/>
          </p:cNvSpPr>
          <p:nvPr/>
        </p:nvSpPr>
        <p:spPr>
          <a:xfrm>
            <a:off x="11334750" y="201930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1</a:t>
            </a:r>
          </a:p>
        </p:txBody>
      </p:sp>
      <p:sp>
        <p:nvSpPr>
          <p:cNvPr id="11" name="Rectangle 10">
            <a:extLst>
              <a:ext uri="{FF2B5EF4-FFF2-40B4-BE49-F238E27FC236}">
                <a16:creationId xmlns:a16="http://schemas.microsoft.com/office/drawing/2014/main" id="{F116338B-779E-4D42-8DED-76A466CFA2E1}"/>
              </a:ext>
            </a:extLst>
          </p:cNvPr>
          <p:cNvSpPr>
            <a:spLocks noGrp="1"/>
          </p:cNvSpPr>
          <p:nvPr/>
        </p:nvSpPr>
        <p:spPr>
          <a:xfrm>
            <a:off x="11849100" y="200977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Read the warning</a:t>
            </a:r>
          </a:p>
        </p:txBody>
      </p:sp>
      <p:sp>
        <p:nvSpPr>
          <p:cNvPr id="12" name="Rectangle 11">
            <a:extLst>
              <a:ext uri="{FF2B5EF4-FFF2-40B4-BE49-F238E27FC236}">
                <a16:creationId xmlns:a16="http://schemas.microsoft.com/office/drawing/2014/main" id="{57FC0E99-4626-471D-8EEE-7540787FB77A}"/>
              </a:ext>
            </a:extLst>
          </p:cNvPr>
          <p:cNvSpPr>
            <a:spLocks noGrp="1"/>
          </p:cNvSpPr>
          <p:nvPr/>
        </p:nvSpPr>
        <p:spPr>
          <a:xfrm>
            <a:off x="11363325" y="272415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period at limit means the search reached a boundary. Inspect the model choice.</a:t>
            </a:r>
          </a:p>
        </p:txBody>
      </p:sp>
      <p:sp>
        <p:nvSpPr>
          <p:cNvPr id="13" name="Oval 12">
            <a:extLst>
              <a:ext uri="{FF2B5EF4-FFF2-40B4-BE49-F238E27FC236}">
                <a16:creationId xmlns:a16="http://schemas.microsoft.com/office/drawing/2014/main" id="{E554C0BA-409A-4BA7-871B-63AD987EE233}"/>
              </a:ext>
            </a:extLst>
          </p:cNvPr>
          <p:cNvSpPr>
            <a:spLocks noGrp="1"/>
          </p:cNvSpPr>
          <p:nvPr/>
        </p:nvSpPr>
        <p:spPr>
          <a:xfrm>
            <a:off x="11334750" y="416242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6EF2ADA2-CD87-4D45-AA2A-862605CD78ED}"/>
              </a:ext>
            </a:extLst>
          </p:cNvPr>
          <p:cNvSpPr>
            <a:spLocks noGrp="1"/>
          </p:cNvSpPr>
          <p:nvPr/>
        </p:nvSpPr>
        <p:spPr>
          <a:xfrm>
            <a:off x="11849100" y="415290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Inspect residuals</a:t>
            </a:r>
          </a:p>
        </p:txBody>
      </p:sp>
      <p:sp>
        <p:nvSpPr>
          <p:cNvPr id="15" name="Rectangle 14">
            <a:extLst>
              <a:ext uri="{FF2B5EF4-FFF2-40B4-BE49-F238E27FC236}">
                <a16:creationId xmlns:a16="http://schemas.microsoft.com/office/drawing/2014/main" id="{21D5458E-E874-4F5C-9310-1421C45B18B4}"/>
              </a:ext>
            </a:extLst>
          </p:cNvPr>
          <p:cNvSpPr>
            <a:spLocks noGrp="1"/>
          </p:cNvSpPr>
          <p:nvPr/>
        </p:nvSpPr>
        <p:spPr>
          <a:xfrm>
            <a:off x="11363325" y="486727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Look for coherent ripples and offsets in clean channels. Noise alone is expected.</a:t>
            </a:r>
          </a:p>
        </p:txBody>
      </p:sp>
      <p:sp>
        <p:nvSpPr>
          <p:cNvPr id="16" name="Oval 15">
            <a:extLst>
              <a:ext uri="{FF2B5EF4-FFF2-40B4-BE49-F238E27FC236}">
                <a16:creationId xmlns:a16="http://schemas.microsoft.com/office/drawing/2014/main" id="{9C44D93E-E34D-4C82-B7E7-7F13548EE8E4}"/>
              </a:ext>
            </a:extLst>
          </p:cNvPr>
          <p:cNvSpPr>
            <a:spLocks noGrp="1"/>
          </p:cNvSpPr>
          <p:nvPr/>
        </p:nvSpPr>
        <p:spPr>
          <a:xfrm>
            <a:off x="11334750" y="626745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3</a:t>
            </a:r>
          </a:p>
        </p:txBody>
      </p:sp>
      <p:sp>
        <p:nvSpPr>
          <p:cNvPr id="17" name="Rectangle 16">
            <a:extLst>
              <a:ext uri="{FF2B5EF4-FFF2-40B4-BE49-F238E27FC236}">
                <a16:creationId xmlns:a16="http://schemas.microsoft.com/office/drawing/2014/main" id="{336BA38C-DF7E-489B-9523-C32C246CB77A}"/>
              </a:ext>
            </a:extLst>
          </p:cNvPr>
          <p:cNvSpPr>
            <a:spLocks noGrp="1"/>
          </p:cNvSpPr>
          <p:nvPr/>
        </p:nvSpPr>
        <p:spPr>
          <a:xfrm>
            <a:off x="11849100" y="625792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Compare AA and BB</a:t>
            </a:r>
          </a:p>
        </p:txBody>
      </p:sp>
      <p:sp>
        <p:nvSpPr>
          <p:cNvPr id="18" name="Rectangle 17">
            <a:extLst>
              <a:ext uri="{FF2B5EF4-FFF2-40B4-BE49-F238E27FC236}">
                <a16:creationId xmlns:a16="http://schemas.microsoft.com/office/drawing/2014/main" id="{77F23F91-7FDE-4AAD-A189-1DA46598A6FC}"/>
              </a:ext>
            </a:extLst>
          </p:cNvPr>
          <p:cNvSpPr>
            <a:spLocks noGrp="1"/>
          </p:cNvSpPr>
          <p:nvPr/>
        </p:nvSpPr>
        <p:spPr>
          <a:xfrm>
            <a:off x="11363325" y="697230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A good-looking average can hide a problem in one polarization.</a:t>
            </a:r>
          </a:p>
        </p:txBody>
      </p:sp>
    </p:spTree>
    <p:extLst>
      <p:ext uri="{BB962C8B-B14F-4D97-AF65-F5344CB8AC3E}">
        <p14:creationId xmlns:p14="http://schemas.microsoft.com/office/powerpoint/2010/main" val="1012017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2CA6526-5F5B-4972-B51F-C7621DD45205}"/>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Table and the output velocity range</a:t>
            </a:r>
          </a:p>
        </p:txBody>
      </p:sp>
      <p:sp>
        <p:nvSpPr>
          <p:cNvPr id="2" name="Rectangle 1">
            <a:extLst>
              <a:ext uri="{FF2B5EF4-FFF2-40B4-BE49-F238E27FC236}">
                <a16:creationId xmlns:a16="http://schemas.microsoft.com/office/drawing/2014/main" id="{C9E5620D-4CFF-46C7-8A27-5EAFD06A7D4E}"/>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14</a:t>
            </a:r>
          </a:p>
        </p:txBody>
      </p:sp>
      <p:sp>
        <p:nvSpPr>
          <p:cNvPr id="3" name="Rectangle 2">
            <a:extLst>
              <a:ext uri="{FF2B5EF4-FFF2-40B4-BE49-F238E27FC236}">
                <a16:creationId xmlns:a16="http://schemas.microsoft.com/office/drawing/2014/main" id="{F92A4636-BAA9-425A-91FF-8119BEB5F76D}"/>
              </a:ext>
            </a:extLst>
          </p:cNvPr>
          <p:cNvSpPr>
            <a:spLocks noGrp="1"/>
          </p:cNvSpPr>
          <p:nvPr/>
        </p:nvSpPr>
        <p:spPr>
          <a:xfrm>
            <a:off x="628650" y="1152525"/>
            <a:ext cx="13811250" cy="552450"/>
          </a:xfrm>
          <a:prstGeom prst="rect">
            <a:avLst/>
          </a:prstGeom>
          <a:noFill/>
          <a:ln w="0">
            <a:noFill/>
          </a:ln>
        </p:spPr>
        <p:txBody>
          <a:bodyPr wrap="square" lIns="0" tIns="0" rIns="0" bIns="0" anchor="t">
            <a:noAutofit/>
          </a:bodyPr>
          <a:lstStyle>
            <a:defPPr>
              <a:defRPr sz="2100" b="0">
                <a:solidFill>
                  <a:srgbClr val="075CA8"/>
                </a:solidFill>
                <a:latin typeface="Menlo"/>
                <a:ea typeface="Menlo"/>
                <a:cs typeface="Menlo"/>
              </a:defRPr>
            </a:defPPr>
            <a:lvl1pPr>
              <a:defRPr sz="2100" b="0">
                <a:solidFill>
                  <a:srgbClr val="075CA8"/>
                </a:solidFill>
                <a:latin typeface="Menlo"/>
                <a:ea typeface="Menlo"/>
                <a:cs typeface="Menlo"/>
              </a:defRPr>
            </a:lvl1pPr>
            <a:lvl2pPr>
              <a:defRPr sz="2100" b="0">
                <a:solidFill>
                  <a:srgbClr val="075CA8"/>
                </a:solidFill>
                <a:latin typeface="Menlo"/>
                <a:ea typeface="Menlo"/>
                <a:cs typeface="Menlo"/>
              </a:defRPr>
            </a:lvl2pPr>
            <a:lvl3pPr>
              <a:defRPr sz="2100" b="0">
                <a:solidFill>
                  <a:srgbClr val="075CA8"/>
                </a:solidFill>
                <a:latin typeface="Menlo"/>
                <a:ea typeface="Menlo"/>
                <a:cs typeface="Menlo"/>
              </a:defRPr>
            </a:lvl3pPr>
            <a:lvl4pPr>
              <a:defRPr sz="2100" b="0">
                <a:solidFill>
                  <a:srgbClr val="075CA8"/>
                </a:solidFill>
                <a:latin typeface="Menlo"/>
                <a:ea typeface="Menlo"/>
                <a:cs typeface="Menlo"/>
              </a:defRPr>
            </a:lvl4pPr>
            <a:lvl5pPr>
              <a:defRPr sz="2100" b="0">
                <a:solidFill>
                  <a:srgbClr val="075CA8"/>
                </a:solidFill>
                <a:latin typeface="Menlo"/>
                <a:ea typeface="Menlo"/>
                <a:cs typeface="Menlo"/>
              </a:defRPr>
            </a:lvl5pPr>
            <a:lvl6pPr>
              <a:defRPr sz="2100" b="0">
                <a:solidFill>
                  <a:srgbClr val="075CA8"/>
                </a:solidFill>
                <a:latin typeface="Menlo"/>
                <a:ea typeface="Menlo"/>
                <a:cs typeface="Menlo"/>
              </a:defRPr>
            </a:lvl6pPr>
            <a:lvl7pPr>
              <a:defRPr sz="2100" b="0">
                <a:solidFill>
                  <a:srgbClr val="075CA8"/>
                </a:solidFill>
                <a:latin typeface="Menlo"/>
                <a:ea typeface="Menlo"/>
                <a:cs typeface="Menlo"/>
              </a:defRPr>
            </a:lvl7pPr>
            <a:lvl8pPr>
              <a:defRPr sz="2100" b="0">
                <a:solidFill>
                  <a:srgbClr val="075CA8"/>
                </a:solidFill>
                <a:latin typeface="Menlo"/>
                <a:ea typeface="Menlo"/>
                <a:cs typeface="Menlo"/>
              </a:defRPr>
            </a:lvl8pPr>
            <a:lvl9pPr>
              <a:defRPr sz="2100" b="0">
                <a:solidFill>
                  <a:srgbClr val="075CA8"/>
                </a:solidFill>
                <a:latin typeface="Menlo"/>
                <a:ea typeface="Menlo"/>
                <a:cs typeface="Menlo"/>
              </a:defRPr>
            </a:lvl9pPr>
          </a:lstStyle>
          <a:p>
            <a:pPr>
              <a:defRPr sz="2100" b="0">
                <a:solidFill>
                  <a:srgbClr val="075CA8"/>
                </a:solidFill>
                <a:latin typeface="Menlo"/>
                <a:ea typeface="Menlo"/>
                <a:cs typeface="Menlo"/>
              </a:defRPr>
            </a:pPr>
            <a:r>
              <a:rPr sz="2100" b="0">
                <a:solidFill>
                  <a:srgbClr val="075CA8"/>
                </a:solidFill>
                <a:latin typeface="Menlo"/>
                <a:ea typeface="Menlo"/>
                <a:cs typeface="Menlo"/>
              </a:rPr>
              <a:t>fish&gt; set velocity_range_kms [-250,250]</a:t>
            </a:r>
          </a:p>
        </p:txBody>
      </p:sp>
      <p:pic>
        <p:nvPicPr>
          <p:cNvPr id="4" name="Picture 3">
            <a:extLst>
              <a:ext uri="{FF2B5EF4-FFF2-40B4-BE49-F238E27FC236}">
                <a16:creationId xmlns:a16="http://schemas.microsoft.com/office/drawing/2014/main" id="{80C8BF3A-6074-43C2-B868-47A884FE9422}"/>
              </a:ext>
            </a:extLst>
          </p:cNvPr>
          <p:cNvPicPr>
            <a:picLocks noChangeAspect="1"/>
          </p:cNvPicPr>
          <p:nvPr/>
        </p:nvPicPr>
        <p:blipFill>
          <a:blip r:embed="rId3"/>
          <a:stretch/>
        </p:blipFill>
        <p:spPr>
          <a:xfrm>
            <a:off x="523875" y="1909254"/>
            <a:ext cx="10525125" cy="5916042"/>
          </a:xfrm>
          <a:prstGeom prst="rect">
            <a:avLst/>
          </a:prstGeom>
        </p:spPr>
      </p:pic>
      <p:sp>
        <p:nvSpPr>
          <p:cNvPr id="5" name="Rectangle 4">
            <a:extLst>
              <a:ext uri="{FF2B5EF4-FFF2-40B4-BE49-F238E27FC236}">
                <a16:creationId xmlns:a16="http://schemas.microsoft.com/office/drawing/2014/main" id="{4BFEC66F-1206-4678-B319-66C369F665C3}"/>
              </a:ext>
            </a:extLst>
          </p:cNvPr>
          <p:cNvSpPr>
            <a:spLocks noGrp="1"/>
          </p:cNvSpPr>
          <p:nvPr/>
        </p:nvSpPr>
        <p:spPr>
          <a:xfrm>
            <a:off x="820407" y="1918562"/>
            <a:ext cx="1168490" cy="240251"/>
          </a:xfrm>
          <a:prstGeom prst="rect">
            <a:avLst/>
          </a:prstGeom>
          <a:noFill/>
          <a:ln w="28575">
            <a:solidFill>
              <a:srgbClr val="D77313"/>
            </a:solidFill>
            <a:prstDash val="solid"/>
          </a:ln>
        </p:spPr>
      </p:sp>
      <p:sp>
        <p:nvSpPr>
          <p:cNvPr id="6" name="Oval 5">
            <a:extLst>
              <a:ext uri="{FF2B5EF4-FFF2-40B4-BE49-F238E27FC236}">
                <a16:creationId xmlns:a16="http://schemas.microsoft.com/office/drawing/2014/main" id="{FF8B7947-2E30-47E7-8829-ABF503D1A1DD}"/>
              </a:ext>
            </a:extLst>
          </p:cNvPr>
          <p:cNvSpPr>
            <a:spLocks noGrp="1"/>
          </p:cNvSpPr>
          <p:nvPr/>
        </p:nvSpPr>
        <p:spPr>
          <a:xfrm>
            <a:off x="629907" y="169948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30A43FB7-E0F1-4ECB-855A-7731CD51784D}"/>
              </a:ext>
            </a:extLst>
          </p:cNvPr>
          <p:cNvSpPr>
            <a:spLocks noGrp="1"/>
          </p:cNvSpPr>
          <p:nvPr/>
        </p:nvSpPr>
        <p:spPr>
          <a:xfrm>
            <a:off x="1123470" y="2354215"/>
            <a:ext cx="537108" cy="246564"/>
          </a:xfrm>
          <a:prstGeom prst="rect">
            <a:avLst/>
          </a:prstGeom>
          <a:noFill/>
          <a:ln w="28575">
            <a:solidFill>
              <a:srgbClr val="D77313"/>
            </a:solidFill>
            <a:prstDash val="solid"/>
          </a:ln>
        </p:spPr>
      </p:sp>
      <p:sp>
        <p:nvSpPr>
          <p:cNvPr id="8" name="Oval 7">
            <a:extLst>
              <a:ext uri="{FF2B5EF4-FFF2-40B4-BE49-F238E27FC236}">
                <a16:creationId xmlns:a16="http://schemas.microsoft.com/office/drawing/2014/main" id="{197A8719-5585-474B-8EAF-9D23A249A8B2}"/>
              </a:ext>
            </a:extLst>
          </p:cNvPr>
          <p:cNvSpPr>
            <a:spLocks noGrp="1"/>
          </p:cNvSpPr>
          <p:nvPr/>
        </p:nvSpPr>
        <p:spPr>
          <a:xfrm>
            <a:off x="932970" y="2135140"/>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B138E64D-2973-4C24-BCAF-25C60DF0D8E7}"/>
              </a:ext>
            </a:extLst>
          </p:cNvPr>
          <p:cNvSpPr>
            <a:spLocks noGrp="1"/>
          </p:cNvSpPr>
          <p:nvPr/>
        </p:nvSpPr>
        <p:spPr>
          <a:xfrm>
            <a:off x="2752434" y="2120604"/>
            <a:ext cx="467656" cy="246564"/>
          </a:xfrm>
          <a:prstGeom prst="rect">
            <a:avLst/>
          </a:prstGeom>
          <a:noFill/>
          <a:ln w="28575">
            <a:solidFill>
              <a:srgbClr val="D77313"/>
            </a:solidFill>
            <a:prstDash val="solid"/>
          </a:ln>
        </p:spPr>
      </p:sp>
      <p:sp>
        <p:nvSpPr>
          <p:cNvPr id="10" name="Oval 9">
            <a:extLst>
              <a:ext uri="{FF2B5EF4-FFF2-40B4-BE49-F238E27FC236}">
                <a16:creationId xmlns:a16="http://schemas.microsoft.com/office/drawing/2014/main" id="{13EC7916-1DE7-4699-B23D-EA21D6FFB0FD}"/>
              </a:ext>
            </a:extLst>
          </p:cNvPr>
          <p:cNvSpPr>
            <a:spLocks noGrp="1"/>
          </p:cNvSpPr>
          <p:nvPr/>
        </p:nvSpPr>
        <p:spPr>
          <a:xfrm>
            <a:off x="2561934" y="1901529"/>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11" name="Oval 10">
            <a:extLst>
              <a:ext uri="{FF2B5EF4-FFF2-40B4-BE49-F238E27FC236}">
                <a16:creationId xmlns:a16="http://schemas.microsoft.com/office/drawing/2014/main" id="{2EEEDD39-112D-4469-A41D-F17EF1B82A9B}"/>
              </a:ext>
            </a:extLst>
          </p:cNvPr>
          <p:cNvSpPr>
            <a:spLocks noGrp="1"/>
          </p:cNvSpPr>
          <p:nvPr/>
        </p:nvSpPr>
        <p:spPr>
          <a:xfrm>
            <a:off x="11334750" y="200025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1</a:t>
            </a:r>
          </a:p>
        </p:txBody>
      </p:sp>
      <p:sp>
        <p:nvSpPr>
          <p:cNvPr id="12" name="Rectangle 11">
            <a:extLst>
              <a:ext uri="{FF2B5EF4-FFF2-40B4-BE49-F238E27FC236}">
                <a16:creationId xmlns:a16="http://schemas.microsoft.com/office/drawing/2014/main" id="{2B27629E-216C-4355-8717-3577F97CE371}"/>
              </a:ext>
            </a:extLst>
          </p:cNvPr>
          <p:cNvSpPr>
            <a:spLocks noGrp="1"/>
          </p:cNvSpPr>
          <p:nvPr/>
        </p:nvSpPr>
        <p:spPr>
          <a:xfrm>
            <a:off x="11849100" y="199072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Choose Table</a:t>
            </a:r>
          </a:p>
        </p:txBody>
      </p:sp>
      <p:sp>
        <p:nvSpPr>
          <p:cNvPr id="13" name="Rectangle 12">
            <a:extLst>
              <a:ext uri="{FF2B5EF4-FFF2-40B4-BE49-F238E27FC236}">
                <a16:creationId xmlns:a16="http://schemas.microsoft.com/office/drawing/2014/main" id="{73892863-4C37-4C95-9B9A-83CD2CE6D35C}"/>
              </a:ext>
            </a:extLst>
          </p:cNvPr>
          <p:cNvSpPr>
            <a:spLocks noGrp="1"/>
          </p:cNvSpPr>
          <p:nvPr/>
        </p:nvSpPr>
        <p:spPr>
          <a:xfrm>
            <a:off x="11363325" y="270510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Set the range in the terminal, then click Refresh in the viewer.</a:t>
            </a:r>
          </a:p>
        </p:txBody>
      </p:sp>
      <p:sp>
        <p:nvSpPr>
          <p:cNvPr id="14" name="Oval 13">
            <a:extLst>
              <a:ext uri="{FF2B5EF4-FFF2-40B4-BE49-F238E27FC236}">
                <a16:creationId xmlns:a16="http://schemas.microsoft.com/office/drawing/2014/main" id="{736C6CFD-4C56-491E-8F8E-9A6187D995D4}"/>
              </a:ext>
            </a:extLst>
          </p:cNvPr>
          <p:cNvSpPr>
            <a:spLocks noGrp="1"/>
          </p:cNvSpPr>
          <p:nvPr/>
        </p:nvSpPr>
        <p:spPr>
          <a:xfrm>
            <a:off x="11334750" y="413385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2</a:t>
            </a:r>
          </a:p>
        </p:txBody>
      </p:sp>
      <p:sp>
        <p:nvSpPr>
          <p:cNvPr id="15" name="Rectangle 14">
            <a:extLst>
              <a:ext uri="{FF2B5EF4-FFF2-40B4-BE49-F238E27FC236}">
                <a16:creationId xmlns:a16="http://schemas.microsoft.com/office/drawing/2014/main" id="{B1591609-F346-4259-990D-BD0A963EB483}"/>
              </a:ext>
            </a:extLst>
          </p:cNvPr>
          <p:cNvSpPr>
            <a:spLocks noGrp="1"/>
          </p:cNvSpPr>
          <p:nvPr/>
        </p:nvSpPr>
        <p:spPr>
          <a:xfrm>
            <a:off x="11849100" y="412432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Choose resampling</a:t>
            </a:r>
          </a:p>
        </p:txBody>
      </p:sp>
      <p:sp>
        <p:nvSpPr>
          <p:cNvPr id="16" name="Rectangle 15">
            <a:extLst>
              <a:ext uri="{FF2B5EF4-FFF2-40B4-BE49-F238E27FC236}">
                <a16:creationId xmlns:a16="http://schemas.microsoft.com/office/drawing/2014/main" id="{9EC91664-D8C1-4564-BD5D-0103A31ECD1D}"/>
              </a:ext>
            </a:extLst>
          </p:cNvPr>
          <p:cNvSpPr>
            <a:spLocks noGrp="1"/>
          </p:cNvSpPr>
          <p:nvPr/>
        </p:nvSpPr>
        <p:spPr>
          <a:xfrm>
            <a:off x="11363325" y="483870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rebin with n_b = 2.</a:t>
            </a:r>
          </a:p>
          <a:p>
            <a:pPr>
              <a:defRPr sz="1875" b="0">
                <a:solidFill>
                  <a:srgbClr val="152A40"/>
                </a:solidFill>
                <a:latin typeface="Arial"/>
                <a:ea typeface="Arial"/>
                <a:cs typeface="Arial"/>
              </a:defRPr>
            </a:pPr>
            <a:r>
              <a:rPr sz="1875" b="0">
                <a:solidFill>
                  <a:srgbClr val="152A40"/>
                </a:solidFill>
                <a:latin typeface="Arial"/>
                <a:ea typeface="Arial"/>
                <a:cs typeface="Arial"/>
              </a:rPr>
              <a:t>Gaussian is optional, with n_g as final FWHM.</a:t>
            </a:r>
          </a:p>
        </p:txBody>
      </p:sp>
      <p:sp>
        <p:nvSpPr>
          <p:cNvPr id="17" name="Oval 16">
            <a:extLst>
              <a:ext uri="{FF2B5EF4-FFF2-40B4-BE49-F238E27FC236}">
                <a16:creationId xmlns:a16="http://schemas.microsoft.com/office/drawing/2014/main" id="{F397824A-998C-499A-A21F-B0F00D94AFBC}"/>
              </a:ext>
            </a:extLst>
          </p:cNvPr>
          <p:cNvSpPr>
            <a:spLocks noGrp="1"/>
          </p:cNvSpPr>
          <p:nvPr/>
        </p:nvSpPr>
        <p:spPr>
          <a:xfrm>
            <a:off x="11334750" y="621030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01C1B06C-54AD-4936-83A3-89181E1FF6B9}"/>
              </a:ext>
            </a:extLst>
          </p:cNvPr>
          <p:cNvSpPr>
            <a:spLocks noGrp="1"/>
          </p:cNvSpPr>
          <p:nvPr/>
        </p:nvSpPr>
        <p:spPr>
          <a:xfrm>
            <a:off x="11849100" y="620077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Inspect the channels</a:t>
            </a:r>
          </a:p>
        </p:txBody>
      </p:sp>
      <p:sp>
        <p:nvSpPr>
          <p:cNvPr id="19" name="Rectangle 18">
            <a:extLst>
              <a:ext uri="{FF2B5EF4-FFF2-40B4-BE49-F238E27FC236}">
                <a16:creationId xmlns:a16="http://schemas.microsoft.com/office/drawing/2014/main" id="{60049654-86FE-404A-ABC2-D53749C626C4}"/>
              </a:ext>
            </a:extLst>
          </p:cNvPr>
          <p:cNvSpPr>
            <a:spLocks noGrp="1"/>
          </p:cNvSpPr>
          <p:nvPr/>
        </p:nvSpPr>
        <p:spPr>
          <a:xfrm>
            <a:off x="11363325" y="691515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Display bin = 1.</a:t>
            </a:r>
          </a:p>
          <a:p>
            <a:pPr>
              <a:defRPr sz="1875" b="0">
                <a:solidFill>
                  <a:srgbClr val="152A40"/>
                </a:solidFill>
                <a:latin typeface="Arial"/>
                <a:ea typeface="Arial"/>
                <a:cs typeface="Arial"/>
              </a:defRPr>
            </a:pPr>
            <a:r>
              <a:rPr sz="1875" b="0">
                <a:solidFill>
                  <a:srgbClr val="152A40"/>
                </a:solidFill>
                <a:latin typeface="Arial"/>
                <a:ea typeface="Arial"/>
                <a:cs typeface="Arial"/>
              </a:rPr>
              <a:t>The rebin example gives about 0.2013 km/s spacing.</a:t>
            </a:r>
          </a:p>
        </p:txBody>
      </p:sp>
    </p:spTree>
    <p:extLst>
      <p:ext uri="{BB962C8B-B14F-4D97-AF65-F5344CB8AC3E}">
        <p14:creationId xmlns:p14="http://schemas.microsoft.com/office/powerpoint/2010/main" val="1246301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C4F244A-2C83-47A0-9488-ADBB94177D32}"/>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A region mean preview</a:t>
            </a:r>
          </a:p>
        </p:txBody>
      </p:sp>
      <p:sp>
        <p:nvSpPr>
          <p:cNvPr id="2" name="Rectangle 1">
            <a:extLst>
              <a:ext uri="{FF2B5EF4-FFF2-40B4-BE49-F238E27FC236}">
                <a16:creationId xmlns:a16="http://schemas.microsoft.com/office/drawing/2014/main" id="{86E037BE-ACC3-4DFC-968F-026E651BAD17}"/>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The region box does not crop the final cube</a:t>
            </a:r>
          </a:p>
        </p:txBody>
      </p:sp>
      <p:sp>
        <p:nvSpPr>
          <p:cNvPr id="3" name="Rectangle 2">
            <a:extLst>
              <a:ext uri="{FF2B5EF4-FFF2-40B4-BE49-F238E27FC236}">
                <a16:creationId xmlns:a16="http://schemas.microsoft.com/office/drawing/2014/main" id="{5C4C5D44-D369-44FC-97F7-2B02B55F6397}"/>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15</a:t>
            </a:r>
          </a:p>
        </p:txBody>
      </p:sp>
      <p:pic>
        <p:nvPicPr>
          <p:cNvPr id="4" name="Picture 3">
            <a:extLst>
              <a:ext uri="{FF2B5EF4-FFF2-40B4-BE49-F238E27FC236}">
                <a16:creationId xmlns:a16="http://schemas.microsoft.com/office/drawing/2014/main" id="{221605AD-E103-4B94-8F3F-556C107952FE}"/>
              </a:ext>
            </a:extLst>
          </p:cNvPr>
          <p:cNvPicPr>
            <a:picLocks noChangeAspect="1"/>
          </p:cNvPicPr>
          <p:nvPr/>
        </p:nvPicPr>
        <p:blipFill>
          <a:blip r:embed="rId3"/>
          <a:stretch/>
        </p:blipFill>
        <p:spPr>
          <a:xfrm>
            <a:off x="523875" y="1909254"/>
            <a:ext cx="10525125" cy="5916042"/>
          </a:xfrm>
          <a:prstGeom prst="rect">
            <a:avLst/>
          </a:prstGeom>
        </p:spPr>
      </p:pic>
      <p:sp>
        <p:nvSpPr>
          <p:cNvPr id="5" name="Oval 4">
            <a:extLst>
              <a:ext uri="{FF2B5EF4-FFF2-40B4-BE49-F238E27FC236}">
                <a16:creationId xmlns:a16="http://schemas.microsoft.com/office/drawing/2014/main" id="{D3551B1E-918E-48EE-BE75-1B48D4B77924}"/>
              </a:ext>
            </a:extLst>
          </p:cNvPr>
          <p:cNvSpPr>
            <a:spLocks noGrp="1"/>
          </p:cNvSpPr>
          <p:nvPr/>
        </p:nvSpPr>
        <p:spPr>
          <a:xfrm>
            <a:off x="3250465" y="4806317"/>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1</a:t>
            </a:r>
          </a:p>
        </p:txBody>
      </p:sp>
      <p:sp>
        <p:nvSpPr>
          <p:cNvPr id="6" name="Rectangle 5">
            <a:extLst>
              <a:ext uri="{FF2B5EF4-FFF2-40B4-BE49-F238E27FC236}">
                <a16:creationId xmlns:a16="http://schemas.microsoft.com/office/drawing/2014/main" id="{3535984F-CC6D-4971-B4CD-9646C6353CB9}"/>
              </a:ext>
            </a:extLst>
          </p:cNvPr>
          <p:cNvSpPr>
            <a:spLocks noGrp="1"/>
          </p:cNvSpPr>
          <p:nvPr/>
        </p:nvSpPr>
        <p:spPr>
          <a:xfrm>
            <a:off x="6610173" y="2120604"/>
            <a:ext cx="1250569" cy="240251"/>
          </a:xfrm>
          <a:prstGeom prst="rect">
            <a:avLst/>
          </a:prstGeom>
          <a:noFill/>
          <a:ln w="28575">
            <a:solidFill>
              <a:srgbClr val="D77313"/>
            </a:solidFill>
            <a:prstDash val="solid"/>
          </a:ln>
        </p:spPr>
      </p:sp>
      <p:sp>
        <p:nvSpPr>
          <p:cNvPr id="7" name="Oval 6">
            <a:extLst>
              <a:ext uri="{FF2B5EF4-FFF2-40B4-BE49-F238E27FC236}">
                <a16:creationId xmlns:a16="http://schemas.microsoft.com/office/drawing/2014/main" id="{A3B1293E-F562-481D-8F27-82A15425E50D}"/>
              </a:ext>
            </a:extLst>
          </p:cNvPr>
          <p:cNvSpPr>
            <a:spLocks noGrp="1"/>
          </p:cNvSpPr>
          <p:nvPr/>
        </p:nvSpPr>
        <p:spPr>
          <a:xfrm>
            <a:off x="6419673" y="1901529"/>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2</a:t>
            </a:r>
          </a:p>
        </p:txBody>
      </p:sp>
      <p:sp>
        <p:nvSpPr>
          <p:cNvPr id="8" name="Oval 7">
            <a:extLst>
              <a:ext uri="{FF2B5EF4-FFF2-40B4-BE49-F238E27FC236}">
                <a16:creationId xmlns:a16="http://schemas.microsoft.com/office/drawing/2014/main" id="{54B6E07D-A859-4B2A-B1A3-3B46C2335253}"/>
              </a:ext>
            </a:extLst>
          </p:cNvPr>
          <p:cNvSpPr>
            <a:spLocks noGrp="1"/>
          </p:cNvSpPr>
          <p:nvPr/>
        </p:nvSpPr>
        <p:spPr>
          <a:xfrm>
            <a:off x="8434105" y="6031196"/>
            <a:ext cx="342900" cy="342900"/>
          </a:xfrm>
          <a:prstGeom prst="ellipse">
            <a:avLst/>
          </a:prstGeom>
          <a:solidFill>
            <a:srgbClr val="D77313"/>
          </a:solidFill>
          <a:ln w="19050">
            <a:solidFill>
              <a:srgbClr val="FFFFFF"/>
            </a:solidFill>
          </a:ln>
        </p:spPr>
        <p:txBody>
          <a:bodyPr lIns="0" tIns="0" rIns="0" bIns="0" anchor="ctr"/>
          <a:lstStyle>
            <a:defPPr algn="ctr">
              <a:defRPr sz="1647" b="1">
                <a:solidFill>
                  <a:srgbClr val="FFFFFF"/>
                </a:solidFill>
                <a:latin typeface="Arial"/>
                <a:ea typeface="Arial"/>
                <a:cs typeface="Arial"/>
              </a:defRPr>
            </a:defPPr>
            <a:lvl1pPr algn="ctr">
              <a:defRPr sz="1647" b="1">
                <a:solidFill>
                  <a:srgbClr val="FFFFFF"/>
                </a:solidFill>
                <a:latin typeface="Arial"/>
                <a:ea typeface="Arial"/>
                <a:cs typeface="Arial"/>
              </a:defRPr>
            </a:lvl1pPr>
            <a:lvl2pPr algn="ctr">
              <a:defRPr sz="1647" b="1">
                <a:solidFill>
                  <a:srgbClr val="FFFFFF"/>
                </a:solidFill>
                <a:latin typeface="Arial"/>
                <a:ea typeface="Arial"/>
                <a:cs typeface="Arial"/>
              </a:defRPr>
            </a:lvl2pPr>
            <a:lvl3pPr algn="ctr">
              <a:defRPr sz="1647" b="1">
                <a:solidFill>
                  <a:srgbClr val="FFFFFF"/>
                </a:solidFill>
                <a:latin typeface="Arial"/>
                <a:ea typeface="Arial"/>
                <a:cs typeface="Arial"/>
              </a:defRPr>
            </a:lvl3pPr>
            <a:lvl4pPr algn="ctr">
              <a:defRPr sz="1647" b="1">
                <a:solidFill>
                  <a:srgbClr val="FFFFFF"/>
                </a:solidFill>
                <a:latin typeface="Arial"/>
                <a:ea typeface="Arial"/>
                <a:cs typeface="Arial"/>
              </a:defRPr>
            </a:lvl4pPr>
            <a:lvl5pPr algn="ctr">
              <a:defRPr sz="1647" b="1">
                <a:solidFill>
                  <a:srgbClr val="FFFFFF"/>
                </a:solidFill>
                <a:latin typeface="Arial"/>
                <a:ea typeface="Arial"/>
                <a:cs typeface="Arial"/>
              </a:defRPr>
            </a:lvl5pPr>
            <a:lvl6pPr algn="ctr">
              <a:defRPr sz="1647" b="1">
                <a:solidFill>
                  <a:srgbClr val="FFFFFF"/>
                </a:solidFill>
                <a:latin typeface="Arial"/>
                <a:ea typeface="Arial"/>
                <a:cs typeface="Arial"/>
              </a:defRPr>
            </a:lvl6pPr>
            <a:lvl7pPr algn="ctr">
              <a:defRPr sz="1647" b="1">
                <a:solidFill>
                  <a:srgbClr val="FFFFFF"/>
                </a:solidFill>
                <a:latin typeface="Arial"/>
                <a:ea typeface="Arial"/>
                <a:cs typeface="Arial"/>
              </a:defRPr>
            </a:lvl7pPr>
            <a:lvl8pPr algn="ctr">
              <a:defRPr sz="1647" b="1">
                <a:solidFill>
                  <a:srgbClr val="FFFFFF"/>
                </a:solidFill>
                <a:latin typeface="Arial"/>
                <a:ea typeface="Arial"/>
                <a:cs typeface="Arial"/>
              </a:defRPr>
            </a:lvl8pPr>
            <a:lvl9pPr algn="ctr">
              <a:defRPr sz="1647" b="1">
                <a:solidFill>
                  <a:srgbClr val="FFFFFF"/>
                </a:solidFill>
                <a:latin typeface="Arial"/>
                <a:ea typeface="Arial"/>
                <a:cs typeface="Arial"/>
              </a:defRPr>
            </a:lvl9pPr>
          </a:lstStyle>
          <a:p>
            <a:pPr algn="ctr">
              <a:defRPr sz="1647" b="1">
                <a:solidFill>
                  <a:srgbClr val="FFFFFF"/>
                </a:solidFill>
                <a:latin typeface="Arial"/>
                <a:ea typeface="Arial"/>
                <a:cs typeface="Arial"/>
              </a:defRPr>
            </a:pPr>
            <a:r>
              <a:rPr sz="1647" b="1">
                <a:solidFill>
                  <a:srgbClr val="FFFFFF"/>
                </a:solidFill>
                <a:latin typeface="Arial"/>
                <a:ea typeface="Arial"/>
                <a:cs typeface="Arial"/>
              </a:rPr>
              <a:t>3</a:t>
            </a:r>
          </a:p>
        </p:txBody>
      </p:sp>
      <p:sp>
        <p:nvSpPr>
          <p:cNvPr id="9" name="Oval 8">
            <a:extLst>
              <a:ext uri="{FF2B5EF4-FFF2-40B4-BE49-F238E27FC236}">
                <a16:creationId xmlns:a16="http://schemas.microsoft.com/office/drawing/2014/main" id="{984F1241-D2E3-4BE5-9D5C-6DEF59111890}"/>
              </a:ext>
            </a:extLst>
          </p:cNvPr>
          <p:cNvSpPr>
            <a:spLocks noGrp="1"/>
          </p:cNvSpPr>
          <p:nvPr/>
        </p:nvSpPr>
        <p:spPr>
          <a:xfrm>
            <a:off x="11334750" y="202882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1</a:t>
            </a:r>
          </a:p>
        </p:txBody>
      </p:sp>
      <p:sp>
        <p:nvSpPr>
          <p:cNvPr id="10" name="Rectangle 9">
            <a:extLst>
              <a:ext uri="{FF2B5EF4-FFF2-40B4-BE49-F238E27FC236}">
                <a16:creationId xmlns:a16="http://schemas.microsoft.com/office/drawing/2014/main" id="{7ECE5F25-E85C-482A-BEC3-F40E90000559}"/>
              </a:ext>
            </a:extLst>
          </p:cNvPr>
          <p:cNvSpPr>
            <a:spLocks noGrp="1"/>
          </p:cNvSpPr>
          <p:nvPr/>
        </p:nvSpPr>
        <p:spPr>
          <a:xfrm>
            <a:off x="11849100" y="201930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Draw the region</a:t>
            </a:r>
          </a:p>
        </p:txBody>
      </p:sp>
      <p:sp>
        <p:nvSpPr>
          <p:cNvPr id="11" name="Rectangle 10">
            <a:extLst>
              <a:ext uri="{FF2B5EF4-FFF2-40B4-BE49-F238E27FC236}">
                <a16:creationId xmlns:a16="http://schemas.microsoft.com/office/drawing/2014/main" id="{E01B5D0A-5328-4941-9D49-EDA59E9A9B01}"/>
              </a:ext>
            </a:extLst>
          </p:cNvPr>
          <p:cNvSpPr>
            <a:spLocks noGrp="1"/>
          </p:cNvSpPr>
          <p:nvPr/>
        </p:nvSpPr>
        <p:spPr>
          <a:xfrm>
            <a:off x="11363325" y="273367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Move over the map. Press R or P, then adjust the handles.</a:t>
            </a:r>
          </a:p>
        </p:txBody>
      </p:sp>
      <p:sp>
        <p:nvSpPr>
          <p:cNvPr id="12" name="Oval 11">
            <a:extLst>
              <a:ext uri="{FF2B5EF4-FFF2-40B4-BE49-F238E27FC236}">
                <a16:creationId xmlns:a16="http://schemas.microsoft.com/office/drawing/2014/main" id="{1637D0F9-23D4-4E06-8D9E-B88446ABDAEC}"/>
              </a:ext>
            </a:extLst>
          </p:cNvPr>
          <p:cNvSpPr>
            <a:spLocks noGrp="1"/>
          </p:cNvSpPr>
          <p:nvPr/>
        </p:nvSpPr>
        <p:spPr>
          <a:xfrm>
            <a:off x="11334750" y="4048125"/>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2</a:t>
            </a:r>
          </a:p>
        </p:txBody>
      </p:sp>
      <p:sp>
        <p:nvSpPr>
          <p:cNvPr id="13" name="Rectangle 12">
            <a:extLst>
              <a:ext uri="{FF2B5EF4-FFF2-40B4-BE49-F238E27FC236}">
                <a16:creationId xmlns:a16="http://schemas.microsoft.com/office/drawing/2014/main" id="{91A3E705-8586-456C-8C6D-3E84D3B30992}"/>
              </a:ext>
            </a:extLst>
          </p:cNvPr>
          <p:cNvSpPr>
            <a:spLocks noGrp="1"/>
          </p:cNvSpPr>
          <p:nvPr/>
        </p:nvSpPr>
        <p:spPr>
          <a:xfrm>
            <a:off x="11849100" y="4038600"/>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Region mean</a:t>
            </a:r>
          </a:p>
        </p:txBody>
      </p:sp>
      <p:sp>
        <p:nvSpPr>
          <p:cNvPr id="14" name="Rectangle 13">
            <a:extLst>
              <a:ext uri="{FF2B5EF4-FFF2-40B4-BE49-F238E27FC236}">
                <a16:creationId xmlns:a16="http://schemas.microsoft.com/office/drawing/2014/main" id="{EE2ECBCE-720D-4B63-8EAE-27B67A501A1F}"/>
              </a:ext>
            </a:extLst>
          </p:cNvPr>
          <p:cNvSpPr>
            <a:spLocks noGrp="1"/>
          </p:cNvSpPr>
          <p:nvPr/>
        </p:nvSpPr>
        <p:spPr>
          <a:xfrm>
            <a:off x="11363325" y="4752975"/>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Click Region mean (≤128) to compute a sampled spectrum.</a:t>
            </a:r>
          </a:p>
        </p:txBody>
      </p:sp>
      <p:sp>
        <p:nvSpPr>
          <p:cNvPr id="15" name="Oval 14">
            <a:extLst>
              <a:ext uri="{FF2B5EF4-FFF2-40B4-BE49-F238E27FC236}">
                <a16:creationId xmlns:a16="http://schemas.microsoft.com/office/drawing/2014/main" id="{753A1AF1-6578-4FAB-BF22-2075839F638F}"/>
              </a:ext>
            </a:extLst>
          </p:cNvPr>
          <p:cNvSpPr>
            <a:spLocks noGrp="1"/>
          </p:cNvSpPr>
          <p:nvPr/>
        </p:nvSpPr>
        <p:spPr>
          <a:xfrm>
            <a:off x="11334750" y="6096000"/>
            <a:ext cx="371475" cy="371475"/>
          </a:xfrm>
          <a:prstGeom prst="ellipse">
            <a:avLst/>
          </a:prstGeom>
          <a:solidFill>
            <a:srgbClr val="D77313"/>
          </a:solidFill>
          <a:ln w="19050">
            <a:solidFill>
              <a:srgbClr val="FFFFFF"/>
            </a:solidFill>
          </a:ln>
        </p:spPr>
        <p:txBody>
          <a:bodyPr lIns="0" tIns="0" rIns="0" bIns="0" anchor="ctr"/>
          <a:lstStyle>
            <a:defPPr algn="ctr">
              <a:defRPr sz="1784" b="1">
                <a:solidFill>
                  <a:srgbClr val="FFFFFF"/>
                </a:solidFill>
                <a:latin typeface="Arial"/>
                <a:ea typeface="Arial"/>
                <a:cs typeface="Arial"/>
              </a:defRPr>
            </a:defPPr>
            <a:lvl1pPr algn="ctr">
              <a:defRPr sz="1784" b="1">
                <a:solidFill>
                  <a:srgbClr val="FFFFFF"/>
                </a:solidFill>
                <a:latin typeface="Arial"/>
                <a:ea typeface="Arial"/>
                <a:cs typeface="Arial"/>
              </a:defRPr>
            </a:lvl1pPr>
            <a:lvl2pPr algn="ctr">
              <a:defRPr sz="1784" b="1">
                <a:solidFill>
                  <a:srgbClr val="FFFFFF"/>
                </a:solidFill>
                <a:latin typeface="Arial"/>
                <a:ea typeface="Arial"/>
                <a:cs typeface="Arial"/>
              </a:defRPr>
            </a:lvl2pPr>
            <a:lvl3pPr algn="ctr">
              <a:defRPr sz="1784" b="1">
                <a:solidFill>
                  <a:srgbClr val="FFFFFF"/>
                </a:solidFill>
                <a:latin typeface="Arial"/>
                <a:ea typeface="Arial"/>
                <a:cs typeface="Arial"/>
              </a:defRPr>
            </a:lvl3pPr>
            <a:lvl4pPr algn="ctr">
              <a:defRPr sz="1784" b="1">
                <a:solidFill>
                  <a:srgbClr val="FFFFFF"/>
                </a:solidFill>
                <a:latin typeface="Arial"/>
                <a:ea typeface="Arial"/>
                <a:cs typeface="Arial"/>
              </a:defRPr>
            </a:lvl4pPr>
            <a:lvl5pPr algn="ctr">
              <a:defRPr sz="1784" b="1">
                <a:solidFill>
                  <a:srgbClr val="FFFFFF"/>
                </a:solidFill>
                <a:latin typeface="Arial"/>
                <a:ea typeface="Arial"/>
                <a:cs typeface="Arial"/>
              </a:defRPr>
            </a:lvl5pPr>
            <a:lvl6pPr algn="ctr">
              <a:defRPr sz="1784" b="1">
                <a:solidFill>
                  <a:srgbClr val="FFFFFF"/>
                </a:solidFill>
                <a:latin typeface="Arial"/>
                <a:ea typeface="Arial"/>
                <a:cs typeface="Arial"/>
              </a:defRPr>
            </a:lvl6pPr>
            <a:lvl7pPr algn="ctr">
              <a:defRPr sz="1784" b="1">
                <a:solidFill>
                  <a:srgbClr val="FFFFFF"/>
                </a:solidFill>
                <a:latin typeface="Arial"/>
                <a:ea typeface="Arial"/>
                <a:cs typeface="Arial"/>
              </a:defRPr>
            </a:lvl7pPr>
            <a:lvl8pPr algn="ctr">
              <a:defRPr sz="1784" b="1">
                <a:solidFill>
                  <a:srgbClr val="FFFFFF"/>
                </a:solidFill>
                <a:latin typeface="Arial"/>
                <a:ea typeface="Arial"/>
                <a:cs typeface="Arial"/>
              </a:defRPr>
            </a:lvl8pPr>
            <a:lvl9pPr algn="ctr">
              <a:defRPr sz="1784" b="1">
                <a:solidFill>
                  <a:srgbClr val="FFFFFF"/>
                </a:solidFill>
                <a:latin typeface="Arial"/>
                <a:ea typeface="Arial"/>
                <a:cs typeface="Arial"/>
              </a:defRPr>
            </a:lvl9pPr>
          </a:lstStyle>
          <a:p>
            <a:pPr algn="ctr">
              <a:defRPr sz="1784" b="1">
                <a:solidFill>
                  <a:srgbClr val="FFFFFF"/>
                </a:solidFill>
                <a:latin typeface="Arial"/>
                <a:ea typeface="Arial"/>
                <a:cs typeface="Arial"/>
              </a:defRPr>
            </a:pPr>
            <a:r>
              <a:rPr sz="1784"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6BF0DC5F-3EF6-47E5-A8A5-84C8FC49B521}"/>
              </a:ext>
            </a:extLst>
          </p:cNvPr>
          <p:cNvSpPr>
            <a:spLocks noGrp="1"/>
          </p:cNvSpPr>
          <p:nvPr/>
        </p:nvSpPr>
        <p:spPr>
          <a:xfrm>
            <a:off x="11849100" y="6086475"/>
            <a:ext cx="2762250" cy="666750"/>
          </a:xfrm>
          <a:prstGeom prst="rect">
            <a:avLst/>
          </a:prstGeom>
          <a:noFill/>
          <a:ln w="0">
            <a:noFill/>
          </a:ln>
        </p:spPr>
        <p:txBody>
          <a:bodyPr wrap="square" lIns="0" tIns="0" rIns="0" bIns="0" anchor="t">
            <a:noAutofit/>
          </a:bodyPr>
          <a:lstStyle>
            <a:defPPr>
              <a:defRPr sz="2100" b="1">
                <a:solidFill>
                  <a:srgbClr val="075CA8"/>
                </a:solidFill>
                <a:latin typeface="Arial"/>
                <a:ea typeface="Arial"/>
                <a:cs typeface="Arial"/>
              </a:defRPr>
            </a:defPPr>
            <a:lvl1pPr>
              <a:defRPr sz="2100" b="1">
                <a:solidFill>
                  <a:srgbClr val="075CA8"/>
                </a:solidFill>
                <a:latin typeface="Arial"/>
                <a:ea typeface="Arial"/>
                <a:cs typeface="Arial"/>
              </a:defRPr>
            </a:lvl1pPr>
            <a:lvl2pPr>
              <a:defRPr sz="2100" b="1">
                <a:solidFill>
                  <a:srgbClr val="075CA8"/>
                </a:solidFill>
                <a:latin typeface="Arial"/>
                <a:ea typeface="Arial"/>
                <a:cs typeface="Arial"/>
              </a:defRPr>
            </a:lvl2pPr>
            <a:lvl3pPr>
              <a:defRPr sz="2100" b="1">
                <a:solidFill>
                  <a:srgbClr val="075CA8"/>
                </a:solidFill>
                <a:latin typeface="Arial"/>
                <a:ea typeface="Arial"/>
                <a:cs typeface="Arial"/>
              </a:defRPr>
            </a:lvl3pPr>
            <a:lvl4pPr>
              <a:defRPr sz="2100" b="1">
                <a:solidFill>
                  <a:srgbClr val="075CA8"/>
                </a:solidFill>
                <a:latin typeface="Arial"/>
                <a:ea typeface="Arial"/>
                <a:cs typeface="Arial"/>
              </a:defRPr>
            </a:lvl4pPr>
            <a:lvl5pPr>
              <a:defRPr sz="2100" b="1">
                <a:solidFill>
                  <a:srgbClr val="075CA8"/>
                </a:solidFill>
                <a:latin typeface="Arial"/>
                <a:ea typeface="Arial"/>
                <a:cs typeface="Arial"/>
              </a:defRPr>
            </a:lvl5pPr>
            <a:lvl6pPr>
              <a:defRPr sz="2100" b="1">
                <a:solidFill>
                  <a:srgbClr val="075CA8"/>
                </a:solidFill>
                <a:latin typeface="Arial"/>
                <a:ea typeface="Arial"/>
                <a:cs typeface="Arial"/>
              </a:defRPr>
            </a:lvl6pPr>
            <a:lvl7pPr>
              <a:defRPr sz="2100" b="1">
                <a:solidFill>
                  <a:srgbClr val="075CA8"/>
                </a:solidFill>
                <a:latin typeface="Arial"/>
                <a:ea typeface="Arial"/>
                <a:cs typeface="Arial"/>
              </a:defRPr>
            </a:lvl7pPr>
            <a:lvl8pPr>
              <a:defRPr sz="2100" b="1">
                <a:solidFill>
                  <a:srgbClr val="075CA8"/>
                </a:solidFill>
                <a:latin typeface="Arial"/>
                <a:ea typeface="Arial"/>
                <a:cs typeface="Arial"/>
              </a:defRPr>
            </a:lvl8pPr>
            <a:lvl9pPr>
              <a:defRPr sz="2100" b="1">
                <a:solidFill>
                  <a:srgbClr val="075CA8"/>
                </a:solidFill>
                <a:latin typeface="Arial"/>
                <a:ea typeface="Arial"/>
                <a:cs typeface="Arial"/>
              </a:defRPr>
            </a:lvl9pPr>
          </a:lstStyle>
          <a:p>
            <a:pPr>
              <a:defRPr sz="2100" b="1">
                <a:solidFill>
                  <a:srgbClr val="075CA8"/>
                </a:solidFill>
                <a:latin typeface="Arial"/>
                <a:ea typeface="Arial"/>
                <a:cs typeface="Arial"/>
              </a:defRPr>
            </a:pPr>
            <a:r>
              <a:rPr sz="2100" b="1">
                <a:solidFill>
                  <a:srgbClr val="075CA8"/>
                </a:solidFill>
                <a:latin typeface="Arial"/>
                <a:ea typeface="Arial"/>
                <a:cs typeface="Arial"/>
              </a:rPr>
              <a:t>Read the preview</a:t>
            </a:r>
          </a:p>
        </p:txBody>
      </p:sp>
      <p:sp>
        <p:nvSpPr>
          <p:cNvPr id="17" name="Rectangle 16">
            <a:extLst>
              <a:ext uri="{FF2B5EF4-FFF2-40B4-BE49-F238E27FC236}">
                <a16:creationId xmlns:a16="http://schemas.microsoft.com/office/drawing/2014/main" id="{85E67F1E-917D-4A45-8ACA-53C4C71E63A1}"/>
              </a:ext>
            </a:extLst>
          </p:cNvPr>
          <p:cNvSpPr>
            <a:spLocks noGrp="1"/>
          </p:cNvSpPr>
          <p:nvPr/>
        </p:nvSpPr>
        <p:spPr>
          <a:xfrm>
            <a:off x="11363325" y="6800850"/>
            <a:ext cx="3257550" cy="1200150"/>
          </a:xfrm>
          <a:prstGeom prst="rect">
            <a:avLst/>
          </a:prstGeom>
          <a:noFill/>
          <a:ln w="0">
            <a:noFill/>
          </a:ln>
        </p:spPr>
        <p:txBody>
          <a:bodyPr wrap="square" lIns="0" tIns="0" rIns="0" bIns="0" anchor="t">
            <a:noAutofit/>
          </a:bodyPr>
          <a:lstStyle>
            <a:defPPr>
              <a:defRPr sz="1875" b="0">
                <a:solidFill>
                  <a:srgbClr val="152A40"/>
                </a:solidFill>
                <a:latin typeface="Arial"/>
                <a:ea typeface="Arial"/>
                <a:cs typeface="Arial"/>
              </a:defRPr>
            </a:defPPr>
            <a:lvl1pPr>
              <a:defRPr sz="1875" b="0">
                <a:solidFill>
                  <a:srgbClr val="152A40"/>
                </a:solidFill>
                <a:latin typeface="Arial"/>
                <a:ea typeface="Arial"/>
                <a:cs typeface="Arial"/>
              </a:defRPr>
            </a:lvl1pPr>
            <a:lvl2pPr>
              <a:defRPr sz="1875" b="0">
                <a:solidFill>
                  <a:srgbClr val="152A40"/>
                </a:solidFill>
                <a:latin typeface="Arial"/>
                <a:ea typeface="Arial"/>
                <a:cs typeface="Arial"/>
              </a:defRPr>
            </a:lvl2pPr>
            <a:lvl3pPr>
              <a:defRPr sz="1875" b="0">
                <a:solidFill>
                  <a:srgbClr val="152A40"/>
                </a:solidFill>
                <a:latin typeface="Arial"/>
                <a:ea typeface="Arial"/>
                <a:cs typeface="Arial"/>
              </a:defRPr>
            </a:lvl3pPr>
            <a:lvl4pPr>
              <a:defRPr sz="1875" b="0">
                <a:solidFill>
                  <a:srgbClr val="152A40"/>
                </a:solidFill>
                <a:latin typeface="Arial"/>
                <a:ea typeface="Arial"/>
                <a:cs typeface="Arial"/>
              </a:defRPr>
            </a:lvl4pPr>
            <a:lvl5pPr>
              <a:defRPr sz="1875" b="0">
                <a:solidFill>
                  <a:srgbClr val="152A40"/>
                </a:solidFill>
                <a:latin typeface="Arial"/>
                <a:ea typeface="Arial"/>
                <a:cs typeface="Arial"/>
              </a:defRPr>
            </a:lvl5pPr>
            <a:lvl6pPr>
              <a:defRPr sz="1875" b="0">
                <a:solidFill>
                  <a:srgbClr val="152A40"/>
                </a:solidFill>
                <a:latin typeface="Arial"/>
                <a:ea typeface="Arial"/>
                <a:cs typeface="Arial"/>
              </a:defRPr>
            </a:lvl6pPr>
            <a:lvl7pPr>
              <a:defRPr sz="1875" b="0">
                <a:solidFill>
                  <a:srgbClr val="152A40"/>
                </a:solidFill>
                <a:latin typeface="Arial"/>
                <a:ea typeface="Arial"/>
                <a:cs typeface="Arial"/>
              </a:defRPr>
            </a:lvl7pPr>
            <a:lvl8pPr>
              <a:defRPr sz="1875" b="0">
                <a:solidFill>
                  <a:srgbClr val="152A40"/>
                </a:solidFill>
                <a:latin typeface="Arial"/>
                <a:ea typeface="Arial"/>
                <a:cs typeface="Arial"/>
              </a:defRPr>
            </a:lvl8pPr>
            <a:lvl9pPr>
              <a:defRPr sz="1875" b="0">
                <a:solidFill>
                  <a:srgbClr val="152A40"/>
                </a:solidFill>
                <a:latin typeface="Arial"/>
                <a:ea typeface="Arial"/>
                <a:cs typeface="Arial"/>
              </a:defRPr>
            </a:lvl9pPr>
          </a:lstStyle>
          <a:p>
            <a:pPr>
              <a:defRPr sz="1875" b="0">
                <a:solidFill>
                  <a:srgbClr val="152A40"/>
                </a:solidFill>
                <a:latin typeface="Arial"/>
                <a:ea typeface="Arial"/>
                <a:cs typeface="Arial"/>
              </a:defRPr>
            </a:pPr>
            <a:r>
              <a:rPr sz="1875" b="0">
                <a:solidFill>
                  <a:srgbClr val="152A40"/>
                </a:solidFill>
                <a:latin typeface="Arial"/>
                <a:ea typeface="Arial"/>
                <a:cs typeface="Arial"/>
              </a:rPr>
              <a:t>No spatial gridding occurs. The loaded selection remains unchanged.</a:t>
            </a:r>
          </a:p>
        </p:txBody>
      </p:sp>
    </p:spTree>
    <p:extLst>
      <p:ext uri="{BB962C8B-B14F-4D97-AF65-F5344CB8AC3E}">
        <p14:creationId xmlns:p14="http://schemas.microsoft.com/office/powerpoint/2010/main" val="985328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1D984A4-D1F9-4046-960B-8A548B018F5F}"/>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Processing the full loaded selection</a:t>
            </a:r>
          </a:p>
        </p:txBody>
      </p:sp>
      <p:sp>
        <p:nvSpPr>
          <p:cNvPr id="2" name="Rectangle 1">
            <a:extLst>
              <a:ext uri="{FF2B5EF4-FFF2-40B4-BE49-F238E27FC236}">
                <a16:creationId xmlns:a16="http://schemas.microsoft.com/office/drawing/2014/main" id="{34432D1B-1383-42B2-B5F8-E1F3AA12AC6F}"/>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Finish your settings in the window, click Apply / refit, then run these FISH commands</a:t>
            </a:r>
          </a:p>
        </p:txBody>
      </p:sp>
      <p:sp>
        <p:nvSpPr>
          <p:cNvPr id="3" name="Rectangle 2">
            <a:extLst>
              <a:ext uri="{FF2B5EF4-FFF2-40B4-BE49-F238E27FC236}">
                <a16:creationId xmlns:a16="http://schemas.microsoft.com/office/drawing/2014/main" id="{089D9766-22C0-4619-B456-37D4CE4555F8}"/>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16</a:t>
            </a:r>
          </a:p>
        </p:txBody>
      </p:sp>
      <p:sp>
        <p:nvSpPr>
          <p:cNvPr id="4" name="Oval 3">
            <a:extLst>
              <a:ext uri="{FF2B5EF4-FFF2-40B4-BE49-F238E27FC236}">
                <a16:creationId xmlns:a16="http://schemas.microsoft.com/office/drawing/2014/main" id="{7F56E607-AE54-456F-B20E-C26B2B1B7B07}"/>
              </a:ext>
            </a:extLst>
          </p:cNvPr>
          <p:cNvSpPr>
            <a:spLocks noGrp="1"/>
          </p:cNvSpPr>
          <p:nvPr/>
        </p:nvSpPr>
        <p:spPr>
          <a:xfrm>
            <a:off x="647700" y="2143125"/>
            <a:ext cx="381000" cy="381000"/>
          </a:xfrm>
          <a:prstGeom prst="ellipse">
            <a:avLst/>
          </a:prstGeom>
          <a:solidFill>
            <a:srgbClr val="D77313"/>
          </a:solidFill>
          <a:ln w="19050">
            <a:solidFill>
              <a:srgbClr val="FFFFFF"/>
            </a:solidFill>
          </a:ln>
        </p:spPr>
        <p:txBody>
          <a:bodyPr lIns="0" tIns="0" rIns="0" bIns="0" anchor="ctr"/>
          <a:lstStyle>
            <a:defPPr algn="ctr">
              <a:defRPr sz="1830" b="1">
                <a:solidFill>
                  <a:srgbClr val="FFFFFF"/>
                </a:solidFill>
                <a:latin typeface="Arial"/>
                <a:ea typeface="Arial"/>
                <a:cs typeface="Arial"/>
              </a:defRPr>
            </a:defPPr>
            <a:lvl1pPr algn="ctr">
              <a:defRPr sz="1830" b="1">
                <a:solidFill>
                  <a:srgbClr val="FFFFFF"/>
                </a:solidFill>
                <a:latin typeface="Arial"/>
                <a:ea typeface="Arial"/>
                <a:cs typeface="Arial"/>
              </a:defRPr>
            </a:lvl1pPr>
            <a:lvl2pPr algn="ctr">
              <a:defRPr sz="1830" b="1">
                <a:solidFill>
                  <a:srgbClr val="FFFFFF"/>
                </a:solidFill>
                <a:latin typeface="Arial"/>
                <a:ea typeface="Arial"/>
                <a:cs typeface="Arial"/>
              </a:defRPr>
            </a:lvl2pPr>
            <a:lvl3pPr algn="ctr">
              <a:defRPr sz="1830" b="1">
                <a:solidFill>
                  <a:srgbClr val="FFFFFF"/>
                </a:solidFill>
                <a:latin typeface="Arial"/>
                <a:ea typeface="Arial"/>
                <a:cs typeface="Arial"/>
              </a:defRPr>
            </a:lvl3pPr>
            <a:lvl4pPr algn="ctr">
              <a:defRPr sz="1830" b="1">
                <a:solidFill>
                  <a:srgbClr val="FFFFFF"/>
                </a:solidFill>
                <a:latin typeface="Arial"/>
                <a:ea typeface="Arial"/>
                <a:cs typeface="Arial"/>
              </a:defRPr>
            </a:lvl4pPr>
            <a:lvl5pPr algn="ctr">
              <a:defRPr sz="1830" b="1">
                <a:solidFill>
                  <a:srgbClr val="FFFFFF"/>
                </a:solidFill>
                <a:latin typeface="Arial"/>
                <a:ea typeface="Arial"/>
                <a:cs typeface="Arial"/>
              </a:defRPr>
            </a:lvl5pPr>
            <a:lvl6pPr algn="ctr">
              <a:defRPr sz="1830" b="1">
                <a:solidFill>
                  <a:srgbClr val="FFFFFF"/>
                </a:solidFill>
                <a:latin typeface="Arial"/>
                <a:ea typeface="Arial"/>
                <a:cs typeface="Arial"/>
              </a:defRPr>
            </a:lvl6pPr>
            <a:lvl7pPr algn="ctr">
              <a:defRPr sz="1830" b="1">
                <a:solidFill>
                  <a:srgbClr val="FFFFFF"/>
                </a:solidFill>
                <a:latin typeface="Arial"/>
                <a:ea typeface="Arial"/>
                <a:cs typeface="Arial"/>
              </a:defRPr>
            </a:lvl7pPr>
            <a:lvl8pPr algn="ctr">
              <a:defRPr sz="1830" b="1">
                <a:solidFill>
                  <a:srgbClr val="FFFFFF"/>
                </a:solidFill>
                <a:latin typeface="Arial"/>
                <a:ea typeface="Arial"/>
                <a:cs typeface="Arial"/>
              </a:defRPr>
            </a:lvl8pPr>
            <a:lvl9pPr algn="ctr">
              <a:defRPr sz="1830" b="1">
                <a:solidFill>
                  <a:srgbClr val="FFFFFF"/>
                </a:solidFill>
                <a:latin typeface="Arial"/>
                <a:ea typeface="Arial"/>
                <a:cs typeface="Arial"/>
              </a:defRPr>
            </a:lvl9pPr>
          </a:lstStyle>
          <a:p>
            <a:pPr algn="ctr">
              <a:defRPr sz="1830" b="1">
                <a:solidFill>
                  <a:srgbClr val="FFFFFF"/>
                </a:solidFill>
                <a:latin typeface="Arial"/>
                <a:ea typeface="Arial"/>
                <a:cs typeface="Arial"/>
              </a:defRPr>
            </a:pPr>
            <a:r>
              <a:rPr sz="1830" b="1">
                <a:solidFill>
                  <a:srgbClr val="FFFFFF"/>
                </a:solidFill>
                <a:latin typeface="Arial"/>
                <a:ea typeface="Arial"/>
                <a:cs typeface="Arial"/>
              </a:rPr>
              <a:t>1</a:t>
            </a:r>
          </a:p>
        </p:txBody>
      </p:sp>
      <p:sp>
        <p:nvSpPr>
          <p:cNvPr id="5" name="Rectangle 4">
            <a:extLst>
              <a:ext uri="{FF2B5EF4-FFF2-40B4-BE49-F238E27FC236}">
                <a16:creationId xmlns:a16="http://schemas.microsoft.com/office/drawing/2014/main" id="{C9A589AD-349B-478D-AC50-F6A60135CCA0}"/>
              </a:ext>
            </a:extLst>
          </p:cNvPr>
          <p:cNvSpPr>
            <a:spLocks noGrp="1"/>
          </p:cNvSpPr>
          <p:nvPr/>
        </p:nvSpPr>
        <p:spPr>
          <a:xfrm>
            <a:off x="1285875" y="2114550"/>
            <a:ext cx="6238875"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tsyscal run</a:t>
            </a:r>
          </a:p>
        </p:txBody>
      </p:sp>
      <p:sp>
        <p:nvSpPr>
          <p:cNvPr id="6" name="Rectangle 5">
            <a:extLst>
              <a:ext uri="{FF2B5EF4-FFF2-40B4-BE49-F238E27FC236}">
                <a16:creationId xmlns:a16="http://schemas.microsoft.com/office/drawing/2014/main" id="{D16C1FBA-DDF7-4FA8-BFEF-49D3E9BC5F01}"/>
              </a:ext>
            </a:extLst>
          </p:cNvPr>
          <p:cNvSpPr>
            <a:spLocks noGrp="1"/>
          </p:cNvSpPr>
          <p:nvPr/>
        </p:nvSpPr>
        <p:spPr>
          <a:xfrm>
            <a:off x="1285875" y="2552700"/>
            <a:ext cx="3810000" cy="428625"/>
          </a:xfrm>
          <a:prstGeom prst="rect">
            <a:avLst/>
          </a:prstGeom>
          <a:noFill/>
          <a:ln w="0">
            <a:noFill/>
          </a:ln>
        </p:spPr>
        <p:txBody>
          <a:bodyPr wrap="square" lIns="0" tIns="0" rIns="0" bIns="0" anchor="t">
            <a:noAutofit/>
          </a:bodyPr>
          <a:lstStyle>
            <a:defPPr>
              <a:defRPr sz="1875" b="0">
                <a:solidFill>
                  <a:srgbClr val="075CA8"/>
                </a:solidFill>
                <a:latin typeface="Menlo"/>
                <a:ea typeface="Menlo"/>
                <a:cs typeface="Menlo"/>
              </a:defRPr>
            </a:defPPr>
            <a:lvl1pPr>
              <a:defRPr sz="1875" b="0">
                <a:solidFill>
                  <a:srgbClr val="075CA8"/>
                </a:solidFill>
                <a:latin typeface="Menlo"/>
                <a:ea typeface="Menlo"/>
                <a:cs typeface="Menlo"/>
              </a:defRPr>
            </a:lvl1pPr>
            <a:lvl2pPr>
              <a:defRPr sz="1875" b="0">
                <a:solidFill>
                  <a:srgbClr val="075CA8"/>
                </a:solidFill>
                <a:latin typeface="Menlo"/>
                <a:ea typeface="Menlo"/>
                <a:cs typeface="Menlo"/>
              </a:defRPr>
            </a:lvl2pPr>
            <a:lvl3pPr>
              <a:defRPr sz="1875" b="0">
                <a:solidFill>
                  <a:srgbClr val="075CA8"/>
                </a:solidFill>
                <a:latin typeface="Menlo"/>
                <a:ea typeface="Menlo"/>
                <a:cs typeface="Menlo"/>
              </a:defRPr>
            </a:lvl3pPr>
            <a:lvl4pPr>
              <a:defRPr sz="1875" b="0">
                <a:solidFill>
                  <a:srgbClr val="075CA8"/>
                </a:solidFill>
                <a:latin typeface="Menlo"/>
                <a:ea typeface="Menlo"/>
                <a:cs typeface="Menlo"/>
              </a:defRPr>
            </a:lvl4pPr>
            <a:lvl5pPr>
              <a:defRPr sz="1875" b="0">
                <a:solidFill>
                  <a:srgbClr val="075CA8"/>
                </a:solidFill>
                <a:latin typeface="Menlo"/>
                <a:ea typeface="Menlo"/>
                <a:cs typeface="Menlo"/>
              </a:defRPr>
            </a:lvl5pPr>
            <a:lvl6pPr>
              <a:defRPr sz="1875" b="0">
                <a:solidFill>
                  <a:srgbClr val="075CA8"/>
                </a:solidFill>
                <a:latin typeface="Menlo"/>
                <a:ea typeface="Menlo"/>
                <a:cs typeface="Menlo"/>
              </a:defRPr>
            </a:lvl6pPr>
            <a:lvl7pPr>
              <a:defRPr sz="1875" b="0">
                <a:solidFill>
                  <a:srgbClr val="075CA8"/>
                </a:solidFill>
                <a:latin typeface="Menlo"/>
                <a:ea typeface="Menlo"/>
                <a:cs typeface="Menlo"/>
              </a:defRPr>
            </a:lvl7pPr>
            <a:lvl8pPr>
              <a:defRPr sz="1875" b="0">
                <a:solidFill>
                  <a:srgbClr val="075CA8"/>
                </a:solidFill>
                <a:latin typeface="Menlo"/>
                <a:ea typeface="Menlo"/>
                <a:cs typeface="Menlo"/>
              </a:defRPr>
            </a:lvl8pPr>
            <a:lvl9pPr>
              <a:defRPr sz="1875" b="0">
                <a:solidFill>
                  <a:srgbClr val="075CA8"/>
                </a:solidFill>
                <a:latin typeface="Menlo"/>
                <a:ea typeface="Menlo"/>
                <a:cs typeface="Menlo"/>
              </a:defRPr>
            </a:lvl9pPr>
          </a:lstStyle>
          <a:p>
            <a:pPr>
              <a:defRPr sz="1875" b="0">
                <a:solidFill>
                  <a:srgbClr val="075CA8"/>
                </a:solidFill>
                <a:latin typeface="Menlo"/>
                <a:ea typeface="Menlo"/>
                <a:cs typeface="Menlo"/>
              </a:defRPr>
            </a:pPr>
            <a:r>
              <a:rPr sz="1875" b="0">
                <a:solidFill>
                  <a:srgbClr val="075CA8"/>
                </a:solidFill>
                <a:latin typeface="Menlo"/>
                <a:ea typeface="Menlo"/>
                <a:cs typeface="Menlo"/>
              </a:rPr>
              <a:t>wait</a:t>
            </a:r>
          </a:p>
        </p:txBody>
      </p:sp>
      <p:sp>
        <p:nvSpPr>
          <p:cNvPr id="7" name="Rectangle 6">
            <a:extLst>
              <a:ext uri="{FF2B5EF4-FFF2-40B4-BE49-F238E27FC236}">
                <a16:creationId xmlns:a16="http://schemas.microsoft.com/office/drawing/2014/main" id="{D323BB70-D79A-4F08-A3BA-46580D861D6F}"/>
              </a:ext>
            </a:extLst>
          </p:cNvPr>
          <p:cNvSpPr>
            <a:spLocks noGrp="1"/>
          </p:cNvSpPr>
          <p:nvPr/>
        </p:nvSpPr>
        <p:spPr>
          <a:xfrm>
            <a:off x="8096250" y="2190750"/>
            <a:ext cx="6381750" cy="71437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Temperature references</a:t>
            </a:r>
          </a:p>
        </p:txBody>
      </p:sp>
      <p:sp>
        <p:nvSpPr>
          <p:cNvPr id="8" name="Oval 7">
            <a:extLst>
              <a:ext uri="{FF2B5EF4-FFF2-40B4-BE49-F238E27FC236}">
                <a16:creationId xmlns:a16="http://schemas.microsoft.com/office/drawing/2014/main" id="{2CF68DBA-A0FD-4328-9BE5-F6B6BE2BB655}"/>
              </a:ext>
            </a:extLst>
          </p:cNvPr>
          <p:cNvSpPr>
            <a:spLocks noGrp="1"/>
          </p:cNvSpPr>
          <p:nvPr/>
        </p:nvSpPr>
        <p:spPr>
          <a:xfrm>
            <a:off x="647700" y="3209925"/>
            <a:ext cx="381000" cy="381000"/>
          </a:xfrm>
          <a:prstGeom prst="ellipse">
            <a:avLst/>
          </a:prstGeom>
          <a:solidFill>
            <a:srgbClr val="D77313"/>
          </a:solidFill>
          <a:ln w="19050">
            <a:solidFill>
              <a:srgbClr val="FFFFFF"/>
            </a:solidFill>
          </a:ln>
        </p:spPr>
        <p:txBody>
          <a:bodyPr lIns="0" tIns="0" rIns="0" bIns="0" anchor="ctr"/>
          <a:lstStyle>
            <a:defPPr algn="ctr">
              <a:defRPr sz="1830" b="1">
                <a:solidFill>
                  <a:srgbClr val="FFFFFF"/>
                </a:solidFill>
                <a:latin typeface="Arial"/>
                <a:ea typeface="Arial"/>
                <a:cs typeface="Arial"/>
              </a:defRPr>
            </a:defPPr>
            <a:lvl1pPr algn="ctr">
              <a:defRPr sz="1830" b="1">
                <a:solidFill>
                  <a:srgbClr val="FFFFFF"/>
                </a:solidFill>
                <a:latin typeface="Arial"/>
                <a:ea typeface="Arial"/>
                <a:cs typeface="Arial"/>
              </a:defRPr>
            </a:lvl1pPr>
            <a:lvl2pPr algn="ctr">
              <a:defRPr sz="1830" b="1">
                <a:solidFill>
                  <a:srgbClr val="FFFFFF"/>
                </a:solidFill>
                <a:latin typeface="Arial"/>
                <a:ea typeface="Arial"/>
                <a:cs typeface="Arial"/>
              </a:defRPr>
            </a:lvl2pPr>
            <a:lvl3pPr algn="ctr">
              <a:defRPr sz="1830" b="1">
                <a:solidFill>
                  <a:srgbClr val="FFFFFF"/>
                </a:solidFill>
                <a:latin typeface="Arial"/>
                <a:ea typeface="Arial"/>
                <a:cs typeface="Arial"/>
              </a:defRPr>
            </a:lvl3pPr>
            <a:lvl4pPr algn="ctr">
              <a:defRPr sz="1830" b="1">
                <a:solidFill>
                  <a:srgbClr val="FFFFFF"/>
                </a:solidFill>
                <a:latin typeface="Arial"/>
                <a:ea typeface="Arial"/>
                <a:cs typeface="Arial"/>
              </a:defRPr>
            </a:lvl4pPr>
            <a:lvl5pPr algn="ctr">
              <a:defRPr sz="1830" b="1">
                <a:solidFill>
                  <a:srgbClr val="FFFFFF"/>
                </a:solidFill>
                <a:latin typeface="Arial"/>
                <a:ea typeface="Arial"/>
                <a:cs typeface="Arial"/>
              </a:defRPr>
            </a:lvl5pPr>
            <a:lvl6pPr algn="ctr">
              <a:defRPr sz="1830" b="1">
                <a:solidFill>
                  <a:srgbClr val="FFFFFF"/>
                </a:solidFill>
                <a:latin typeface="Arial"/>
                <a:ea typeface="Arial"/>
                <a:cs typeface="Arial"/>
              </a:defRPr>
            </a:lvl6pPr>
            <a:lvl7pPr algn="ctr">
              <a:defRPr sz="1830" b="1">
                <a:solidFill>
                  <a:srgbClr val="FFFFFF"/>
                </a:solidFill>
                <a:latin typeface="Arial"/>
                <a:ea typeface="Arial"/>
                <a:cs typeface="Arial"/>
              </a:defRPr>
            </a:lvl7pPr>
            <a:lvl8pPr algn="ctr">
              <a:defRPr sz="1830" b="1">
                <a:solidFill>
                  <a:srgbClr val="FFFFFF"/>
                </a:solidFill>
                <a:latin typeface="Arial"/>
                <a:ea typeface="Arial"/>
                <a:cs typeface="Arial"/>
              </a:defRPr>
            </a:lvl8pPr>
            <a:lvl9pPr algn="ctr">
              <a:defRPr sz="1830" b="1">
                <a:solidFill>
                  <a:srgbClr val="FFFFFF"/>
                </a:solidFill>
                <a:latin typeface="Arial"/>
                <a:ea typeface="Arial"/>
                <a:cs typeface="Arial"/>
              </a:defRPr>
            </a:lvl9pPr>
          </a:lstStyle>
          <a:p>
            <a:pPr algn="ctr">
              <a:defRPr sz="1830" b="1">
                <a:solidFill>
                  <a:srgbClr val="FFFFFF"/>
                </a:solidFill>
                <a:latin typeface="Arial"/>
                <a:ea typeface="Arial"/>
                <a:cs typeface="Arial"/>
              </a:defRPr>
            </a:pPr>
            <a:r>
              <a:rPr sz="1830"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162C3EA8-4217-4A70-9440-975FED3CD661}"/>
              </a:ext>
            </a:extLst>
          </p:cNvPr>
          <p:cNvSpPr>
            <a:spLocks noGrp="1"/>
          </p:cNvSpPr>
          <p:nvPr/>
        </p:nvSpPr>
        <p:spPr>
          <a:xfrm>
            <a:off x="1285875" y="3181350"/>
            <a:ext cx="6238875"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applycal run</a:t>
            </a:r>
          </a:p>
        </p:txBody>
      </p:sp>
      <p:sp>
        <p:nvSpPr>
          <p:cNvPr id="10" name="Rectangle 9">
            <a:extLst>
              <a:ext uri="{FF2B5EF4-FFF2-40B4-BE49-F238E27FC236}">
                <a16:creationId xmlns:a16="http://schemas.microsoft.com/office/drawing/2014/main" id="{8C07FDC4-4C0E-4C47-BEA7-084BE35B500A}"/>
              </a:ext>
            </a:extLst>
          </p:cNvPr>
          <p:cNvSpPr>
            <a:spLocks noGrp="1"/>
          </p:cNvSpPr>
          <p:nvPr/>
        </p:nvSpPr>
        <p:spPr>
          <a:xfrm>
            <a:off x="1285875" y="3619500"/>
            <a:ext cx="3810000" cy="428625"/>
          </a:xfrm>
          <a:prstGeom prst="rect">
            <a:avLst/>
          </a:prstGeom>
          <a:noFill/>
          <a:ln w="0">
            <a:noFill/>
          </a:ln>
        </p:spPr>
        <p:txBody>
          <a:bodyPr wrap="square" lIns="0" tIns="0" rIns="0" bIns="0" anchor="t">
            <a:noAutofit/>
          </a:bodyPr>
          <a:lstStyle>
            <a:defPPr>
              <a:defRPr sz="1875" b="0">
                <a:solidFill>
                  <a:srgbClr val="075CA8"/>
                </a:solidFill>
                <a:latin typeface="Menlo"/>
                <a:ea typeface="Menlo"/>
                <a:cs typeface="Menlo"/>
              </a:defRPr>
            </a:defPPr>
            <a:lvl1pPr>
              <a:defRPr sz="1875" b="0">
                <a:solidFill>
                  <a:srgbClr val="075CA8"/>
                </a:solidFill>
                <a:latin typeface="Menlo"/>
                <a:ea typeface="Menlo"/>
                <a:cs typeface="Menlo"/>
              </a:defRPr>
            </a:lvl1pPr>
            <a:lvl2pPr>
              <a:defRPr sz="1875" b="0">
                <a:solidFill>
                  <a:srgbClr val="075CA8"/>
                </a:solidFill>
                <a:latin typeface="Menlo"/>
                <a:ea typeface="Menlo"/>
                <a:cs typeface="Menlo"/>
              </a:defRPr>
            </a:lvl2pPr>
            <a:lvl3pPr>
              <a:defRPr sz="1875" b="0">
                <a:solidFill>
                  <a:srgbClr val="075CA8"/>
                </a:solidFill>
                <a:latin typeface="Menlo"/>
                <a:ea typeface="Menlo"/>
                <a:cs typeface="Menlo"/>
              </a:defRPr>
            </a:lvl3pPr>
            <a:lvl4pPr>
              <a:defRPr sz="1875" b="0">
                <a:solidFill>
                  <a:srgbClr val="075CA8"/>
                </a:solidFill>
                <a:latin typeface="Menlo"/>
                <a:ea typeface="Menlo"/>
                <a:cs typeface="Menlo"/>
              </a:defRPr>
            </a:lvl4pPr>
            <a:lvl5pPr>
              <a:defRPr sz="1875" b="0">
                <a:solidFill>
                  <a:srgbClr val="075CA8"/>
                </a:solidFill>
                <a:latin typeface="Menlo"/>
                <a:ea typeface="Menlo"/>
                <a:cs typeface="Menlo"/>
              </a:defRPr>
            </a:lvl5pPr>
            <a:lvl6pPr>
              <a:defRPr sz="1875" b="0">
                <a:solidFill>
                  <a:srgbClr val="075CA8"/>
                </a:solidFill>
                <a:latin typeface="Menlo"/>
                <a:ea typeface="Menlo"/>
                <a:cs typeface="Menlo"/>
              </a:defRPr>
            </a:lvl6pPr>
            <a:lvl7pPr>
              <a:defRPr sz="1875" b="0">
                <a:solidFill>
                  <a:srgbClr val="075CA8"/>
                </a:solidFill>
                <a:latin typeface="Menlo"/>
                <a:ea typeface="Menlo"/>
                <a:cs typeface="Menlo"/>
              </a:defRPr>
            </a:lvl7pPr>
            <a:lvl8pPr>
              <a:defRPr sz="1875" b="0">
                <a:solidFill>
                  <a:srgbClr val="075CA8"/>
                </a:solidFill>
                <a:latin typeface="Menlo"/>
                <a:ea typeface="Menlo"/>
                <a:cs typeface="Menlo"/>
              </a:defRPr>
            </a:lvl8pPr>
            <a:lvl9pPr>
              <a:defRPr sz="1875" b="0">
                <a:solidFill>
                  <a:srgbClr val="075CA8"/>
                </a:solidFill>
                <a:latin typeface="Menlo"/>
                <a:ea typeface="Menlo"/>
                <a:cs typeface="Menlo"/>
              </a:defRPr>
            </a:lvl9pPr>
          </a:lstStyle>
          <a:p>
            <a:pPr>
              <a:defRPr sz="1875" b="0">
                <a:solidFill>
                  <a:srgbClr val="075CA8"/>
                </a:solidFill>
                <a:latin typeface="Menlo"/>
                <a:ea typeface="Menlo"/>
                <a:cs typeface="Menlo"/>
              </a:defRPr>
            </a:pPr>
            <a:r>
              <a:rPr sz="1875" b="0">
                <a:solidFill>
                  <a:srgbClr val="075CA8"/>
                </a:solidFill>
                <a:latin typeface="Menlo"/>
                <a:ea typeface="Menlo"/>
                <a:cs typeface="Menlo"/>
              </a:rPr>
              <a:t>wait</a:t>
            </a:r>
          </a:p>
        </p:txBody>
      </p:sp>
      <p:sp>
        <p:nvSpPr>
          <p:cNvPr id="11" name="Rectangle 10">
            <a:extLst>
              <a:ext uri="{FF2B5EF4-FFF2-40B4-BE49-F238E27FC236}">
                <a16:creationId xmlns:a16="http://schemas.microsoft.com/office/drawing/2014/main" id="{8A59E34F-F4A5-4D82-B4A2-AEE9A0287C87}"/>
              </a:ext>
            </a:extLst>
          </p:cNvPr>
          <p:cNvSpPr>
            <a:spLocks noGrp="1"/>
          </p:cNvSpPr>
          <p:nvPr/>
        </p:nvSpPr>
        <p:spPr>
          <a:xfrm>
            <a:off x="8096250" y="3257550"/>
            <a:ext cx="6381750" cy="71437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Frequency-dependent calibration</a:t>
            </a:r>
          </a:p>
        </p:txBody>
      </p:sp>
      <p:sp>
        <p:nvSpPr>
          <p:cNvPr id="12" name="Oval 11">
            <a:extLst>
              <a:ext uri="{FF2B5EF4-FFF2-40B4-BE49-F238E27FC236}">
                <a16:creationId xmlns:a16="http://schemas.microsoft.com/office/drawing/2014/main" id="{AF825111-0E58-40EA-93D0-141A70030B96}"/>
              </a:ext>
            </a:extLst>
          </p:cNvPr>
          <p:cNvSpPr>
            <a:spLocks noGrp="1"/>
          </p:cNvSpPr>
          <p:nvPr/>
        </p:nvSpPr>
        <p:spPr>
          <a:xfrm>
            <a:off x="647700" y="4276725"/>
            <a:ext cx="381000" cy="381000"/>
          </a:xfrm>
          <a:prstGeom prst="ellipse">
            <a:avLst/>
          </a:prstGeom>
          <a:solidFill>
            <a:srgbClr val="D77313"/>
          </a:solidFill>
          <a:ln w="19050">
            <a:solidFill>
              <a:srgbClr val="FFFFFF"/>
            </a:solidFill>
          </a:ln>
        </p:spPr>
        <p:txBody>
          <a:bodyPr lIns="0" tIns="0" rIns="0" bIns="0" anchor="ctr"/>
          <a:lstStyle>
            <a:defPPr algn="ctr">
              <a:defRPr sz="1830" b="1">
                <a:solidFill>
                  <a:srgbClr val="FFFFFF"/>
                </a:solidFill>
                <a:latin typeface="Arial"/>
                <a:ea typeface="Arial"/>
                <a:cs typeface="Arial"/>
              </a:defRPr>
            </a:defPPr>
            <a:lvl1pPr algn="ctr">
              <a:defRPr sz="1830" b="1">
                <a:solidFill>
                  <a:srgbClr val="FFFFFF"/>
                </a:solidFill>
                <a:latin typeface="Arial"/>
                <a:ea typeface="Arial"/>
                <a:cs typeface="Arial"/>
              </a:defRPr>
            </a:lvl1pPr>
            <a:lvl2pPr algn="ctr">
              <a:defRPr sz="1830" b="1">
                <a:solidFill>
                  <a:srgbClr val="FFFFFF"/>
                </a:solidFill>
                <a:latin typeface="Arial"/>
                <a:ea typeface="Arial"/>
                <a:cs typeface="Arial"/>
              </a:defRPr>
            </a:lvl2pPr>
            <a:lvl3pPr algn="ctr">
              <a:defRPr sz="1830" b="1">
                <a:solidFill>
                  <a:srgbClr val="FFFFFF"/>
                </a:solidFill>
                <a:latin typeface="Arial"/>
                <a:ea typeface="Arial"/>
                <a:cs typeface="Arial"/>
              </a:defRPr>
            </a:lvl3pPr>
            <a:lvl4pPr algn="ctr">
              <a:defRPr sz="1830" b="1">
                <a:solidFill>
                  <a:srgbClr val="FFFFFF"/>
                </a:solidFill>
                <a:latin typeface="Arial"/>
                <a:ea typeface="Arial"/>
                <a:cs typeface="Arial"/>
              </a:defRPr>
            </a:lvl4pPr>
            <a:lvl5pPr algn="ctr">
              <a:defRPr sz="1830" b="1">
                <a:solidFill>
                  <a:srgbClr val="FFFFFF"/>
                </a:solidFill>
                <a:latin typeface="Arial"/>
                <a:ea typeface="Arial"/>
                <a:cs typeface="Arial"/>
              </a:defRPr>
            </a:lvl5pPr>
            <a:lvl6pPr algn="ctr">
              <a:defRPr sz="1830" b="1">
                <a:solidFill>
                  <a:srgbClr val="FFFFFF"/>
                </a:solidFill>
                <a:latin typeface="Arial"/>
                <a:ea typeface="Arial"/>
                <a:cs typeface="Arial"/>
              </a:defRPr>
            </a:lvl6pPr>
            <a:lvl7pPr algn="ctr">
              <a:defRPr sz="1830" b="1">
                <a:solidFill>
                  <a:srgbClr val="FFFFFF"/>
                </a:solidFill>
                <a:latin typeface="Arial"/>
                <a:ea typeface="Arial"/>
                <a:cs typeface="Arial"/>
              </a:defRPr>
            </a:lvl7pPr>
            <a:lvl8pPr algn="ctr">
              <a:defRPr sz="1830" b="1">
                <a:solidFill>
                  <a:srgbClr val="FFFFFF"/>
                </a:solidFill>
                <a:latin typeface="Arial"/>
                <a:ea typeface="Arial"/>
                <a:cs typeface="Arial"/>
              </a:defRPr>
            </a:lvl8pPr>
            <a:lvl9pPr algn="ctr">
              <a:defRPr sz="1830" b="1">
                <a:solidFill>
                  <a:srgbClr val="FFFFFF"/>
                </a:solidFill>
                <a:latin typeface="Arial"/>
                <a:ea typeface="Arial"/>
                <a:cs typeface="Arial"/>
              </a:defRPr>
            </a:lvl9pPr>
          </a:lstStyle>
          <a:p>
            <a:pPr algn="ctr">
              <a:defRPr sz="1830" b="1">
                <a:solidFill>
                  <a:srgbClr val="FFFFFF"/>
                </a:solidFill>
                <a:latin typeface="Arial"/>
                <a:ea typeface="Arial"/>
                <a:cs typeface="Arial"/>
              </a:defRPr>
            </a:pPr>
            <a:r>
              <a:rPr sz="183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B5326910-8E98-47C6-8B1C-CD2DFFC393AE}"/>
              </a:ext>
            </a:extLst>
          </p:cNvPr>
          <p:cNvSpPr>
            <a:spLocks noGrp="1"/>
          </p:cNvSpPr>
          <p:nvPr/>
        </p:nvSpPr>
        <p:spPr>
          <a:xfrm>
            <a:off x="1285875" y="4248150"/>
            <a:ext cx="6238875"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baseline run</a:t>
            </a:r>
          </a:p>
        </p:txBody>
      </p:sp>
      <p:sp>
        <p:nvSpPr>
          <p:cNvPr id="14" name="Rectangle 13">
            <a:extLst>
              <a:ext uri="{FF2B5EF4-FFF2-40B4-BE49-F238E27FC236}">
                <a16:creationId xmlns:a16="http://schemas.microsoft.com/office/drawing/2014/main" id="{5E104AD3-5518-4419-9964-1EAF6A2180D5}"/>
              </a:ext>
            </a:extLst>
          </p:cNvPr>
          <p:cNvSpPr>
            <a:spLocks noGrp="1"/>
          </p:cNvSpPr>
          <p:nvPr/>
        </p:nvSpPr>
        <p:spPr>
          <a:xfrm>
            <a:off x="1285875" y="4686300"/>
            <a:ext cx="3810000" cy="428625"/>
          </a:xfrm>
          <a:prstGeom prst="rect">
            <a:avLst/>
          </a:prstGeom>
          <a:noFill/>
          <a:ln w="0">
            <a:noFill/>
          </a:ln>
        </p:spPr>
        <p:txBody>
          <a:bodyPr wrap="square" lIns="0" tIns="0" rIns="0" bIns="0" anchor="t">
            <a:noAutofit/>
          </a:bodyPr>
          <a:lstStyle>
            <a:defPPr>
              <a:defRPr sz="1875" b="0">
                <a:solidFill>
                  <a:srgbClr val="075CA8"/>
                </a:solidFill>
                <a:latin typeface="Menlo"/>
                <a:ea typeface="Menlo"/>
                <a:cs typeface="Menlo"/>
              </a:defRPr>
            </a:defPPr>
            <a:lvl1pPr>
              <a:defRPr sz="1875" b="0">
                <a:solidFill>
                  <a:srgbClr val="075CA8"/>
                </a:solidFill>
                <a:latin typeface="Menlo"/>
                <a:ea typeface="Menlo"/>
                <a:cs typeface="Menlo"/>
              </a:defRPr>
            </a:lvl1pPr>
            <a:lvl2pPr>
              <a:defRPr sz="1875" b="0">
                <a:solidFill>
                  <a:srgbClr val="075CA8"/>
                </a:solidFill>
                <a:latin typeface="Menlo"/>
                <a:ea typeface="Menlo"/>
                <a:cs typeface="Menlo"/>
              </a:defRPr>
            </a:lvl2pPr>
            <a:lvl3pPr>
              <a:defRPr sz="1875" b="0">
                <a:solidFill>
                  <a:srgbClr val="075CA8"/>
                </a:solidFill>
                <a:latin typeface="Menlo"/>
                <a:ea typeface="Menlo"/>
                <a:cs typeface="Menlo"/>
              </a:defRPr>
            </a:lvl3pPr>
            <a:lvl4pPr>
              <a:defRPr sz="1875" b="0">
                <a:solidFill>
                  <a:srgbClr val="075CA8"/>
                </a:solidFill>
                <a:latin typeface="Menlo"/>
                <a:ea typeface="Menlo"/>
                <a:cs typeface="Menlo"/>
              </a:defRPr>
            </a:lvl4pPr>
            <a:lvl5pPr>
              <a:defRPr sz="1875" b="0">
                <a:solidFill>
                  <a:srgbClr val="075CA8"/>
                </a:solidFill>
                <a:latin typeface="Menlo"/>
                <a:ea typeface="Menlo"/>
                <a:cs typeface="Menlo"/>
              </a:defRPr>
            </a:lvl5pPr>
            <a:lvl6pPr>
              <a:defRPr sz="1875" b="0">
                <a:solidFill>
                  <a:srgbClr val="075CA8"/>
                </a:solidFill>
                <a:latin typeface="Menlo"/>
                <a:ea typeface="Menlo"/>
                <a:cs typeface="Menlo"/>
              </a:defRPr>
            </a:lvl6pPr>
            <a:lvl7pPr>
              <a:defRPr sz="1875" b="0">
                <a:solidFill>
                  <a:srgbClr val="075CA8"/>
                </a:solidFill>
                <a:latin typeface="Menlo"/>
                <a:ea typeface="Menlo"/>
                <a:cs typeface="Menlo"/>
              </a:defRPr>
            </a:lvl7pPr>
            <a:lvl8pPr>
              <a:defRPr sz="1875" b="0">
                <a:solidFill>
                  <a:srgbClr val="075CA8"/>
                </a:solidFill>
                <a:latin typeface="Menlo"/>
                <a:ea typeface="Menlo"/>
                <a:cs typeface="Menlo"/>
              </a:defRPr>
            </a:lvl8pPr>
            <a:lvl9pPr>
              <a:defRPr sz="1875" b="0">
                <a:solidFill>
                  <a:srgbClr val="075CA8"/>
                </a:solidFill>
                <a:latin typeface="Menlo"/>
                <a:ea typeface="Menlo"/>
                <a:cs typeface="Menlo"/>
              </a:defRPr>
            </a:lvl9pPr>
          </a:lstStyle>
          <a:p>
            <a:pPr>
              <a:defRPr sz="1875" b="0">
                <a:solidFill>
                  <a:srgbClr val="075CA8"/>
                </a:solidFill>
                <a:latin typeface="Menlo"/>
                <a:ea typeface="Menlo"/>
                <a:cs typeface="Menlo"/>
              </a:defRPr>
            </a:pPr>
            <a:r>
              <a:rPr sz="1875" b="0">
                <a:solidFill>
                  <a:srgbClr val="075CA8"/>
                </a:solidFill>
                <a:latin typeface="Menlo"/>
                <a:ea typeface="Menlo"/>
                <a:cs typeface="Menlo"/>
              </a:rPr>
              <a:t>wait</a:t>
            </a:r>
          </a:p>
        </p:txBody>
      </p:sp>
      <p:sp>
        <p:nvSpPr>
          <p:cNvPr id="15" name="Rectangle 14">
            <a:extLst>
              <a:ext uri="{FF2B5EF4-FFF2-40B4-BE49-F238E27FC236}">
                <a16:creationId xmlns:a16="http://schemas.microsoft.com/office/drawing/2014/main" id="{FCF930B7-3D1C-4FA0-95F0-4BE2725DC5FD}"/>
              </a:ext>
            </a:extLst>
          </p:cNvPr>
          <p:cNvSpPr>
            <a:spLocks noGrp="1"/>
          </p:cNvSpPr>
          <p:nvPr/>
        </p:nvSpPr>
        <p:spPr>
          <a:xfrm>
            <a:off x="8096250" y="4324350"/>
            <a:ext cx="6381750" cy="71437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Independent AA/BB baseline fits</a:t>
            </a:r>
          </a:p>
        </p:txBody>
      </p:sp>
      <p:sp>
        <p:nvSpPr>
          <p:cNvPr id="16" name="Oval 15">
            <a:extLst>
              <a:ext uri="{FF2B5EF4-FFF2-40B4-BE49-F238E27FC236}">
                <a16:creationId xmlns:a16="http://schemas.microsoft.com/office/drawing/2014/main" id="{4537917F-DDDA-45BA-92FB-F7D335F83D20}"/>
              </a:ext>
            </a:extLst>
          </p:cNvPr>
          <p:cNvSpPr>
            <a:spLocks noGrp="1"/>
          </p:cNvSpPr>
          <p:nvPr/>
        </p:nvSpPr>
        <p:spPr>
          <a:xfrm>
            <a:off x="647700" y="5343525"/>
            <a:ext cx="381000" cy="381000"/>
          </a:xfrm>
          <a:prstGeom prst="ellipse">
            <a:avLst/>
          </a:prstGeom>
          <a:solidFill>
            <a:srgbClr val="D77313"/>
          </a:solidFill>
          <a:ln w="19050">
            <a:solidFill>
              <a:srgbClr val="FFFFFF"/>
            </a:solidFill>
          </a:ln>
        </p:spPr>
        <p:txBody>
          <a:bodyPr lIns="0" tIns="0" rIns="0" bIns="0" anchor="ctr"/>
          <a:lstStyle>
            <a:defPPr algn="ctr">
              <a:defRPr sz="1830" b="1">
                <a:solidFill>
                  <a:srgbClr val="FFFFFF"/>
                </a:solidFill>
                <a:latin typeface="Arial"/>
                <a:ea typeface="Arial"/>
                <a:cs typeface="Arial"/>
              </a:defRPr>
            </a:defPPr>
            <a:lvl1pPr algn="ctr">
              <a:defRPr sz="1830" b="1">
                <a:solidFill>
                  <a:srgbClr val="FFFFFF"/>
                </a:solidFill>
                <a:latin typeface="Arial"/>
                <a:ea typeface="Arial"/>
                <a:cs typeface="Arial"/>
              </a:defRPr>
            </a:lvl1pPr>
            <a:lvl2pPr algn="ctr">
              <a:defRPr sz="1830" b="1">
                <a:solidFill>
                  <a:srgbClr val="FFFFFF"/>
                </a:solidFill>
                <a:latin typeface="Arial"/>
                <a:ea typeface="Arial"/>
                <a:cs typeface="Arial"/>
              </a:defRPr>
            </a:lvl2pPr>
            <a:lvl3pPr algn="ctr">
              <a:defRPr sz="1830" b="1">
                <a:solidFill>
                  <a:srgbClr val="FFFFFF"/>
                </a:solidFill>
                <a:latin typeface="Arial"/>
                <a:ea typeface="Arial"/>
                <a:cs typeface="Arial"/>
              </a:defRPr>
            </a:lvl3pPr>
            <a:lvl4pPr algn="ctr">
              <a:defRPr sz="1830" b="1">
                <a:solidFill>
                  <a:srgbClr val="FFFFFF"/>
                </a:solidFill>
                <a:latin typeface="Arial"/>
                <a:ea typeface="Arial"/>
                <a:cs typeface="Arial"/>
              </a:defRPr>
            </a:lvl4pPr>
            <a:lvl5pPr algn="ctr">
              <a:defRPr sz="1830" b="1">
                <a:solidFill>
                  <a:srgbClr val="FFFFFF"/>
                </a:solidFill>
                <a:latin typeface="Arial"/>
                <a:ea typeface="Arial"/>
                <a:cs typeface="Arial"/>
              </a:defRPr>
            </a:lvl5pPr>
            <a:lvl6pPr algn="ctr">
              <a:defRPr sz="1830" b="1">
                <a:solidFill>
                  <a:srgbClr val="FFFFFF"/>
                </a:solidFill>
                <a:latin typeface="Arial"/>
                <a:ea typeface="Arial"/>
                <a:cs typeface="Arial"/>
              </a:defRPr>
            </a:lvl6pPr>
            <a:lvl7pPr algn="ctr">
              <a:defRPr sz="1830" b="1">
                <a:solidFill>
                  <a:srgbClr val="FFFFFF"/>
                </a:solidFill>
                <a:latin typeface="Arial"/>
                <a:ea typeface="Arial"/>
                <a:cs typeface="Arial"/>
              </a:defRPr>
            </a:lvl7pPr>
            <a:lvl8pPr algn="ctr">
              <a:defRPr sz="1830" b="1">
                <a:solidFill>
                  <a:srgbClr val="FFFFFF"/>
                </a:solidFill>
                <a:latin typeface="Arial"/>
                <a:ea typeface="Arial"/>
                <a:cs typeface="Arial"/>
              </a:defRPr>
            </a:lvl8pPr>
            <a:lvl9pPr algn="ctr">
              <a:defRPr sz="1830" b="1">
                <a:solidFill>
                  <a:srgbClr val="FFFFFF"/>
                </a:solidFill>
                <a:latin typeface="Arial"/>
                <a:ea typeface="Arial"/>
                <a:cs typeface="Arial"/>
              </a:defRPr>
            </a:lvl9pPr>
          </a:lstStyle>
          <a:p>
            <a:pPr algn="ctr">
              <a:defRPr sz="1830" b="1">
                <a:solidFill>
                  <a:srgbClr val="FFFFFF"/>
                </a:solidFill>
                <a:latin typeface="Arial"/>
                <a:ea typeface="Arial"/>
                <a:cs typeface="Arial"/>
              </a:defRPr>
            </a:pPr>
            <a:r>
              <a:rPr sz="1830" b="1">
                <a:solidFill>
                  <a:srgbClr val="FFFFFF"/>
                </a:solidFill>
                <a:latin typeface="Arial"/>
                <a:ea typeface="Arial"/>
                <a:cs typeface="Arial"/>
              </a:rPr>
              <a:t>4</a:t>
            </a:r>
          </a:p>
        </p:txBody>
      </p:sp>
      <p:sp>
        <p:nvSpPr>
          <p:cNvPr id="17" name="Rectangle 16">
            <a:extLst>
              <a:ext uri="{FF2B5EF4-FFF2-40B4-BE49-F238E27FC236}">
                <a16:creationId xmlns:a16="http://schemas.microsoft.com/office/drawing/2014/main" id="{EEC9A9EF-DF2D-419A-BCEF-07AC83F0F77A}"/>
              </a:ext>
            </a:extLst>
          </p:cNvPr>
          <p:cNvSpPr>
            <a:spLocks noGrp="1"/>
          </p:cNvSpPr>
          <p:nvPr/>
        </p:nvSpPr>
        <p:spPr>
          <a:xfrm>
            <a:off x="1285875" y="5314950"/>
            <a:ext cx="6238875"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table run</a:t>
            </a:r>
          </a:p>
        </p:txBody>
      </p:sp>
      <p:sp>
        <p:nvSpPr>
          <p:cNvPr id="18" name="Rectangle 17">
            <a:extLst>
              <a:ext uri="{FF2B5EF4-FFF2-40B4-BE49-F238E27FC236}">
                <a16:creationId xmlns:a16="http://schemas.microsoft.com/office/drawing/2014/main" id="{894A14C2-FC43-48D6-9FA2-CF51F65A232C}"/>
              </a:ext>
            </a:extLst>
          </p:cNvPr>
          <p:cNvSpPr>
            <a:spLocks noGrp="1"/>
          </p:cNvSpPr>
          <p:nvPr/>
        </p:nvSpPr>
        <p:spPr>
          <a:xfrm>
            <a:off x="1285875" y="5753100"/>
            <a:ext cx="3810000" cy="428625"/>
          </a:xfrm>
          <a:prstGeom prst="rect">
            <a:avLst/>
          </a:prstGeom>
          <a:noFill/>
          <a:ln w="0">
            <a:noFill/>
          </a:ln>
        </p:spPr>
        <p:txBody>
          <a:bodyPr wrap="square" lIns="0" tIns="0" rIns="0" bIns="0" anchor="t">
            <a:noAutofit/>
          </a:bodyPr>
          <a:lstStyle>
            <a:defPPr>
              <a:defRPr sz="1875" b="0">
                <a:solidFill>
                  <a:srgbClr val="075CA8"/>
                </a:solidFill>
                <a:latin typeface="Menlo"/>
                <a:ea typeface="Menlo"/>
                <a:cs typeface="Menlo"/>
              </a:defRPr>
            </a:defPPr>
            <a:lvl1pPr>
              <a:defRPr sz="1875" b="0">
                <a:solidFill>
                  <a:srgbClr val="075CA8"/>
                </a:solidFill>
                <a:latin typeface="Menlo"/>
                <a:ea typeface="Menlo"/>
                <a:cs typeface="Menlo"/>
              </a:defRPr>
            </a:lvl1pPr>
            <a:lvl2pPr>
              <a:defRPr sz="1875" b="0">
                <a:solidFill>
                  <a:srgbClr val="075CA8"/>
                </a:solidFill>
                <a:latin typeface="Menlo"/>
                <a:ea typeface="Menlo"/>
                <a:cs typeface="Menlo"/>
              </a:defRPr>
            </a:lvl2pPr>
            <a:lvl3pPr>
              <a:defRPr sz="1875" b="0">
                <a:solidFill>
                  <a:srgbClr val="075CA8"/>
                </a:solidFill>
                <a:latin typeface="Menlo"/>
                <a:ea typeface="Menlo"/>
                <a:cs typeface="Menlo"/>
              </a:defRPr>
            </a:lvl3pPr>
            <a:lvl4pPr>
              <a:defRPr sz="1875" b="0">
                <a:solidFill>
                  <a:srgbClr val="075CA8"/>
                </a:solidFill>
                <a:latin typeface="Menlo"/>
                <a:ea typeface="Menlo"/>
                <a:cs typeface="Menlo"/>
              </a:defRPr>
            </a:lvl4pPr>
            <a:lvl5pPr>
              <a:defRPr sz="1875" b="0">
                <a:solidFill>
                  <a:srgbClr val="075CA8"/>
                </a:solidFill>
                <a:latin typeface="Menlo"/>
                <a:ea typeface="Menlo"/>
                <a:cs typeface="Menlo"/>
              </a:defRPr>
            </a:lvl5pPr>
            <a:lvl6pPr>
              <a:defRPr sz="1875" b="0">
                <a:solidFill>
                  <a:srgbClr val="075CA8"/>
                </a:solidFill>
                <a:latin typeface="Menlo"/>
                <a:ea typeface="Menlo"/>
                <a:cs typeface="Menlo"/>
              </a:defRPr>
            </a:lvl6pPr>
            <a:lvl7pPr>
              <a:defRPr sz="1875" b="0">
                <a:solidFill>
                  <a:srgbClr val="075CA8"/>
                </a:solidFill>
                <a:latin typeface="Menlo"/>
                <a:ea typeface="Menlo"/>
                <a:cs typeface="Menlo"/>
              </a:defRPr>
            </a:lvl7pPr>
            <a:lvl8pPr>
              <a:defRPr sz="1875" b="0">
                <a:solidFill>
                  <a:srgbClr val="075CA8"/>
                </a:solidFill>
                <a:latin typeface="Menlo"/>
                <a:ea typeface="Menlo"/>
                <a:cs typeface="Menlo"/>
              </a:defRPr>
            </a:lvl8pPr>
            <a:lvl9pPr>
              <a:defRPr sz="1875" b="0">
                <a:solidFill>
                  <a:srgbClr val="075CA8"/>
                </a:solidFill>
                <a:latin typeface="Menlo"/>
                <a:ea typeface="Menlo"/>
                <a:cs typeface="Menlo"/>
              </a:defRPr>
            </a:lvl9pPr>
          </a:lstStyle>
          <a:p>
            <a:pPr>
              <a:defRPr sz="1875" b="0">
                <a:solidFill>
                  <a:srgbClr val="075CA8"/>
                </a:solidFill>
                <a:latin typeface="Menlo"/>
                <a:ea typeface="Menlo"/>
                <a:cs typeface="Menlo"/>
              </a:defRPr>
            </a:pPr>
            <a:r>
              <a:rPr sz="1875" b="0">
                <a:solidFill>
                  <a:srgbClr val="075CA8"/>
                </a:solidFill>
                <a:latin typeface="Menlo"/>
                <a:ea typeface="Menlo"/>
                <a:cs typeface="Menlo"/>
              </a:rPr>
              <a:t>wait</a:t>
            </a:r>
          </a:p>
        </p:txBody>
      </p:sp>
      <p:sp>
        <p:nvSpPr>
          <p:cNvPr id="19" name="Rectangle 18">
            <a:extLst>
              <a:ext uri="{FF2B5EF4-FFF2-40B4-BE49-F238E27FC236}">
                <a16:creationId xmlns:a16="http://schemas.microsoft.com/office/drawing/2014/main" id="{78BB5D84-DC42-46F7-B57D-836560EC37A8}"/>
              </a:ext>
            </a:extLst>
          </p:cNvPr>
          <p:cNvSpPr>
            <a:spLocks noGrp="1"/>
          </p:cNvSpPr>
          <p:nvPr/>
        </p:nvSpPr>
        <p:spPr>
          <a:xfrm>
            <a:off x="8096250" y="5391150"/>
            <a:ext cx="6381750" cy="71437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Doppler alignment and spectral resampling</a:t>
            </a:r>
          </a:p>
        </p:txBody>
      </p:sp>
      <p:sp>
        <p:nvSpPr>
          <p:cNvPr id="20" name="Oval 19">
            <a:extLst>
              <a:ext uri="{FF2B5EF4-FFF2-40B4-BE49-F238E27FC236}">
                <a16:creationId xmlns:a16="http://schemas.microsoft.com/office/drawing/2014/main" id="{EC1CBA8E-F42E-48D9-9402-99FE55DA3DA6}"/>
              </a:ext>
            </a:extLst>
          </p:cNvPr>
          <p:cNvSpPr>
            <a:spLocks noGrp="1"/>
          </p:cNvSpPr>
          <p:nvPr/>
        </p:nvSpPr>
        <p:spPr>
          <a:xfrm>
            <a:off x="647700" y="6410325"/>
            <a:ext cx="381000" cy="381000"/>
          </a:xfrm>
          <a:prstGeom prst="ellipse">
            <a:avLst/>
          </a:prstGeom>
          <a:solidFill>
            <a:srgbClr val="D77313"/>
          </a:solidFill>
          <a:ln w="19050">
            <a:solidFill>
              <a:srgbClr val="FFFFFF"/>
            </a:solidFill>
          </a:ln>
        </p:spPr>
        <p:txBody>
          <a:bodyPr lIns="0" tIns="0" rIns="0" bIns="0" anchor="ctr"/>
          <a:lstStyle>
            <a:defPPr algn="ctr">
              <a:defRPr sz="1830" b="1">
                <a:solidFill>
                  <a:srgbClr val="FFFFFF"/>
                </a:solidFill>
                <a:latin typeface="Arial"/>
                <a:ea typeface="Arial"/>
                <a:cs typeface="Arial"/>
              </a:defRPr>
            </a:defPPr>
            <a:lvl1pPr algn="ctr">
              <a:defRPr sz="1830" b="1">
                <a:solidFill>
                  <a:srgbClr val="FFFFFF"/>
                </a:solidFill>
                <a:latin typeface="Arial"/>
                <a:ea typeface="Arial"/>
                <a:cs typeface="Arial"/>
              </a:defRPr>
            </a:lvl1pPr>
            <a:lvl2pPr algn="ctr">
              <a:defRPr sz="1830" b="1">
                <a:solidFill>
                  <a:srgbClr val="FFFFFF"/>
                </a:solidFill>
                <a:latin typeface="Arial"/>
                <a:ea typeface="Arial"/>
                <a:cs typeface="Arial"/>
              </a:defRPr>
            </a:lvl2pPr>
            <a:lvl3pPr algn="ctr">
              <a:defRPr sz="1830" b="1">
                <a:solidFill>
                  <a:srgbClr val="FFFFFF"/>
                </a:solidFill>
                <a:latin typeface="Arial"/>
                <a:ea typeface="Arial"/>
                <a:cs typeface="Arial"/>
              </a:defRPr>
            </a:lvl3pPr>
            <a:lvl4pPr algn="ctr">
              <a:defRPr sz="1830" b="1">
                <a:solidFill>
                  <a:srgbClr val="FFFFFF"/>
                </a:solidFill>
                <a:latin typeface="Arial"/>
                <a:ea typeface="Arial"/>
                <a:cs typeface="Arial"/>
              </a:defRPr>
            </a:lvl4pPr>
            <a:lvl5pPr algn="ctr">
              <a:defRPr sz="1830" b="1">
                <a:solidFill>
                  <a:srgbClr val="FFFFFF"/>
                </a:solidFill>
                <a:latin typeface="Arial"/>
                <a:ea typeface="Arial"/>
                <a:cs typeface="Arial"/>
              </a:defRPr>
            </a:lvl5pPr>
            <a:lvl6pPr algn="ctr">
              <a:defRPr sz="1830" b="1">
                <a:solidFill>
                  <a:srgbClr val="FFFFFF"/>
                </a:solidFill>
                <a:latin typeface="Arial"/>
                <a:ea typeface="Arial"/>
                <a:cs typeface="Arial"/>
              </a:defRPr>
            </a:lvl6pPr>
            <a:lvl7pPr algn="ctr">
              <a:defRPr sz="1830" b="1">
                <a:solidFill>
                  <a:srgbClr val="FFFFFF"/>
                </a:solidFill>
                <a:latin typeface="Arial"/>
                <a:ea typeface="Arial"/>
                <a:cs typeface="Arial"/>
              </a:defRPr>
            </a:lvl7pPr>
            <a:lvl8pPr algn="ctr">
              <a:defRPr sz="1830" b="1">
                <a:solidFill>
                  <a:srgbClr val="FFFFFF"/>
                </a:solidFill>
                <a:latin typeface="Arial"/>
                <a:ea typeface="Arial"/>
                <a:cs typeface="Arial"/>
              </a:defRPr>
            </a:lvl8pPr>
            <a:lvl9pPr algn="ctr">
              <a:defRPr sz="1830" b="1">
                <a:solidFill>
                  <a:srgbClr val="FFFFFF"/>
                </a:solidFill>
                <a:latin typeface="Arial"/>
                <a:ea typeface="Arial"/>
                <a:cs typeface="Arial"/>
              </a:defRPr>
            </a:lvl9pPr>
          </a:lstStyle>
          <a:p>
            <a:pPr algn="ctr">
              <a:defRPr sz="1830" b="1">
                <a:solidFill>
                  <a:srgbClr val="FFFFFF"/>
                </a:solidFill>
                <a:latin typeface="Arial"/>
                <a:ea typeface="Arial"/>
                <a:cs typeface="Arial"/>
              </a:defRPr>
            </a:pPr>
            <a:r>
              <a:rPr sz="1830" b="1">
                <a:solidFill>
                  <a:srgbClr val="FFFFFF"/>
                </a:solidFill>
                <a:latin typeface="Arial"/>
                <a:ea typeface="Arial"/>
                <a:cs typeface="Arial"/>
              </a:rPr>
              <a:t>5</a:t>
            </a:r>
          </a:p>
        </p:txBody>
      </p:sp>
      <p:sp>
        <p:nvSpPr>
          <p:cNvPr id="21" name="Rectangle 20">
            <a:extLst>
              <a:ext uri="{FF2B5EF4-FFF2-40B4-BE49-F238E27FC236}">
                <a16:creationId xmlns:a16="http://schemas.microsoft.com/office/drawing/2014/main" id="{B760172C-64BF-43C7-A89F-76790D7AF6DA}"/>
              </a:ext>
            </a:extLst>
          </p:cNvPr>
          <p:cNvSpPr>
            <a:spLocks noGrp="1"/>
          </p:cNvSpPr>
          <p:nvPr/>
        </p:nvSpPr>
        <p:spPr>
          <a:xfrm>
            <a:off x="1285875" y="6381750"/>
            <a:ext cx="6238875" cy="476250"/>
          </a:xfrm>
          <a:prstGeom prst="rect">
            <a:avLst/>
          </a:prstGeom>
          <a:noFill/>
          <a:ln w="0">
            <a:noFill/>
          </a:ln>
        </p:spPr>
        <p:txBody>
          <a:bodyPr wrap="square" lIns="0" tIns="0" rIns="0" bIns="0" anchor="t">
            <a:noAutofit/>
          </a:bodyPr>
          <a:lstStyle>
            <a:defPPr>
              <a:defRPr sz="2400" b="0">
                <a:solidFill>
                  <a:srgbClr val="075CA8"/>
                </a:solidFill>
                <a:latin typeface="Menlo"/>
                <a:ea typeface="Menlo"/>
                <a:cs typeface="Menlo"/>
              </a:defRPr>
            </a:defPPr>
            <a:lvl1pPr>
              <a:defRPr sz="2400" b="0">
                <a:solidFill>
                  <a:srgbClr val="075CA8"/>
                </a:solidFill>
                <a:latin typeface="Menlo"/>
                <a:ea typeface="Menlo"/>
                <a:cs typeface="Menlo"/>
              </a:defRPr>
            </a:lvl1pPr>
            <a:lvl2pPr>
              <a:defRPr sz="2400" b="0">
                <a:solidFill>
                  <a:srgbClr val="075CA8"/>
                </a:solidFill>
                <a:latin typeface="Menlo"/>
                <a:ea typeface="Menlo"/>
                <a:cs typeface="Menlo"/>
              </a:defRPr>
            </a:lvl2pPr>
            <a:lvl3pPr>
              <a:defRPr sz="2400" b="0">
                <a:solidFill>
                  <a:srgbClr val="075CA8"/>
                </a:solidFill>
                <a:latin typeface="Menlo"/>
                <a:ea typeface="Menlo"/>
                <a:cs typeface="Menlo"/>
              </a:defRPr>
            </a:lvl3pPr>
            <a:lvl4pPr>
              <a:defRPr sz="2400" b="0">
                <a:solidFill>
                  <a:srgbClr val="075CA8"/>
                </a:solidFill>
                <a:latin typeface="Menlo"/>
                <a:ea typeface="Menlo"/>
                <a:cs typeface="Menlo"/>
              </a:defRPr>
            </a:lvl4pPr>
            <a:lvl5pPr>
              <a:defRPr sz="2400" b="0">
                <a:solidFill>
                  <a:srgbClr val="075CA8"/>
                </a:solidFill>
                <a:latin typeface="Menlo"/>
                <a:ea typeface="Menlo"/>
                <a:cs typeface="Menlo"/>
              </a:defRPr>
            </a:lvl5pPr>
            <a:lvl6pPr>
              <a:defRPr sz="2400" b="0">
                <a:solidFill>
                  <a:srgbClr val="075CA8"/>
                </a:solidFill>
                <a:latin typeface="Menlo"/>
                <a:ea typeface="Menlo"/>
                <a:cs typeface="Menlo"/>
              </a:defRPr>
            </a:lvl6pPr>
            <a:lvl7pPr>
              <a:defRPr sz="2400" b="0">
                <a:solidFill>
                  <a:srgbClr val="075CA8"/>
                </a:solidFill>
                <a:latin typeface="Menlo"/>
                <a:ea typeface="Menlo"/>
                <a:cs typeface="Menlo"/>
              </a:defRPr>
            </a:lvl7pPr>
            <a:lvl8pPr>
              <a:defRPr sz="2400" b="0">
                <a:solidFill>
                  <a:srgbClr val="075CA8"/>
                </a:solidFill>
                <a:latin typeface="Menlo"/>
                <a:ea typeface="Menlo"/>
                <a:cs typeface="Menlo"/>
              </a:defRPr>
            </a:lvl8pPr>
            <a:lvl9pPr>
              <a:defRPr sz="2400" b="0">
                <a:solidFill>
                  <a:srgbClr val="075CA8"/>
                </a:solidFill>
                <a:latin typeface="Menlo"/>
                <a:ea typeface="Menlo"/>
                <a:cs typeface="Menlo"/>
              </a:defRPr>
            </a:lvl9pPr>
          </a:lstStyle>
          <a:p>
            <a:pPr>
              <a:defRPr sz="2400" b="0">
                <a:solidFill>
                  <a:srgbClr val="075CA8"/>
                </a:solidFill>
                <a:latin typeface="Menlo"/>
                <a:ea typeface="Menlo"/>
                <a:cs typeface="Menlo"/>
              </a:defRPr>
            </a:pPr>
            <a:r>
              <a:rPr sz="2400" b="0">
                <a:solidFill>
                  <a:srgbClr val="075CA8"/>
                </a:solidFill>
                <a:latin typeface="Menlo"/>
                <a:ea typeface="Menlo"/>
                <a:cs typeface="Menlo"/>
              </a:rPr>
              <a:t>xy_map run --validate</a:t>
            </a:r>
          </a:p>
        </p:txBody>
      </p:sp>
      <p:sp>
        <p:nvSpPr>
          <p:cNvPr id="22" name="Rectangle 21">
            <a:extLst>
              <a:ext uri="{FF2B5EF4-FFF2-40B4-BE49-F238E27FC236}">
                <a16:creationId xmlns:a16="http://schemas.microsoft.com/office/drawing/2014/main" id="{54184375-11DC-4234-941E-82B3FF9D59B6}"/>
              </a:ext>
            </a:extLst>
          </p:cNvPr>
          <p:cNvSpPr>
            <a:spLocks noGrp="1"/>
          </p:cNvSpPr>
          <p:nvPr/>
        </p:nvSpPr>
        <p:spPr>
          <a:xfrm>
            <a:off x="1285875" y="6819900"/>
            <a:ext cx="3810000" cy="428625"/>
          </a:xfrm>
          <a:prstGeom prst="rect">
            <a:avLst/>
          </a:prstGeom>
          <a:noFill/>
          <a:ln w="0">
            <a:noFill/>
          </a:ln>
        </p:spPr>
        <p:txBody>
          <a:bodyPr wrap="square" lIns="0" tIns="0" rIns="0" bIns="0" anchor="t">
            <a:noAutofit/>
          </a:bodyPr>
          <a:lstStyle>
            <a:defPPr>
              <a:defRPr sz="1875" b="0">
                <a:solidFill>
                  <a:srgbClr val="075CA8"/>
                </a:solidFill>
                <a:latin typeface="Menlo"/>
                <a:ea typeface="Menlo"/>
                <a:cs typeface="Menlo"/>
              </a:defRPr>
            </a:defPPr>
            <a:lvl1pPr>
              <a:defRPr sz="1875" b="0">
                <a:solidFill>
                  <a:srgbClr val="075CA8"/>
                </a:solidFill>
                <a:latin typeface="Menlo"/>
                <a:ea typeface="Menlo"/>
                <a:cs typeface="Menlo"/>
              </a:defRPr>
            </a:lvl1pPr>
            <a:lvl2pPr>
              <a:defRPr sz="1875" b="0">
                <a:solidFill>
                  <a:srgbClr val="075CA8"/>
                </a:solidFill>
                <a:latin typeface="Menlo"/>
                <a:ea typeface="Menlo"/>
                <a:cs typeface="Menlo"/>
              </a:defRPr>
            </a:lvl2pPr>
            <a:lvl3pPr>
              <a:defRPr sz="1875" b="0">
                <a:solidFill>
                  <a:srgbClr val="075CA8"/>
                </a:solidFill>
                <a:latin typeface="Menlo"/>
                <a:ea typeface="Menlo"/>
                <a:cs typeface="Menlo"/>
              </a:defRPr>
            </a:lvl3pPr>
            <a:lvl4pPr>
              <a:defRPr sz="1875" b="0">
                <a:solidFill>
                  <a:srgbClr val="075CA8"/>
                </a:solidFill>
                <a:latin typeface="Menlo"/>
                <a:ea typeface="Menlo"/>
                <a:cs typeface="Menlo"/>
              </a:defRPr>
            </a:lvl4pPr>
            <a:lvl5pPr>
              <a:defRPr sz="1875" b="0">
                <a:solidFill>
                  <a:srgbClr val="075CA8"/>
                </a:solidFill>
                <a:latin typeface="Menlo"/>
                <a:ea typeface="Menlo"/>
                <a:cs typeface="Menlo"/>
              </a:defRPr>
            </a:lvl5pPr>
            <a:lvl6pPr>
              <a:defRPr sz="1875" b="0">
                <a:solidFill>
                  <a:srgbClr val="075CA8"/>
                </a:solidFill>
                <a:latin typeface="Menlo"/>
                <a:ea typeface="Menlo"/>
                <a:cs typeface="Menlo"/>
              </a:defRPr>
            </a:lvl6pPr>
            <a:lvl7pPr>
              <a:defRPr sz="1875" b="0">
                <a:solidFill>
                  <a:srgbClr val="075CA8"/>
                </a:solidFill>
                <a:latin typeface="Menlo"/>
                <a:ea typeface="Menlo"/>
                <a:cs typeface="Menlo"/>
              </a:defRPr>
            </a:lvl7pPr>
            <a:lvl8pPr>
              <a:defRPr sz="1875" b="0">
                <a:solidFill>
                  <a:srgbClr val="075CA8"/>
                </a:solidFill>
                <a:latin typeface="Menlo"/>
                <a:ea typeface="Menlo"/>
                <a:cs typeface="Menlo"/>
              </a:defRPr>
            </a:lvl8pPr>
            <a:lvl9pPr>
              <a:defRPr sz="1875" b="0">
                <a:solidFill>
                  <a:srgbClr val="075CA8"/>
                </a:solidFill>
                <a:latin typeface="Menlo"/>
                <a:ea typeface="Menlo"/>
                <a:cs typeface="Menlo"/>
              </a:defRPr>
            </a:lvl9pPr>
          </a:lstStyle>
          <a:p>
            <a:pPr>
              <a:defRPr sz="1875" b="0">
                <a:solidFill>
                  <a:srgbClr val="075CA8"/>
                </a:solidFill>
                <a:latin typeface="Menlo"/>
                <a:ea typeface="Menlo"/>
                <a:cs typeface="Menlo"/>
              </a:defRPr>
            </a:pPr>
            <a:r>
              <a:rPr sz="1875" b="0">
                <a:solidFill>
                  <a:srgbClr val="075CA8"/>
                </a:solidFill>
                <a:latin typeface="Menlo"/>
                <a:ea typeface="Menlo"/>
                <a:cs typeface="Menlo"/>
              </a:rPr>
              <a:t>wait</a:t>
            </a:r>
          </a:p>
        </p:txBody>
      </p:sp>
      <p:sp>
        <p:nvSpPr>
          <p:cNvPr id="23" name="Rectangle 22">
            <a:extLst>
              <a:ext uri="{FF2B5EF4-FFF2-40B4-BE49-F238E27FC236}">
                <a16:creationId xmlns:a16="http://schemas.microsoft.com/office/drawing/2014/main" id="{D4B6525B-B483-459B-B95A-554A503B36A6}"/>
              </a:ext>
            </a:extLst>
          </p:cNvPr>
          <p:cNvSpPr>
            <a:spLocks noGrp="1"/>
          </p:cNvSpPr>
          <p:nvPr/>
        </p:nvSpPr>
        <p:spPr>
          <a:xfrm>
            <a:off x="8096250" y="6457950"/>
            <a:ext cx="6381750" cy="71437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Scan gridding, combination and checks</a:t>
            </a:r>
          </a:p>
        </p:txBody>
      </p:sp>
      <p:sp>
        <p:nvSpPr>
          <p:cNvPr id="24" name="Rectangle 23">
            <a:extLst>
              <a:ext uri="{FF2B5EF4-FFF2-40B4-BE49-F238E27FC236}">
                <a16:creationId xmlns:a16="http://schemas.microsoft.com/office/drawing/2014/main" id="{7FFEA2BF-6084-4309-BEA9-B54B2B68A796}"/>
              </a:ext>
            </a:extLst>
          </p:cNvPr>
          <p:cNvSpPr>
            <a:spLocks noGrp="1"/>
          </p:cNvSpPr>
          <p:nvPr/>
        </p:nvSpPr>
        <p:spPr>
          <a:xfrm>
            <a:off x="638175" y="7781925"/>
            <a:ext cx="13811250" cy="352425"/>
          </a:xfrm>
          <a:prstGeom prst="rect">
            <a:avLst/>
          </a:prstGeom>
          <a:noFill/>
          <a:ln w="0">
            <a:noFill/>
          </a:ln>
        </p:spPr>
        <p:txBody>
          <a:bodyPr wrap="square" lIns="0" tIns="0" rIns="0" bIns="0" anchor="t">
            <a:noAutofit/>
          </a:bodyPr>
          <a:lstStyle>
            <a:defPPr>
              <a:defRPr sz="1575" b="0">
                <a:solidFill>
                  <a:srgbClr val="4B5E70"/>
                </a:solidFill>
                <a:latin typeface="Arial"/>
                <a:ea typeface="Arial"/>
                <a:cs typeface="Arial"/>
              </a:defRPr>
            </a:defPPr>
            <a:lvl1pPr>
              <a:defRPr sz="1575" b="0">
                <a:solidFill>
                  <a:srgbClr val="4B5E70"/>
                </a:solidFill>
                <a:latin typeface="Arial"/>
                <a:ea typeface="Arial"/>
                <a:cs typeface="Arial"/>
              </a:defRPr>
            </a:lvl1pPr>
            <a:lvl2pPr>
              <a:defRPr sz="1575" b="0">
                <a:solidFill>
                  <a:srgbClr val="4B5E70"/>
                </a:solidFill>
                <a:latin typeface="Arial"/>
                <a:ea typeface="Arial"/>
                <a:cs typeface="Arial"/>
              </a:defRPr>
            </a:lvl2pPr>
            <a:lvl3pPr>
              <a:defRPr sz="1575" b="0">
                <a:solidFill>
                  <a:srgbClr val="4B5E70"/>
                </a:solidFill>
                <a:latin typeface="Arial"/>
                <a:ea typeface="Arial"/>
                <a:cs typeface="Arial"/>
              </a:defRPr>
            </a:lvl3pPr>
            <a:lvl4pPr>
              <a:defRPr sz="1575" b="0">
                <a:solidFill>
                  <a:srgbClr val="4B5E70"/>
                </a:solidFill>
                <a:latin typeface="Arial"/>
                <a:ea typeface="Arial"/>
                <a:cs typeface="Arial"/>
              </a:defRPr>
            </a:lvl4pPr>
            <a:lvl5pPr>
              <a:defRPr sz="1575" b="0">
                <a:solidFill>
                  <a:srgbClr val="4B5E70"/>
                </a:solidFill>
                <a:latin typeface="Arial"/>
                <a:ea typeface="Arial"/>
                <a:cs typeface="Arial"/>
              </a:defRPr>
            </a:lvl5pPr>
            <a:lvl6pPr>
              <a:defRPr sz="1575" b="0">
                <a:solidFill>
                  <a:srgbClr val="4B5E70"/>
                </a:solidFill>
                <a:latin typeface="Arial"/>
                <a:ea typeface="Arial"/>
                <a:cs typeface="Arial"/>
              </a:defRPr>
            </a:lvl6pPr>
            <a:lvl7pPr>
              <a:defRPr sz="1575" b="0">
                <a:solidFill>
                  <a:srgbClr val="4B5E70"/>
                </a:solidFill>
                <a:latin typeface="Arial"/>
                <a:ea typeface="Arial"/>
                <a:cs typeface="Arial"/>
              </a:defRPr>
            </a:lvl7pPr>
            <a:lvl8pPr>
              <a:defRPr sz="1575" b="0">
                <a:solidFill>
                  <a:srgbClr val="4B5E70"/>
                </a:solidFill>
                <a:latin typeface="Arial"/>
                <a:ea typeface="Arial"/>
                <a:cs typeface="Arial"/>
              </a:defRPr>
            </a:lvl8pPr>
            <a:lvl9pPr>
              <a:defRPr sz="1575" b="0">
                <a:solidFill>
                  <a:srgbClr val="4B5E70"/>
                </a:solidFill>
                <a:latin typeface="Arial"/>
                <a:ea typeface="Arial"/>
                <a:cs typeface="Arial"/>
              </a:defRPr>
            </a:lvl9pPr>
          </a:lstStyle>
          <a:p>
            <a:pPr>
              <a:defRPr sz="1575" b="0">
                <a:solidFill>
                  <a:srgbClr val="4B5E70"/>
                </a:solidFill>
                <a:latin typeface="Arial"/>
                <a:ea typeface="Arial"/>
                <a:cs typeface="Arial"/>
              </a:defRPr>
            </a:pPr>
            <a:r>
              <a:rPr sz="1575" b="0">
                <a:solidFill>
                  <a:srgbClr val="4B5E70"/>
                </a:solidFill>
                <a:latin typeface="Arial"/>
                <a:ea typeface="Arial"/>
                <a:cs typeface="Arial"/>
              </a:rPr>
              <a:t>Heavy stages use memory admission and the default I/O cap of 4. The worker ceiling is 64.</a:t>
            </a:r>
          </a:p>
        </p:txBody>
      </p:sp>
    </p:spTree>
    <p:extLst>
      <p:ext uri="{BB962C8B-B14F-4D97-AF65-F5344CB8AC3E}">
        <p14:creationId xmlns:p14="http://schemas.microsoft.com/office/powerpoint/2010/main" val="33505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4EB1ED9-5D9C-4208-A6DB-56270A0DA03F}"/>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Progress and saved sessions</a:t>
            </a:r>
          </a:p>
        </p:txBody>
      </p:sp>
      <p:sp>
        <p:nvSpPr>
          <p:cNvPr id="2" name="Rectangle 1">
            <a:extLst>
              <a:ext uri="{FF2B5EF4-FFF2-40B4-BE49-F238E27FC236}">
                <a16:creationId xmlns:a16="http://schemas.microsoft.com/office/drawing/2014/main" id="{427A687E-0093-4ED0-907B-9D760BE757E2}"/>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The FISH terminal remains the place to check the run</a:t>
            </a:r>
          </a:p>
        </p:txBody>
      </p:sp>
      <p:sp>
        <p:nvSpPr>
          <p:cNvPr id="3" name="Rectangle 2">
            <a:extLst>
              <a:ext uri="{FF2B5EF4-FFF2-40B4-BE49-F238E27FC236}">
                <a16:creationId xmlns:a16="http://schemas.microsoft.com/office/drawing/2014/main" id="{D4AFD42D-B315-475F-88D3-B365F167317B}"/>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17</a:t>
            </a:r>
          </a:p>
        </p:txBody>
      </p:sp>
      <p:sp>
        <p:nvSpPr>
          <p:cNvPr id="4" name="Rectangle 3">
            <a:extLst>
              <a:ext uri="{FF2B5EF4-FFF2-40B4-BE49-F238E27FC236}">
                <a16:creationId xmlns:a16="http://schemas.microsoft.com/office/drawing/2014/main" id="{B259172B-73EC-41D3-B8FC-3F5ED113B5DE}"/>
              </a:ext>
            </a:extLst>
          </p:cNvPr>
          <p:cNvSpPr>
            <a:spLocks noGrp="1"/>
          </p:cNvSpPr>
          <p:nvPr/>
        </p:nvSpPr>
        <p:spPr>
          <a:xfrm>
            <a:off x="714375" y="2143125"/>
            <a:ext cx="6191250" cy="571500"/>
          </a:xfrm>
          <a:prstGeom prst="rect">
            <a:avLst/>
          </a:prstGeom>
          <a:noFill/>
          <a:ln w="0">
            <a:noFill/>
          </a:ln>
        </p:spPr>
        <p:txBody>
          <a:bodyPr wrap="square" lIns="0" tIns="0" rIns="0" bIns="0" anchor="t">
            <a:noAutofit/>
          </a:bodyPr>
          <a:lstStyle>
            <a:defPPr>
              <a:defRPr sz="2775" b="0">
                <a:solidFill>
                  <a:srgbClr val="075CA8"/>
                </a:solidFill>
                <a:latin typeface="Menlo"/>
                <a:ea typeface="Menlo"/>
                <a:cs typeface="Menlo"/>
              </a:defRPr>
            </a:defPPr>
            <a:lvl1pPr>
              <a:defRPr sz="2775" b="0">
                <a:solidFill>
                  <a:srgbClr val="075CA8"/>
                </a:solidFill>
                <a:latin typeface="Menlo"/>
                <a:ea typeface="Menlo"/>
                <a:cs typeface="Menlo"/>
              </a:defRPr>
            </a:lvl1pPr>
            <a:lvl2pPr>
              <a:defRPr sz="2775" b="0">
                <a:solidFill>
                  <a:srgbClr val="075CA8"/>
                </a:solidFill>
                <a:latin typeface="Menlo"/>
                <a:ea typeface="Menlo"/>
                <a:cs typeface="Menlo"/>
              </a:defRPr>
            </a:lvl2pPr>
            <a:lvl3pPr>
              <a:defRPr sz="2775" b="0">
                <a:solidFill>
                  <a:srgbClr val="075CA8"/>
                </a:solidFill>
                <a:latin typeface="Menlo"/>
                <a:ea typeface="Menlo"/>
                <a:cs typeface="Menlo"/>
              </a:defRPr>
            </a:lvl3pPr>
            <a:lvl4pPr>
              <a:defRPr sz="2775" b="0">
                <a:solidFill>
                  <a:srgbClr val="075CA8"/>
                </a:solidFill>
                <a:latin typeface="Menlo"/>
                <a:ea typeface="Menlo"/>
                <a:cs typeface="Menlo"/>
              </a:defRPr>
            </a:lvl4pPr>
            <a:lvl5pPr>
              <a:defRPr sz="2775" b="0">
                <a:solidFill>
                  <a:srgbClr val="075CA8"/>
                </a:solidFill>
                <a:latin typeface="Menlo"/>
                <a:ea typeface="Menlo"/>
                <a:cs typeface="Menlo"/>
              </a:defRPr>
            </a:lvl5pPr>
            <a:lvl6pPr>
              <a:defRPr sz="2775" b="0">
                <a:solidFill>
                  <a:srgbClr val="075CA8"/>
                </a:solidFill>
                <a:latin typeface="Menlo"/>
                <a:ea typeface="Menlo"/>
                <a:cs typeface="Menlo"/>
              </a:defRPr>
            </a:lvl6pPr>
            <a:lvl7pPr>
              <a:defRPr sz="2775" b="0">
                <a:solidFill>
                  <a:srgbClr val="075CA8"/>
                </a:solidFill>
                <a:latin typeface="Menlo"/>
                <a:ea typeface="Menlo"/>
                <a:cs typeface="Menlo"/>
              </a:defRPr>
            </a:lvl7pPr>
            <a:lvl8pPr>
              <a:defRPr sz="2775" b="0">
                <a:solidFill>
                  <a:srgbClr val="075CA8"/>
                </a:solidFill>
                <a:latin typeface="Menlo"/>
                <a:ea typeface="Menlo"/>
                <a:cs typeface="Menlo"/>
              </a:defRPr>
            </a:lvl8pPr>
            <a:lvl9pPr>
              <a:defRPr sz="2775" b="0">
                <a:solidFill>
                  <a:srgbClr val="075CA8"/>
                </a:solidFill>
                <a:latin typeface="Menlo"/>
                <a:ea typeface="Menlo"/>
                <a:cs typeface="Menlo"/>
              </a:defRPr>
            </a:lvl9pPr>
          </a:lstStyle>
          <a:p>
            <a:pPr>
              <a:defRPr sz="2775" b="0">
                <a:solidFill>
                  <a:srgbClr val="075CA8"/>
                </a:solidFill>
                <a:latin typeface="Menlo"/>
                <a:ea typeface="Menlo"/>
                <a:cs typeface="Menlo"/>
              </a:defRPr>
            </a:pPr>
            <a:r>
              <a:rPr sz="2775" b="0">
                <a:solidFill>
                  <a:srgbClr val="075CA8"/>
                </a:solidFill>
                <a:latin typeface="Menlo"/>
                <a:ea typeface="Menlo"/>
                <a:cs typeface="Menlo"/>
              </a:rPr>
              <a:t>status</a:t>
            </a:r>
          </a:p>
        </p:txBody>
      </p:sp>
      <p:sp>
        <p:nvSpPr>
          <p:cNvPr id="5" name="Rectangle 4">
            <a:extLst>
              <a:ext uri="{FF2B5EF4-FFF2-40B4-BE49-F238E27FC236}">
                <a16:creationId xmlns:a16="http://schemas.microsoft.com/office/drawing/2014/main" id="{1338B3BB-C931-41F7-A8F4-96498161FCB0}"/>
              </a:ext>
            </a:extLst>
          </p:cNvPr>
          <p:cNvSpPr>
            <a:spLocks noGrp="1"/>
          </p:cNvSpPr>
          <p:nvPr/>
        </p:nvSpPr>
        <p:spPr>
          <a:xfrm>
            <a:off x="6143625" y="2181225"/>
            <a:ext cx="8382000" cy="71437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Stage progress, current job log and output paths</a:t>
            </a:r>
          </a:p>
        </p:txBody>
      </p:sp>
      <p:sp>
        <p:nvSpPr>
          <p:cNvPr id="6" name="Rectangle 5">
            <a:extLst>
              <a:ext uri="{FF2B5EF4-FFF2-40B4-BE49-F238E27FC236}">
                <a16:creationId xmlns:a16="http://schemas.microsoft.com/office/drawing/2014/main" id="{B90B03E2-9F70-469F-A794-D302B537015A}"/>
              </a:ext>
            </a:extLst>
          </p:cNvPr>
          <p:cNvSpPr>
            <a:spLocks noGrp="1"/>
          </p:cNvSpPr>
          <p:nvPr/>
        </p:nvSpPr>
        <p:spPr>
          <a:xfrm>
            <a:off x="714375" y="3333750"/>
            <a:ext cx="6191250" cy="571500"/>
          </a:xfrm>
          <a:prstGeom prst="rect">
            <a:avLst/>
          </a:prstGeom>
          <a:noFill/>
          <a:ln w="0">
            <a:noFill/>
          </a:ln>
        </p:spPr>
        <p:txBody>
          <a:bodyPr wrap="square" lIns="0" tIns="0" rIns="0" bIns="0" anchor="t">
            <a:noAutofit/>
          </a:bodyPr>
          <a:lstStyle>
            <a:defPPr>
              <a:defRPr sz="2775" b="0">
                <a:solidFill>
                  <a:srgbClr val="075CA8"/>
                </a:solidFill>
                <a:latin typeface="Menlo"/>
                <a:ea typeface="Menlo"/>
                <a:cs typeface="Menlo"/>
              </a:defRPr>
            </a:defPPr>
            <a:lvl1pPr>
              <a:defRPr sz="2775" b="0">
                <a:solidFill>
                  <a:srgbClr val="075CA8"/>
                </a:solidFill>
                <a:latin typeface="Menlo"/>
                <a:ea typeface="Menlo"/>
                <a:cs typeface="Menlo"/>
              </a:defRPr>
            </a:lvl1pPr>
            <a:lvl2pPr>
              <a:defRPr sz="2775" b="0">
                <a:solidFill>
                  <a:srgbClr val="075CA8"/>
                </a:solidFill>
                <a:latin typeface="Menlo"/>
                <a:ea typeface="Menlo"/>
                <a:cs typeface="Menlo"/>
              </a:defRPr>
            </a:lvl2pPr>
            <a:lvl3pPr>
              <a:defRPr sz="2775" b="0">
                <a:solidFill>
                  <a:srgbClr val="075CA8"/>
                </a:solidFill>
                <a:latin typeface="Menlo"/>
                <a:ea typeface="Menlo"/>
                <a:cs typeface="Menlo"/>
              </a:defRPr>
            </a:lvl3pPr>
            <a:lvl4pPr>
              <a:defRPr sz="2775" b="0">
                <a:solidFill>
                  <a:srgbClr val="075CA8"/>
                </a:solidFill>
                <a:latin typeface="Menlo"/>
                <a:ea typeface="Menlo"/>
                <a:cs typeface="Menlo"/>
              </a:defRPr>
            </a:lvl4pPr>
            <a:lvl5pPr>
              <a:defRPr sz="2775" b="0">
                <a:solidFill>
                  <a:srgbClr val="075CA8"/>
                </a:solidFill>
                <a:latin typeface="Menlo"/>
                <a:ea typeface="Menlo"/>
                <a:cs typeface="Menlo"/>
              </a:defRPr>
            </a:lvl5pPr>
            <a:lvl6pPr>
              <a:defRPr sz="2775" b="0">
                <a:solidFill>
                  <a:srgbClr val="075CA8"/>
                </a:solidFill>
                <a:latin typeface="Menlo"/>
                <a:ea typeface="Menlo"/>
                <a:cs typeface="Menlo"/>
              </a:defRPr>
            </a:lvl6pPr>
            <a:lvl7pPr>
              <a:defRPr sz="2775" b="0">
                <a:solidFill>
                  <a:srgbClr val="075CA8"/>
                </a:solidFill>
                <a:latin typeface="Menlo"/>
                <a:ea typeface="Menlo"/>
                <a:cs typeface="Menlo"/>
              </a:defRPr>
            </a:lvl7pPr>
            <a:lvl8pPr>
              <a:defRPr sz="2775" b="0">
                <a:solidFill>
                  <a:srgbClr val="075CA8"/>
                </a:solidFill>
                <a:latin typeface="Menlo"/>
                <a:ea typeface="Menlo"/>
                <a:cs typeface="Menlo"/>
              </a:defRPr>
            </a:lvl8pPr>
            <a:lvl9pPr>
              <a:defRPr sz="2775" b="0">
                <a:solidFill>
                  <a:srgbClr val="075CA8"/>
                </a:solidFill>
                <a:latin typeface="Menlo"/>
                <a:ea typeface="Menlo"/>
                <a:cs typeface="Menlo"/>
              </a:defRPr>
            </a:lvl9pPr>
          </a:lstStyle>
          <a:p>
            <a:pPr>
              <a:defRPr sz="2775" b="0">
                <a:solidFill>
                  <a:srgbClr val="075CA8"/>
                </a:solidFill>
                <a:latin typeface="Menlo"/>
                <a:ea typeface="Menlo"/>
                <a:cs typeface="Menlo"/>
              </a:defRPr>
            </a:pPr>
            <a:r>
              <a:rPr sz="2775" b="0">
                <a:solidFill>
                  <a:srgbClr val="075CA8"/>
                </a:solidFill>
                <a:latin typeface="Menlo"/>
                <a:ea typeface="Menlo"/>
                <a:cs typeface="Menlo"/>
              </a:rPr>
              <a:t>settings</a:t>
            </a:r>
          </a:p>
        </p:txBody>
      </p:sp>
      <p:sp>
        <p:nvSpPr>
          <p:cNvPr id="7" name="Rectangle 6">
            <a:extLst>
              <a:ext uri="{FF2B5EF4-FFF2-40B4-BE49-F238E27FC236}">
                <a16:creationId xmlns:a16="http://schemas.microsoft.com/office/drawing/2014/main" id="{ACD1FEF8-A04C-49B2-A52D-A0019CA4CEB9}"/>
              </a:ext>
            </a:extLst>
          </p:cNvPr>
          <p:cNvSpPr>
            <a:spLocks noGrp="1"/>
          </p:cNvSpPr>
          <p:nvPr/>
        </p:nvSpPr>
        <p:spPr>
          <a:xfrm>
            <a:off x="6143625" y="3371850"/>
            <a:ext cx="8382000" cy="714375"/>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Confirm the committed parameters before running</a:t>
            </a:r>
          </a:p>
        </p:txBody>
      </p:sp>
      <p:sp>
        <p:nvSpPr>
          <p:cNvPr id="8" name="Rectangle 7">
            <a:extLst>
              <a:ext uri="{FF2B5EF4-FFF2-40B4-BE49-F238E27FC236}">
                <a16:creationId xmlns:a16="http://schemas.microsoft.com/office/drawing/2014/main" id="{49E2F31D-3389-4D91-AF44-A9AE194FE3E6}"/>
              </a:ext>
            </a:extLst>
          </p:cNvPr>
          <p:cNvSpPr>
            <a:spLocks noGrp="1"/>
          </p:cNvSpPr>
          <p:nvPr/>
        </p:nvSpPr>
        <p:spPr>
          <a:xfrm>
            <a:off x="714375" y="4524375"/>
            <a:ext cx="6191250" cy="571500"/>
          </a:xfrm>
          <a:prstGeom prst="rect">
            <a:avLst/>
          </a:prstGeom>
          <a:noFill/>
          <a:ln w="0">
            <a:noFill/>
          </a:ln>
        </p:spPr>
        <p:txBody>
          <a:bodyPr wrap="square" lIns="0" tIns="0" rIns="0" bIns="0" anchor="t">
            <a:noAutofit/>
          </a:bodyPr>
          <a:lstStyle>
            <a:defPPr>
              <a:defRPr sz="2775" b="0">
                <a:solidFill>
                  <a:srgbClr val="075CA8"/>
                </a:solidFill>
                <a:latin typeface="Menlo"/>
                <a:ea typeface="Menlo"/>
                <a:cs typeface="Menlo"/>
              </a:defRPr>
            </a:defPPr>
            <a:lvl1pPr>
              <a:defRPr sz="2775" b="0">
                <a:solidFill>
                  <a:srgbClr val="075CA8"/>
                </a:solidFill>
                <a:latin typeface="Menlo"/>
                <a:ea typeface="Menlo"/>
                <a:cs typeface="Menlo"/>
              </a:defRPr>
            </a:lvl1pPr>
            <a:lvl2pPr>
              <a:defRPr sz="2775" b="0">
                <a:solidFill>
                  <a:srgbClr val="075CA8"/>
                </a:solidFill>
                <a:latin typeface="Menlo"/>
                <a:ea typeface="Menlo"/>
                <a:cs typeface="Menlo"/>
              </a:defRPr>
            </a:lvl2pPr>
            <a:lvl3pPr>
              <a:defRPr sz="2775" b="0">
                <a:solidFill>
                  <a:srgbClr val="075CA8"/>
                </a:solidFill>
                <a:latin typeface="Menlo"/>
                <a:ea typeface="Menlo"/>
                <a:cs typeface="Menlo"/>
              </a:defRPr>
            </a:lvl3pPr>
            <a:lvl4pPr>
              <a:defRPr sz="2775" b="0">
                <a:solidFill>
                  <a:srgbClr val="075CA8"/>
                </a:solidFill>
                <a:latin typeface="Menlo"/>
                <a:ea typeface="Menlo"/>
                <a:cs typeface="Menlo"/>
              </a:defRPr>
            </a:lvl4pPr>
            <a:lvl5pPr>
              <a:defRPr sz="2775" b="0">
                <a:solidFill>
                  <a:srgbClr val="075CA8"/>
                </a:solidFill>
                <a:latin typeface="Menlo"/>
                <a:ea typeface="Menlo"/>
                <a:cs typeface="Menlo"/>
              </a:defRPr>
            </a:lvl5pPr>
            <a:lvl6pPr>
              <a:defRPr sz="2775" b="0">
                <a:solidFill>
                  <a:srgbClr val="075CA8"/>
                </a:solidFill>
                <a:latin typeface="Menlo"/>
                <a:ea typeface="Menlo"/>
                <a:cs typeface="Menlo"/>
              </a:defRPr>
            </a:lvl6pPr>
            <a:lvl7pPr>
              <a:defRPr sz="2775" b="0">
                <a:solidFill>
                  <a:srgbClr val="075CA8"/>
                </a:solidFill>
                <a:latin typeface="Menlo"/>
                <a:ea typeface="Menlo"/>
                <a:cs typeface="Menlo"/>
              </a:defRPr>
            </a:lvl7pPr>
            <a:lvl8pPr>
              <a:defRPr sz="2775" b="0">
                <a:solidFill>
                  <a:srgbClr val="075CA8"/>
                </a:solidFill>
                <a:latin typeface="Menlo"/>
                <a:ea typeface="Menlo"/>
                <a:cs typeface="Menlo"/>
              </a:defRPr>
            </a:lvl8pPr>
            <a:lvl9pPr>
              <a:defRPr sz="2775" b="0">
                <a:solidFill>
                  <a:srgbClr val="075CA8"/>
                </a:solidFill>
                <a:latin typeface="Menlo"/>
                <a:ea typeface="Menlo"/>
                <a:cs typeface="Menlo"/>
              </a:defRPr>
            </a:lvl9pPr>
          </a:lstStyle>
          <a:p>
            <a:pPr>
              <a:defRPr sz="2775" b="0">
                <a:solidFill>
                  <a:srgbClr val="075CA8"/>
                </a:solidFill>
                <a:latin typeface="Menlo"/>
                <a:ea typeface="Menlo"/>
                <a:cs typeface="Menlo"/>
              </a:defRPr>
            </a:pPr>
            <a:r>
              <a:rPr sz="2775" b="0">
                <a:solidFill>
                  <a:srgbClr val="075CA8"/>
                </a:solidFill>
                <a:latin typeface="Menlo"/>
                <a:ea typeface="Menlo"/>
                <a:cs typeface="Menlo"/>
              </a:rPr>
              <a:t>wait</a:t>
            </a:r>
          </a:p>
        </p:txBody>
      </p:sp>
      <p:sp>
        <p:nvSpPr>
          <p:cNvPr id="9" name="Rectangle 8">
            <a:extLst>
              <a:ext uri="{FF2B5EF4-FFF2-40B4-BE49-F238E27FC236}">
                <a16:creationId xmlns:a16="http://schemas.microsoft.com/office/drawing/2014/main" id="{21C16CF4-722D-4C88-962B-19A6BFA0BDA9}"/>
              </a:ext>
            </a:extLst>
          </p:cNvPr>
          <p:cNvSpPr>
            <a:spLocks noGrp="1"/>
          </p:cNvSpPr>
          <p:nvPr/>
        </p:nvSpPr>
        <p:spPr>
          <a:xfrm>
            <a:off x="6143625" y="4562475"/>
            <a:ext cx="8382000" cy="857250"/>
          </a:xfrm>
          <a:prstGeom prst="rect">
            <a:avLst/>
          </a:prstGeom>
          <a:noFill/>
          <a:ln w="0">
            <a:noFill/>
          </a:ln>
        </p:spPr>
        <p:txBody>
          <a:bodyPr wrap="square" lIns="0" tIns="0" rIns="0" bIns="0" anchor="t">
            <a:noAutofit/>
          </a:bodyPr>
          <a:lstStyle>
            <a:defPPr>
              <a:defRPr sz="2250" b="0">
                <a:solidFill>
                  <a:srgbClr val="152A40"/>
                </a:solidFill>
                <a:latin typeface="Arial"/>
                <a:ea typeface="Arial"/>
                <a:cs typeface="Arial"/>
              </a:defRPr>
            </a:defPPr>
            <a:lvl1pPr>
              <a:defRPr sz="2250" b="0">
                <a:solidFill>
                  <a:srgbClr val="152A40"/>
                </a:solidFill>
                <a:latin typeface="Arial"/>
                <a:ea typeface="Arial"/>
                <a:cs typeface="Arial"/>
              </a:defRPr>
            </a:lvl1pPr>
            <a:lvl2pPr>
              <a:defRPr sz="2250" b="0">
                <a:solidFill>
                  <a:srgbClr val="152A40"/>
                </a:solidFill>
                <a:latin typeface="Arial"/>
                <a:ea typeface="Arial"/>
                <a:cs typeface="Arial"/>
              </a:defRPr>
            </a:lvl2pPr>
            <a:lvl3pPr>
              <a:defRPr sz="2250" b="0">
                <a:solidFill>
                  <a:srgbClr val="152A40"/>
                </a:solidFill>
                <a:latin typeface="Arial"/>
                <a:ea typeface="Arial"/>
                <a:cs typeface="Arial"/>
              </a:defRPr>
            </a:lvl3pPr>
            <a:lvl4pPr>
              <a:defRPr sz="2250" b="0">
                <a:solidFill>
                  <a:srgbClr val="152A40"/>
                </a:solidFill>
                <a:latin typeface="Arial"/>
                <a:ea typeface="Arial"/>
                <a:cs typeface="Arial"/>
              </a:defRPr>
            </a:lvl4pPr>
            <a:lvl5pPr>
              <a:defRPr sz="2250" b="0">
                <a:solidFill>
                  <a:srgbClr val="152A40"/>
                </a:solidFill>
                <a:latin typeface="Arial"/>
                <a:ea typeface="Arial"/>
                <a:cs typeface="Arial"/>
              </a:defRPr>
            </a:lvl5pPr>
            <a:lvl6pPr>
              <a:defRPr sz="2250" b="0">
                <a:solidFill>
                  <a:srgbClr val="152A40"/>
                </a:solidFill>
                <a:latin typeface="Arial"/>
                <a:ea typeface="Arial"/>
                <a:cs typeface="Arial"/>
              </a:defRPr>
            </a:lvl6pPr>
            <a:lvl7pPr>
              <a:defRPr sz="2250" b="0">
                <a:solidFill>
                  <a:srgbClr val="152A40"/>
                </a:solidFill>
                <a:latin typeface="Arial"/>
                <a:ea typeface="Arial"/>
                <a:cs typeface="Arial"/>
              </a:defRPr>
            </a:lvl7pPr>
            <a:lvl8pPr>
              <a:defRPr sz="2250" b="0">
                <a:solidFill>
                  <a:srgbClr val="152A40"/>
                </a:solidFill>
                <a:latin typeface="Arial"/>
                <a:ea typeface="Arial"/>
                <a:cs typeface="Arial"/>
              </a:defRPr>
            </a:lvl8pPr>
            <a:lvl9pPr>
              <a:defRPr sz="2250" b="0">
                <a:solidFill>
                  <a:srgbClr val="152A40"/>
                </a:solidFill>
                <a:latin typeface="Arial"/>
                <a:ea typeface="Arial"/>
                <a:cs typeface="Arial"/>
              </a:defRPr>
            </a:lvl9pPr>
          </a:lstStyle>
          <a:p>
            <a:pPr>
              <a:defRPr sz="2250" b="0">
                <a:solidFill>
                  <a:srgbClr val="152A40"/>
                </a:solidFill>
                <a:latin typeface="Arial"/>
                <a:ea typeface="Arial"/>
                <a:cs typeface="Arial"/>
              </a:defRPr>
            </a:pPr>
            <a:r>
              <a:rPr sz="2250" b="0">
                <a:solidFill>
                  <a:srgbClr val="152A40"/>
                </a:solidFill>
                <a:latin typeface="Arial"/>
                <a:ea typeface="Arial"/>
                <a:cs typeface="Arial"/>
              </a:rPr>
              <a:t>Wait for the active stage. Ctrl-C leaves the job running.</a:t>
            </a:r>
          </a:p>
        </p:txBody>
      </p:sp>
      <p:sp>
        <p:nvSpPr>
          <p:cNvPr id="10" name="Rectangle 9">
            <a:extLst>
              <a:ext uri="{FF2B5EF4-FFF2-40B4-BE49-F238E27FC236}">
                <a16:creationId xmlns:a16="http://schemas.microsoft.com/office/drawing/2014/main" id="{7E923CFC-8E13-413F-8C36-54CFC7F755AD}"/>
              </a:ext>
            </a:extLst>
          </p:cNvPr>
          <p:cNvSpPr>
            <a:spLocks noGrp="1"/>
          </p:cNvSpPr>
          <p:nvPr/>
        </p:nvSpPr>
        <p:spPr>
          <a:xfrm>
            <a:off x="714375" y="5981700"/>
            <a:ext cx="13811250" cy="523875"/>
          </a:xfrm>
          <a:prstGeom prst="rect">
            <a:avLst/>
          </a:prstGeom>
          <a:noFill/>
          <a:ln w="0">
            <a:noFill/>
          </a:ln>
        </p:spPr>
        <p:txBody>
          <a:bodyPr wrap="square" lIns="0" tIns="0" rIns="0" bIns="0" anchor="t">
            <a:noAutofit/>
          </a:bodyPr>
          <a:lstStyle>
            <a:defPPr>
              <a:defRPr sz="2025" b="0">
                <a:solidFill>
                  <a:srgbClr val="075CA8"/>
                </a:solidFill>
                <a:latin typeface="Menlo"/>
                <a:ea typeface="Menlo"/>
                <a:cs typeface="Menlo"/>
              </a:defRPr>
            </a:defPPr>
            <a:lvl1pPr>
              <a:defRPr sz="2025" b="0">
                <a:solidFill>
                  <a:srgbClr val="075CA8"/>
                </a:solidFill>
                <a:latin typeface="Menlo"/>
                <a:ea typeface="Menlo"/>
                <a:cs typeface="Menlo"/>
              </a:defRPr>
            </a:lvl1pPr>
            <a:lvl2pPr>
              <a:defRPr sz="2025" b="0">
                <a:solidFill>
                  <a:srgbClr val="075CA8"/>
                </a:solidFill>
                <a:latin typeface="Menlo"/>
                <a:ea typeface="Menlo"/>
                <a:cs typeface="Menlo"/>
              </a:defRPr>
            </a:lvl2pPr>
            <a:lvl3pPr>
              <a:defRPr sz="2025" b="0">
                <a:solidFill>
                  <a:srgbClr val="075CA8"/>
                </a:solidFill>
                <a:latin typeface="Menlo"/>
                <a:ea typeface="Menlo"/>
                <a:cs typeface="Menlo"/>
              </a:defRPr>
            </a:lvl3pPr>
            <a:lvl4pPr>
              <a:defRPr sz="2025" b="0">
                <a:solidFill>
                  <a:srgbClr val="075CA8"/>
                </a:solidFill>
                <a:latin typeface="Menlo"/>
                <a:ea typeface="Menlo"/>
                <a:cs typeface="Menlo"/>
              </a:defRPr>
            </a:lvl4pPr>
            <a:lvl5pPr>
              <a:defRPr sz="2025" b="0">
                <a:solidFill>
                  <a:srgbClr val="075CA8"/>
                </a:solidFill>
                <a:latin typeface="Menlo"/>
                <a:ea typeface="Menlo"/>
                <a:cs typeface="Menlo"/>
              </a:defRPr>
            </a:lvl5pPr>
            <a:lvl6pPr>
              <a:defRPr sz="2025" b="0">
                <a:solidFill>
                  <a:srgbClr val="075CA8"/>
                </a:solidFill>
                <a:latin typeface="Menlo"/>
                <a:ea typeface="Menlo"/>
                <a:cs typeface="Menlo"/>
              </a:defRPr>
            </a:lvl6pPr>
            <a:lvl7pPr>
              <a:defRPr sz="2025" b="0">
                <a:solidFill>
                  <a:srgbClr val="075CA8"/>
                </a:solidFill>
                <a:latin typeface="Menlo"/>
                <a:ea typeface="Menlo"/>
                <a:cs typeface="Menlo"/>
              </a:defRPr>
            </a:lvl7pPr>
            <a:lvl8pPr>
              <a:defRPr sz="2025" b="0">
                <a:solidFill>
                  <a:srgbClr val="075CA8"/>
                </a:solidFill>
                <a:latin typeface="Menlo"/>
                <a:ea typeface="Menlo"/>
                <a:cs typeface="Menlo"/>
              </a:defRPr>
            </a:lvl8pPr>
            <a:lvl9pPr>
              <a:defRPr sz="2025" b="0">
                <a:solidFill>
                  <a:srgbClr val="075CA8"/>
                </a:solidFill>
                <a:latin typeface="Menlo"/>
                <a:ea typeface="Menlo"/>
                <a:cs typeface="Menlo"/>
              </a:defRPr>
            </a:lvl9pPr>
          </a:lstStyle>
          <a:p>
            <a:pPr>
              <a:defRPr sz="2025" b="0">
                <a:solidFill>
                  <a:srgbClr val="075CA8"/>
                </a:solidFill>
                <a:latin typeface="Menlo"/>
                <a:ea typeface="Menlo"/>
                <a:cs typeface="Menlo"/>
              </a:defRPr>
            </a:pPr>
            <a:r>
              <a:rPr sz="2025" b="0">
                <a:solidFill>
                  <a:srgbClr val="075CA8"/>
                </a:solidFill>
                <a:latin typeface="Menlo"/>
                <a:ea typeface="Menlo"/>
                <a:cs typeface="Menlo"/>
              </a:rPr>
              <a:t>save fish_runs/IC443_0002_0004/session_saved.json</a:t>
            </a:r>
          </a:p>
        </p:txBody>
      </p:sp>
      <p:sp>
        <p:nvSpPr>
          <p:cNvPr id="11" name="Rectangle 10">
            <a:extLst>
              <a:ext uri="{FF2B5EF4-FFF2-40B4-BE49-F238E27FC236}">
                <a16:creationId xmlns:a16="http://schemas.microsoft.com/office/drawing/2014/main" id="{163E075C-43F3-4C47-B1EE-17558783C3D8}"/>
              </a:ext>
            </a:extLst>
          </p:cNvPr>
          <p:cNvSpPr>
            <a:spLocks noGrp="1"/>
          </p:cNvSpPr>
          <p:nvPr/>
        </p:nvSpPr>
        <p:spPr>
          <a:xfrm>
            <a:off x="714375" y="6829425"/>
            <a:ext cx="13811250" cy="523875"/>
          </a:xfrm>
          <a:prstGeom prst="rect">
            <a:avLst/>
          </a:prstGeom>
          <a:noFill/>
          <a:ln w="0">
            <a:noFill/>
          </a:ln>
        </p:spPr>
        <p:txBody>
          <a:bodyPr wrap="square" lIns="0" tIns="0" rIns="0" bIns="0" anchor="t">
            <a:noAutofit/>
          </a:bodyPr>
          <a:lstStyle>
            <a:defPPr>
              <a:defRPr sz="2025" b="0">
                <a:solidFill>
                  <a:srgbClr val="075CA8"/>
                </a:solidFill>
                <a:latin typeface="Menlo"/>
                <a:ea typeface="Menlo"/>
                <a:cs typeface="Menlo"/>
              </a:defRPr>
            </a:defPPr>
            <a:lvl1pPr>
              <a:defRPr sz="2025" b="0">
                <a:solidFill>
                  <a:srgbClr val="075CA8"/>
                </a:solidFill>
                <a:latin typeface="Menlo"/>
                <a:ea typeface="Menlo"/>
                <a:cs typeface="Menlo"/>
              </a:defRPr>
            </a:lvl1pPr>
            <a:lvl2pPr>
              <a:defRPr sz="2025" b="0">
                <a:solidFill>
                  <a:srgbClr val="075CA8"/>
                </a:solidFill>
                <a:latin typeface="Menlo"/>
                <a:ea typeface="Menlo"/>
                <a:cs typeface="Menlo"/>
              </a:defRPr>
            </a:lvl2pPr>
            <a:lvl3pPr>
              <a:defRPr sz="2025" b="0">
                <a:solidFill>
                  <a:srgbClr val="075CA8"/>
                </a:solidFill>
                <a:latin typeface="Menlo"/>
                <a:ea typeface="Menlo"/>
                <a:cs typeface="Menlo"/>
              </a:defRPr>
            </a:lvl3pPr>
            <a:lvl4pPr>
              <a:defRPr sz="2025" b="0">
                <a:solidFill>
                  <a:srgbClr val="075CA8"/>
                </a:solidFill>
                <a:latin typeface="Menlo"/>
                <a:ea typeface="Menlo"/>
                <a:cs typeface="Menlo"/>
              </a:defRPr>
            </a:lvl4pPr>
            <a:lvl5pPr>
              <a:defRPr sz="2025" b="0">
                <a:solidFill>
                  <a:srgbClr val="075CA8"/>
                </a:solidFill>
                <a:latin typeface="Menlo"/>
                <a:ea typeface="Menlo"/>
                <a:cs typeface="Menlo"/>
              </a:defRPr>
            </a:lvl5pPr>
            <a:lvl6pPr>
              <a:defRPr sz="2025" b="0">
                <a:solidFill>
                  <a:srgbClr val="075CA8"/>
                </a:solidFill>
                <a:latin typeface="Menlo"/>
                <a:ea typeface="Menlo"/>
                <a:cs typeface="Menlo"/>
              </a:defRPr>
            </a:lvl6pPr>
            <a:lvl7pPr>
              <a:defRPr sz="2025" b="0">
                <a:solidFill>
                  <a:srgbClr val="075CA8"/>
                </a:solidFill>
                <a:latin typeface="Menlo"/>
                <a:ea typeface="Menlo"/>
                <a:cs typeface="Menlo"/>
              </a:defRPr>
            </a:lvl7pPr>
            <a:lvl8pPr>
              <a:defRPr sz="2025" b="0">
                <a:solidFill>
                  <a:srgbClr val="075CA8"/>
                </a:solidFill>
                <a:latin typeface="Menlo"/>
                <a:ea typeface="Menlo"/>
                <a:cs typeface="Menlo"/>
              </a:defRPr>
            </a:lvl8pPr>
            <a:lvl9pPr>
              <a:defRPr sz="2025" b="0">
                <a:solidFill>
                  <a:srgbClr val="075CA8"/>
                </a:solidFill>
                <a:latin typeface="Menlo"/>
                <a:ea typeface="Menlo"/>
                <a:cs typeface="Menlo"/>
              </a:defRPr>
            </a:lvl9pPr>
          </a:lstStyle>
          <a:p>
            <a:pPr>
              <a:defRPr sz="2025" b="0">
                <a:solidFill>
                  <a:srgbClr val="075CA8"/>
                </a:solidFill>
                <a:latin typeface="Menlo"/>
                <a:ea typeface="Menlo"/>
                <a:cs typeface="Menlo"/>
              </a:defRPr>
            </a:pPr>
            <a:r>
              <a:rPr sz="2025" b="0">
                <a:solidFill>
                  <a:srgbClr val="075CA8"/>
                </a:solidFill>
                <a:latin typeface="Menlo"/>
                <a:ea typeface="Menlo"/>
                <a:cs typeface="Menlo"/>
              </a:rPr>
              <a:t>restore fish_runs/IC443_0002_0004/session_saved.json</a:t>
            </a:r>
          </a:p>
        </p:txBody>
      </p:sp>
    </p:spTree>
    <p:extLst>
      <p:ext uri="{BB962C8B-B14F-4D97-AF65-F5344CB8AC3E}">
        <p14:creationId xmlns:p14="http://schemas.microsoft.com/office/powerpoint/2010/main" val="2139775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F6726A5-B8D5-41F9-82AE-6493145F03CC}"/>
              </a:ext>
            </a:extLst>
          </p:cNvPr>
          <p:cNvSpPr>
            <a:spLocks noGrp="1"/>
          </p:cNvSpPr>
          <p:nvPr/>
        </p:nvSpPr>
        <p:spPr>
          <a:xfrm>
            <a:off x="609600" y="409575"/>
            <a:ext cx="13906500" cy="714375"/>
          </a:xfrm>
          <a:prstGeom prst="rect">
            <a:avLst/>
          </a:prstGeom>
          <a:noFill/>
          <a:ln w="0">
            <a:noFill/>
          </a:ln>
        </p:spPr>
        <p:txBody>
          <a:bodyPr wrap="square" lIns="0" tIns="0" rIns="0" bIns="0" anchor="t">
            <a:noAutofit/>
          </a:bodyPr>
          <a:lstStyle>
            <a:defPPr>
              <a:defRPr sz="3750" b="1">
                <a:solidFill>
                  <a:srgbClr val="152A40"/>
                </a:solidFill>
                <a:latin typeface="Arial"/>
                <a:ea typeface="Arial"/>
                <a:cs typeface="Arial"/>
              </a:defRPr>
            </a:defPPr>
            <a:lvl1pPr>
              <a:defRPr sz="3750" b="1">
                <a:solidFill>
                  <a:srgbClr val="152A40"/>
                </a:solidFill>
                <a:latin typeface="Arial"/>
                <a:ea typeface="Arial"/>
                <a:cs typeface="Arial"/>
              </a:defRPr>
            </a:lvl1pPr>
            <a:lvl2pPr>
              <a:defRPr sz="3750" b="1">
                <a:solidFill>
                  <a:srgbClr val="152A40"/>
                </a:solidFill>
                <a:latin typeface="Arial"/>
                <a:ea typeface="Arial"/>
                <a:cs typeface="Arial"/>
              </a:defRPr>
            </a:lvl2pPr>
            <a:lvl3pPr>
              <a:defRPr sz="3750" b="1">
                <a:solidFill>
                  <a:srgbClr val="152A40"/>
                </a:solidFill>
                <a:latin typeface="Arial"/>
                <a:ea typeface="Arial"/>
                <a:cs typeface="Arial"/>
              </a:defRPr>
            </a:lvl3pPr>
            <a:lvl4pPr>
              <a:defRPr sz="3750" b="1">
                <a:solidFill>
                  <a:srgbClr val="152A40"/>
                </a:solidFill>
                <a:latin typeface="Arial"/>
                <a:ea typeface="Arial"/>
                <a:cs typeface="Arial"/>
              </a:defRPr>
            </a:lvl4pPr>
            <a:lvl5pPr>
              <a:defRPr sz="3750" b="1">
                <a:solidFill>
                  <a:srgbClr val="152A40"/>
                </a:solidFill>
                <a:latin typeface="Arial"/>
                <a:ea typeface="Arial"/>
                <a:cs typeface="Arial"/>
              </a:defRPr>
            </a:lvl5pPr>
            <a:lvl6pPr>
              <a:defRPr sz="3750" b="1">
                <a:solidFill>
                  <a:srgbClr val="152A40"/>
                </a:solidFill>
                <a:latin typeface="Arial"/>
                <a:ea typeface="Arial"/>
                <a:cs typeface="Arial"/>
              </a:defRPr>
            </a:lvl6pPr>
            <a:lvl7pPr>
              <a:defRPr sz="3750" b="1">
                <a:solidFill>
                  <a:srgbClr val="152A40"/>
                </a:solidFill>
                <a:latin typeface="Arial"/>
                <a:ea typeface="Arial"/>
                <a:cs typeface="Arial"/>
              </a:defRPr>
            </a:lvl7pPr>
            <a:lvl8pPr>
              <a:defRPr sz="3750" b="1">
                <a:solidFill>
                  <a:srgbClr val="152A40"/>
                </a:solidFill>
                <a:latin typeface="Arial"/>
                <a:ea typeface="Arial"/>
                <a:cs typeface="Arial"/>
              </a:defRPr>
            </a:lvl8pPr>
            <a:lvl9pPr>
              <a:defRPr sz="3750" b="1">
                <a:solidFill>
                  <a:srgbClr val="152A40"/>
                </a:solidFill>
                <a:latin typeface="Arial"/>
                <a:ea typeface="Arial"/>
                <a:cs typeface="Arial"/>
              </a:defRPr>
            </a:lvl9pPr>
          </a:lstStyle>
          <a:p>
            <a:pPr>
              <a:defRPr sz="3750" b="1">
                <a:solidFill>
                  <a:srgbClr val="152A40"/>
                </a:solidFill>
                <a:latin typeface="Arial"/>
                <a:ea typeface="Arial"/>
                <a:cs typeface="Arial"/>
              </a:defRPr>
            </a:pPr>
            <a:r>
              <a:rPr sz="3750" b="1">
                <a:solidFill>
                  <a:srgbClr val="152A40"/>
                </a:solidFill>
                <a:latin typeface="Arial"/>
                <a:ea typeface="Arial"/>
                <a:cs typeface="Arial"/>
              </a:rPr>
              <a:t>The cube and supporting products</a:t>
            </a:r>
          </a:p>
        </p:txBody>
      </p:sp>
      <p:sp>
        <p:nvSpPr>
          <p:cNvPr id="2" name="Rectangle 1">
            <a:extLst>
              <a:ext uri="{FF2B5EF4-FFF2-40B4-BE49-F238E27FC236}">
                <a16:creationId xmlns:a16="http://schemas.microsoft.com/office/drawing/2014/main" id="{15431F95-28E2-4DE3-8EE6-60D0C8C0C48E}"/>
              </a:ext>
            </a:extLst>
          </p:cNvPr>
          <p:cNvSpPr>
            <a:spLocks noGrp="1"/>
          </p:cNvSpPr>
          <p:nvPr/>
        </p:nvSpPr>
        <p:spPr>
          <a:xfrm>
            <a:off x="628650" y="1152525"/>
            <a:ext cx="13954125" cy="552450"/>
          </a:xfrm>
          <a:prstGeom prst="rect">
            <a:avLst/>
          </a:prstGeom>
          <a:noFill/>
          <a:ln w="0">
            <a:noFill/>
          </a:ln>
        </p:spPr>
        <p:txBody>
          <a:bodyPr wrap="square" lIns="0" tIns="0" rIns="0" bIns="0" anchor="t">
            <a:noAutofit/>
          </a:bodyPr>
          <a:lstStyle>
            <a:defPPr>
              <a:defRPr sz="2025" b="0">
                <a:solidFill>
                  <a:srgbClr val="4B5E70"/>
                </a:solidFill>
                <a:latin typeface="Arial"/>
                <a:ea typeface="Arial"/>
                <a:cs typeface="Arial"/>
              </a:defRPr>
            </a:defPPr>
            <a:lvl1pPr>
              <a:defRPr sz="2025" b="0">
                <a:solidFill>
                  <a:srgbClr val="4B5E70"/>
                </a:solidFill>
                <a:latin typeface="Arial"/>
                <a:ea typeface="Arial"/>
                <a:cs typeface="Arial"/>
              </a:defRPr>
            </a:lvl1pPr>
            <a:lvl2pPr>
              <a:defRPr sz="2025" b="0">
                <a:solidFill>
                  <a:srgbClr val="4B5E70"/>
                </a:solidFill>
                <a:latin typeface="Arial"/>
                <a:ea typeface="Arial"/>
                <a:cs typeface="Arial"/>
              </a:defRPr>
            </a:lvl2pPr>
            <a:lvl3pPr>
              <a:defRPr sz="2025" b="0">
                <a:solidFill>
                  <a:srgbClr val="4B5E70"/>
                </a:solidFill>
                <a:latin typeface="Arial"/>
                <a:ea typeface="Arial"/>
                <a:cs typeface="Arial"/>
              </a:defRPr>
            </a:lvl3pPr>
            <a:lvl4pPr>
              <a:defRPr sz="2025" b="0">
                <a:solidFill>
                  <a:srgbClr val="4B5E70"/>
                </a:solidFill>
                <a:latin typeface="Arial"/>
                <a:ea typeface="Arial"/>
                <a:cs typeface="Arial"/>
              </a:defRPr>
            </a:lvl4pPr>
            <a:lvl5pPr>
              <a:defRPr sz="2025" b="0">
                <a:solidFill>
                  <a:srgbClr val="4B5E70"/>
                </a:solidFill>
                <a:latin typeface="Arial"/>
                <a:ea typeface="Arial"/>
                <a:cs typeface="Arial"/>
              </a:defRPr>
            </a:lvl5pPr>
            <a:lvl6pPr>
              <a:defRPr sz="2025" b="0">
                <a:solidFill>
                  <a:srgbClr val="4B5E70"/>
                </a:solidFill>
                <a:latin typeface="Arial"/>
                <a:ea typeface="Arial"/>
                <a:cs typeface="Arial"/>
              </a:defRPr>
            </a:lvl6pPr>
            <a:lvl7pPr>
              <a:defRPr sz="2025" b="0">
                <a:solidFill>
                  <a:srgbClr val="4B5E70"/>
                </a:solidFill>
                <a:latin typeface="Arial"/>
                <a:ea typeface="Arial"/>
                <a:cs typeface="Arial"/>
              </a:defRPr>
            </a:lvl7pPr>
            <a:lvl8pPr>
              <a:defRPr sz="2025" b="0">
                <a:solidFill>
                  <a:srgbClr val="4B5E70"/>
                </a:solidFill>
                <a:latin typeface="Arial"/>
                <a:ea typeface="Arial"/>
                <a:cs typeface="Arial"/>
              </a:defRPr>
            </a:lvl8pPr>
            <a:lvl9pPr>
              <a:defRPr sz="2025" b="0">
                <a:solidFill>
                  <a:srgbClr val="4B5E70"/>
                </a:solidFill>
                <a:latin typeface="Arial"/>
                <a:ea typeface="Arial"/>
                <a:cs typeface="Arial"/>
              </a:defRPr>
            </a:lvl9pPr>
          </a:lstStyle>
          <a:p>
            <a:pPr>
              <a:defRPr sz="2025" b="0">
                <a:solidFill>
                  <a:srgbClr val="4B5E70"/>
                </a:solidFill>
                <a:latin typeface="Arial"/>
                <a:ea typeface="Arial"/>
                <a:cs typeface="Arial"/>
              </a:defRPr>
            </a:pPr>
            <a:r>
              <a:rPr sz="2025" b="0">
                <a:solidFill>
                  <a:srgbClr val="4B5E70"/>
                </a:solidFill>
                <a:latin typeface="Arial"/>
                <a:ea typeface="Arial"/>
                <a:cs typeface="Arial"/>
              </a:rPr>
              <a:t>fish&gt; xy_map reports the current cube directory</a:t>
            </a:r>
          </a:p>
        </p:txBody>
      </p:sp>
      <p:sp>
        <p:nvSpPr>
          <p:cNvPr id="3" name="Rectangle 2">
            <a:extLst>
              <a:ext uri="{FF2B5EF4-FFF2-40B4-BE49-F238E27FC236}">
                <a16:creationId xmlns:a16="http://schemas.microsoft.com/office/drawing/2014/main" id="{551E03D2-30D1-43F0-9421-C6CF26F33DF4}"/>
              </a:ext>
            </a:extLst>
          </p:cNvPr>
          <p:cNvSpPr>
            <a:spLocks noGrp="1"/>
          </p:cNvSpPr>
          <p:nvPr/>
        </p:nvSpPr>
        <p:spPr>
          <a:xfrm>
            <a:off x="14144625" y="8134350"/>
            <a:ext cx="504825" cy="247650"/>
          </a:xfrm>
          <a:prstGeom prst="rect">
            <a:avLst/>
          </a:prstGeom>
          <a:noFill/>
          <a:ln w="0">
            <a:noFill/>
          </a:ln>
        </p:spPr>
        <p:txBody>
          <a:bodyPr wrap="square" lIns="0" tIns="0" rIns="0" bIns="0" anchor="t">
            <a:noAutofit/>
          </a:bodyPr>
          <a:lstStyle>
            <a:defPPr>
              <a:defRPr sz="1425" b="0">
                <a:solidFill>
                  <a:srgbClr val="4B5E70"/>
                </a:solidFill>
                <a:latin typeface="Arial"/>
                <a:ea typeface="Arial"/>
                <a:cs typeface="Arial"/>
              </a:defRPr>
            </a:defPPr>
            <a:lvl1pPr>
              <a:defRPr sz="1425" b="0">
                <a:solidFill>
                  <a:srgbClr val="4B5E70"/>
                </a:solidFill>
                <a:latin typeface="Arial"/>
                <a:ea typeface="Arial"/>
                <a:cs typeface="Arial"/>
              </a:defRPr>
            </a:lvl1pPr>
            <a:lvl2pPr>
              <a:defRPr sz="1425" b="0">
                <a:solidFill>
                  <a:srgbClr val="4B5E70"/>
                </a:solidFill>
                <a:latin typeface="Arial"/>
                <a:ea typeface="Arial"/>
                <a:cs typeface="Arial"/>
              </a:defRPr>
            </a:lvl2pPr>
            <a:lvl3pPr>
              <a:defRPr sz="1425" b="0">
                <a:solidFill>
                  <a:srgbClr val="4B5E70"/>
                </a:solidFill>
                <a:latin typeface="Arial"/>
                <a:ea typeface="Arial"/>
                <a:cs typeface="Arial"/>
              </a:defRPr>
            </a:lvl3pPr>
            <a:lvl4pPr>
              <a:defRPr sz="1425" b="0">
                <a:solidFill>
                  <a:srgbClr val="4B5E70"/>
                </a:solidFill>
                <a:latin typeface="Arial"/>
                <a:ea typeface="Arial"/>
                <a:cs typeface="Arial"/>
              </a:defRPr>
            </a:lvl4pPr>
            <a:lvl5pPr>
              <a:defRPr sz="1425" b="0">
                <a:solidFill>
                  <a:srgbClr val="4B5E70"/>
                </a:solidFill>
                <a:latin typeface="Arial"/>
                <a:ea typeface="Arial"/>
                <a:cs typeface="Arial"/>
              </a:defRPr>
            </a:lvl5pPr>
            <a:lvl6pPr>
              <a:defRPr sz="1425" b="0">
                <a:solidFill>
                  <a:srgbClr val="4B5E70"/>
                </a:solidFill>
                <a:latin typeface="Arial"/>
                <a:ea typeface="Arial"/>
                <a:cs typeface="Arial"/>
              </a:defRPr>
            </a:lvl6pPr>
            <a:lvl7pPr>
              <a:defRPr sz="1425" b="0">
                <a:solidFill>
                  <a:srgbClr val="4B5E70"/>
                </a:solidFill>
                <a:latin typeface="Arial"/>
                <a:ea typeface="Arial"/>
                <a:cs typeface="Arial"/>
              </a:defRPr>
            </a:lvl7pPr>
            <a:lvl8pPr>
              <a:defRPr sz="1425" b="0">
                <a:solidFill>
                  <a:srgbClr val="4B5E70"/>
                </a:solidFill>
                <a:latin typeface="Arial"/>
                <a:ea typeface="Arial"/>
                <a:cs typeface="Arial"/>
              </a:defRPr>
            </a:lvl8pPr>
            <a:lvl9pPr>
              <a:defRPr sz="1425" b="0">
                <a:solidFill>
                  <a:srgbClr val="4B5E70"/>
                </a:solidFill>
                <a:latin typeface="Arial"/>
                <a:ea typeface="Arial"/>
                <a:cs typeface="Arial"/>
              </a:defRPr>
            </a:lvl9pPr>
          </a:lstStyle>
          <a:p>
            <a:pPr>
              <a:defRPr sz="1425" b="0">
                <a:solidFill>
                  <a:srgbClr val="4B5E70"/>
                </a:solidFill>
                <a:latin typeface="Arial"/>
                <a:ea typeface="Arial"/>
                <a:cs typeface="Arial"/>
              </a:defRPr>
            </a:pPr>
            <a:r>
              <a:rPr sz="1425" b="0">
                <a:solidFill>
                  <a:srgbClr val="4B5E70"/>
                </a:solidFill>
                <a:latin typeface="Arial"/>
                <a:ea typeface="Arial"/>
                <a:cs typeface="Arial"/>
              </a:rPr>
              <a:t>18</a:t>
            </a:r>
          </a:p>
        </p:txBody>
      </p:sp>
      <p:sp>
        <p:nvSpPr>
          <p:cNvPr id="4" name="Rectangle 3">
            <a:extLst>
              <a:ext uri="{FF2B5EF4-FFF2-40B4-BE49-F238E27FC236}">
                <a16:creationId xmlns:a16="http://schemas.microsoft.com/office/drawing/2014/main" id="{08BF9CF1-F645-4AA8-98E8-3F9E3C3C57FF}"/>
              </a:ext>
            </a:extLst>
          </p:cNvPr>
          <p:cNvSpPr>
            <a:spLocks noGrp="1"/>
          </p:cNvSpPr>
          <p:nvPr/>
        </p:nvSpPr>
        <p:spPr>
          <a:xfrm>
            <a:off x="714375" y="2095500"/>
            <a:ext cx="7429500" cy="714375"/>
          </a:xfrm>
          <a:prstGeom prst="rect">
            <a:avLst/>
          </a:prstGeom>
          <a:noFill/>
          <a:ln w="0">
            <a:noFill/>
          </a:ln>
        </p:spPr>
        <p:txBody>
          <a:bodyPr wrap="square" lIns="0" tIns="0" rIns="0" bIns="0" anchor="t">
            <a:noAutofit/>
          </a:bodyPr>
          <a:lstStyle>
            <a:defPPr>
              <a:defRPr sz="2100" b="0">
                <a:solidFill>
                  <a:srgbClr val="075CA8"/>
                </a:solidFill>
                <a:latin typeface="Menlo"/>
                <a:ea typeface="Menlo"/>
                <a:cs typeface="Menlo"/>
              </a:defRPr>
            </a:defPPr>
            <a:lvl1pPr>
              <a:defRPr sz="2100" b="0">
                <a:solidFill>
                  <a:srgbClr val="075CA8"/>
                </a:solidFill>
                <a:latin typeface="Menlo"/>
                <a:ea typeface="Menlo"/>
                <a:cs typeface="Menlo"/>
              </a:defRPr>
            </a:lvl1pPr>
            <a:lvl2pPr>
              <a:defRPr sz="2100" b="0">
                <a:solidFill>
                  <a:srgbClr val="075CA8"/>
                </a:solidFill>
                <a:latin typeface="Menlo"/>
                <a:ea typeface="Menlo"/>
                <a:cs typeface="Menlo"/>
              </a:defRPr>
            </a:lvl2pPr>
            <a:lvl3pPr>
              <a:defRPr sz="2100" b="0">
                <a:solidFill>
                  <a:srgbClr val="075CA8"/>
                </a:solidFill>
                <a:latin typeface="Menlo"/>
                <a:ea typeface="Menlo"/>
                <a:cs typeface="Menlo"/>
              </a:defRPr>
            </a:lvl3pPr>
            <a:lvl4pPr>
              <a:defRPr sz="2100" b="0">
                <a:solidFill>
                  <a:srgbClr val="075CA8"/>
                </a:solidFill>
                <a:latin typeface="Menlo"/>
                <a:ea typeface="Menlo"/>
                <a:cs typeface="Menlo"/>
              </a:defRPr>
            </a:lvl4pPr>
            <a:lvl5pPr>
              <a:defRPr sz="2100" b="0">
                <a:solidFill>
                  <a:srgbClr val="075CA8"/>
                </a:solidFill>
                <a:latin typeface="Menlo"/>
                <a:ea typeface="Menlo"/>
                <a:cs typeface="Menlo"/>
              </a:defRPr>
            </a:lvl5pPr>
            <a:lvl6pPr>
              <a:defRPr sz="2100" b="0">
                <a:solidFill>
                  <a:srgbClr val="075CA8"/>
                </a:solidFill>
                <a:latin typeface="Menlo"/>
                <a:ea typeface="Menlo"/>
                <a:cs typeface="Menlo"/>
              </a:defRPr>
            </a:lvl6pPr>
            <a:lvl7pPr>
              <a:defRPr sz="2100" b="0">
                <a:solidFill>
                  <a:srgbClr val="075CA8"/>
                </a:solidFill>
                <a:latin typeface="Menlo"/>
                <a:ea typeface="Menlo"/>
                <a:cs typeface="Menlo"/>
              </a:defRPr>
            </a:lvl7pPr>
            <a:lvl8pPr>
              <a:defRPr sz="2100" b="0">
                <a:solidFill>
                  <a:srgbClr val="075CA8"/>
                </a:solidFill>
                <a:latin typeface="Menlo"/>
                <a:ea typeface="Menlo"/>
                <a:cs typeface="Menlo"/>
              </a:defRPr>
            </a:lvl8pPr>
            <a:lvl9pPr>
              <a:defRPr sz="2100" b="0">
                <a:solidFill>
                  <a:srgbClr val="075CA8"/>
                </a:solidFill>
                <a:latin typeface="Menlo"/>
                <a:ea typeface="Menlo"/>
                <a:cs typeface="Menlo"/>
              </a:defRPr>
            </a:lvl9pPr>
          </a:lstStyle>
          <a:p>
            <a:pPr>
              <a:defRPr sz="2100" b="0">
                <a:solidFill>
                  <a:srgbClr val="075CA8"/>
                </a:solidFill>
                <a:latin typeface="Menlo"/>
                <a:ea typeface="Menlo"/>
                <a:cs typeface="Menlo"/>
              </a:defRPr>
            </a:pPr>
            <a:r>
              <a:rPr sz="2100" b="0">
                <a:solidFill>
                  <a:srgbClr val="075CA8"/>
                </a:solidFill>
                <a:latin typeface="Menlo"/>
                <a:ea typeface="Menlo"/>
                <a:cs typeface="Menlo"/>
              </a:rPr>
              <a:t>FAST_IC443_cube.fits</a:t>
            </a:r>
          </a:p>
        </p:txBody>
      </p:sp>
      <p:sp>
        <p:nvSpPr>
          <p:cNvPr id="5" name="Rectangle 4">
            <a:extLst>
              <a:ext uri="{FF2B5EF4-FFF2-40B4-BE49-F238E27FC236}">
                <a16:creationId xmlns:a16="http://schemas.microsoft.com/office/drawing/2014/main" id="{BD915386-F275-4C36-B1D2-51BB4D093289}"/>
              </a:ext>
            </a:extLst>
          </p:cNvPr>
          <p:cNvSpPr>
            <a:spLocks noGrp="1"/>
          </p:cNvSpPr>
          <p:nvPr/>
        </p:nvSpPr>
        <p:spPr>
          <a:xfrm>
            <a:off x="8382000" y="2124075"/>
            <a:ext cx="6096000" cy="857250"/>
          </a:xfrm>
          <a:prstGeom prst="rect">
            <a:avLst/>
          </a:prstGeom>
          <a:noFill/>
          <a:ln w="0">
            <a:noFill/>
          </a:ln>
        </p:spPr>
        <p:txBody>
          <a:bodyPr wrap="square" lIns="0" tIns="0" rIns="0" bIns="0" anchor="t">
            <a:noAutofit/>
          </a:bodyPr>
          <a:lstStyle>
            <a:defPPr>
              <a:defRPr sz="2175" b="0">
                <a:solidFill>
                  <a:srgbClr val="152A40"/>
                </a:solidFill>
                <a:latin typeface="Arial"/>
                <a:ea typeface="Arial"/>
                <a:cs typeface="Arial"/>
              </a:defRPr>
            </a:defPPr>
            <a:lvl1pPr>
              <a:defRPr sz="2175" b="0">
                <a:solidFill>
                  <a:srgbClr val="152A40"/>
                </a:solidFill>
                <a:latin typeface="Arial"/>
                <a:ea typeface="Arial"/>
                <a:cs typeface="Arial"/>
              </a:defRPr>
            </a:lvl1pPr>
            <a:lvl2pPr>
              <a:defRPr sz="2175" b="0">
                <a:solidFill>
                  <a:srgbClr val="152A40"/>
                </a:solidFill>
                <a:latin typeface="Arial"/>
                <a:ea typeface="Arial"/>
                <a:cs typeface="Arial"/>
              </a:defRPr>
            </a:lvl2pPr>
            <a:lvl3pPr>
              <a:defRPr sz="2175" b="0">
                <a:solidFill>
                  <a:srgbClr val="152A40"/>
                </a:solidFill>
                <a:latin typeface="Arial"/>
                <a:ea typeface="Arial"/>
                <a:cs typeface="Arial"/>
              </a:defRPr>
            </a:lvl3pPr>
            <a:lvl4pPr>
              <a:defRPr sz="2175" b="0">
                <a:solidFill>
                  <a:srgbClr val="152A40"/>
                </a:solidFill>
                <a:latin typeface="Arial"/>
                <a:ea typeface="Arial"/>
                <a:cs typeface="Arial"/>
              </a:defRPr>
            </a:lvl4pPr>
            <a:lvl5pPr>
              <a:defRPr sz="2175" b="0">
                <a:solidFill>
                  <a:srgbClr val="152A40"/>
                </a:solidFill>
                <a:latin typeface="Arial"/>
                <a:ea typeface="Arial"/>
                <a:cs typeface="Arial"/>
              </a:defRPr>
            </a:lvl5pPr>
            <a:lvl6pPr>
              <a:defRPr sz="2175" b="0">
                <a:solidFill>
                  <a:srgbClr val="152A40"/>
                </a:solidFill>
                <a:latin typeface="Arial"/>
                <a:ea typeface="Arial"/>
                <a:cs typeface="Arial"/>
              </a:defRPr>
            </a:lvl6pPr>
            <a:lvl7pPr>
              <a:defRPr sz="2175" b="0">
                <a:solidFill>
                  <a:srgbClr val="152A40"/>
                </a:solidFill>
                <a:latin typeface="Arial"/>
                <a:ea typeface="Arial"/>
                <a:cs typeface="Arial"/>
              </a:defRPr>
            </a:lvl7pPr>
            <a:lvl8pPr>
              <a:defRPr sz="2175" b="0">
                <a:solidFill>
                  <a:srgbClr val="152A40"/>
                </a:solidFill>
                <a:latin typeface="Arial"/>
                <a:ea typeface="Arial"/>
                <a:cs typeface="Arial"/>
              </a:defRPr>
            </a:lvl8pPr>
            <a:lvl9pPr>
              <a:defRPr sz="2175" b="0">
                <a:solidFill>
                  <a:srgbClr val="152A40"/>
                </a:solidFill>
                <a:latin typeface="Arial"/>
                <a:ea typeface="Arial"/>
                <a:cs typeface="Arial"/>
              </a:defRPr>
            </a:lvl9pPr>
          </a:lstStyle>
          <a:p>
            <a:pPr>
              <a:defRPr sz="2175" b="0">
                <a:solidFill>
                  <a:srgbClr val="152A40"/>
                </a:solidFill>
                <a:latin typeface="Arial"/>
                <a:ea typeface="Arial"/>
                <a:cs typeface="Arial"/>
              </a:defRPr>
            </a:pPr>
            <a:r>
              <a:rPr sz="2175" b="0">
                <a:solidFill>
                  <a:srgbClr val="152A40"/>
                </a:solidFill>
                <a:latin typeface="Arial"/>
                <a:ea typeface="Arial"/>
                <a:cs typeface="Arial"/>
              </a:rPr>
              <a:t>Calibrated spectral cube in kelvin</a:t>
            </a:r>
          </a:p>
        </p:txBody>
      </p:sp>
      <p:sp>
        <p:nvSpPr>
          <p:cNvPr id="6" name="Rectangle 5">
            <a:extLst>
              <a:ext uri="{FF2B5EF4-FFF2-40B4-BE49-F238E27FC236}">
                <a16:creationId xmlns:a16="http://schemas.microsoft.com/office/drawing/2014/main" id="{89886A17-5BB5-431B-9CAF-D583839EFE70}"/>
              </a:ext>
            </a:extLst>
          </p:cNvPr>
          <p:cNvSpPr>
            <a:spLocks noGrp="1"/>
          </p:cNvSpPr>
          <p:nvPr/>
        </p:nvSpPr>
        <p:spPr>
          <a:xfrm>
            <a:off x="714375" y="3190875"/>
            <a:ext cx="7429500" cy="714375"/>
          </a:xfrm>
          <a:prstGeom prst="rect">
            <a:avLst/>
          </a:prstGeom>
          <a:noFill/>
          <a:ln w="0">
            <a:noFill/>
          </a:ln>
        </p:spPr>
        <p:txBody>
          <a:bodyPr wrap="square" lIns="0" tIns="0" rIns="0" bIns="0" anchor="t">
            <a:noAutofit/>
          </a:bodyPr>
          <a:lstStyle>
            <a:defPPr>
              <a:defRPr sz="2100" b="0">
                <a:solidFill>
                  <a:srgbClr val="075CA8"/>
                </a:solidFill>
                <a:latin typeface="Menlo"/>
                <a:ea typeface="Menlo"/>
                <a:cs typeface="Menlo"/>
              </a:defRPr>
            </a:defPPr>
            <a:lvl1pPr>
              <a:defRPr sz="2100" b="0">
                <a:solidFill>
                  <a:srgbClr val="075CA8"/>
                </a:solidFill>
                <a:latin typeface="Menlo"/>
                <a:ea typeface="Menlo"/>
                <a:cs typeface="Menlo"/>
              </a:defRPr>
            </a:lvl1pPr>
            <a:lvl2pPr>
              <a:defRPr sz="2100" b="0">
                <a:solidFill>
                  <a:srgbClr val="075CA8"/>
                </a:solidFill>
                <a:latin typeface="Menlo"/>
                <a:ea typeface="Menlo"/>
                <a:cs typeface="Menlo"/>
              </a:defRPr>
            </a:lvl2pPr>
            <a:lvl3pPr>
              <a:defRPr sz="2100" b="0">
                <a:solidFill>
                  <a:srgbClr val="075CA8"/>
                </a:solidFill>
                <a:latin typeface="Menlo"/>
                <a:ea typeface="Menlo"/>
                <a:cs typeface="Menlo"/>
              </a:defRPr>
            </a:lvl3pPr>
            <a:lvl4pPr>
              <a:defRPr sz="2100" b="0">
                <a:solidFill>
                  <a:srgbClr val="075CA8"/>
                </a:solidFill>
                <a:latin typeface="Menlo"/>
                <a:ea typeface="Menlo"/>
                <a:cs typeface="Menlo"/>
              </a:defRPr>
            </a:lvl4pPr>
            <a:lvl5pPr>
              <a:defRPr sz="2100" b="0">
                <a:solidFill>
                  <a:srgbClr val="075CA8"/>
                </a:solidFill>
                <a:latin typeface="Menlo"/>
                <a:ea typeface="Menlo"/>
                <a:cs typeface="Menlo"/>
              </a:defRPr>
            </a:lvl5pPr>
            <a:lvl6pPr>
              <a:defRPr sz="2100" b="0">
                <a:solidFill>
                  <a:srgbClr val="075CA8"/>
                </a:solidFill>
                <a:latin typeface="Menlo"/>
                <a:ea typeface="Menlo"/>
                <a:cs typeface="Menlo"/>
              </a:defRPr>
            </a:lvl6pPr>
            <a:lvl7pPr>
              <a:defRPr sz="2100" b="0">
                <a:solidFill>
                  <a:srgbClr val="075CA8"/>
                </a:solidFill>
                <a:latin typeface="Menlo"/>
                <a:ea typeface="Menlo"/>
                <a:cs typeface="Menlo"/>
              </a:defRPr>
            </a:lvl7pPr>
            <a:lvl8pPr>
              <a:defRPr sz="2100" b="0">
                <a:solidFill>
                  <a:srgbClr val="075CA8"/>
                </a:solidFill>
                <a:latin typeface="Menlo"/>
                <a:ea typeface="Menlo"/>
                <a:cs typeface="Menlo"/>
              </a:defRPr>
            </a:lvl8pPr>
            <a:lvl9pPr>
              <a:defRPr sz="2100" b="0">
                <a:solidFill>
                  <a:srgbClr val="075CA8"/>
                </a:solidFill>
                <a:latin typeface="Menlo"/>
                <a:ea typeface="Menlo"/>
                <a:cs typeface="Menlo"/>
              </a:defRPr>
            </a:lvl9pPr>
          </a:lstStyle>
          <a:p>
            <a:pPr>
              <a:defRPr sz="2100" b="0">
                <a:solidFill>
                  <a:srgbClr val="075CA8"/>
                </a:solidFill>
                <a:latin typeface="Menlo"/>
                <a:ea typeface="Menlo"/>
                <a:cs typeface="Menlo"/>
              </a:defRPr>
            </a:pPr>
            <a:r>
              <a:rPr sz="2100" b="0">
                <a:solidFill>
                  <a:srgbClr val="075CA8"/>
                </a:solidFill>
                <a:latin typeface="Menlo"/>
                <a:ea typeface="Menlo"/>
                <a:cs typeface="Menlo"/>
              </a:rPr>
              <a:t>coverage.fits</a:t>
            </a:r>
          </a:p>
        </p:txBody>
      </p:sp>
      <p:sp>
        <p:nvSpPr>
          <p:cNvPr id="7" name="Rectangle 6">
            <a:extLst>
              <a:ext uri="{FF2B5EF4-FFF2-40B4-BE49-F238E27FC236}">
                <a16:creationId xmlns:a16="http://schemas.microsoft.com/office/drawing/2014/main" id="{87955A5F-96CB-4D78-B90B-CD1059401D7B}"/>
              </a:ext>
            </a:extLst>
          </p:cNvPr>
          <p:cNvSpPr>
            <a:spLocks noGrp="1"/>
          </p:cNvSpPr>
          <p:nvPr/>
        </p:nvSpPr>
        <p:spPr>
          <a:xfrm>
            <a:off x="8382000" y="3219450"/>
            <a:ext cx="6096000" cy="857250"/>
          </a:xfrm>
          <a:prstGeom prst="rect">
            <a:avLst/>
          </a:prstGeom>
          <a:noFill/>
          <a:ln w="0">
            <a:noFill/>
          </a:ln>
        </p:spPr>
        <p:txBody>
          <a:bodyPr wrap="square" lIns="0" tIns="0" rIns="0" bIns="0" anchor="t">
            <a:noAutofit/>
          </a:bodyPr>
          <a:lstStyle>
            <a:defPPr>
              <a:defRPr sz="2175" b="0">
                <a:solidFill>
                  <a:srgbClr val="152A40"/>
                </a:solidFill>
                <a:latin typeface="Arial"/>
                <a:ea typeface="Arial"/>
                <a:cs typeface="Arial"/>
              </a:defRPr>
            </a:defPPr>
            <a:lvl1pPr>
              <a:defRPr sz="2175" b="0">
                <a:solidFill>
                  <a:srgbClr val="152A40"/>
                </a:solidFill>
                <a:latin typeface="Arial"/>
                <a:ea typeface="Arial"/>
                <a:cs typeface="Arial"/>
              </a:defRPr>
            </a:lvl1pPr>
            <a:lvl2pPr>
              <a:defRPr sz="2175" b="0">
                <a:solidFill>
                  <a:srgbClr val="152A40"/>
                </a:solidFill>
                <a:latin typeface="Arial"/>
                <a:ea typeface="Arial"/>
                <a:cs typeface="Arial"/>
              </a:defRPr>
            </a:lvl2pPr>
            <a:lvl3pPr>
              <a:defRPr sz="2175" b="0">
                <a:solidFill>
                  <a:srgbClr val="152A40"/>
                </a:solidFill>
                <a:latin typeface="Arial"/>
                <a:ea typeface="Arial"/>
                <a:cs typeface="Arial"/>
              </a:defRPr>
            </a:lvl3pPr>
            <a:lvl4pPr>
              <a:defRPr sz="2175" b="0">
                <a:solidFill>
                  <a:srgbClr val="152A40"/>
                </a:solidFill>
                <a:latin typeface="Arial"/>
                <a:ea typeface="Arial"/>
                <a:cs typeface="Arial"/>
              </a:defRPr>
            </a:lvl4pPr>
            <a:lvl5pPr>
              <a:defRPr sz="2175" b="0">
                <a:solidFill>
                  <a:srgbClr val="152A40"/>
                </a:solidFill>
                <a:latin typeface="Arial"/>
                <a:ea typeface="Arial"/>
                <a:cs typeface="Arial"/>
              </a:defRPr>
            </a:lvl5pPr>
            <a:lvl6pPr>
              <a:defRPr sz="2175" b="0">
                <a:solidFill>
                  <a:srgbClr val="152A40"/>
                </a:solidFill>
                <a:latin typeface="Arial"/>
                <a:ea typeface="Arial"/>
                <a:cs typeface="Arial"/>
              </a:defRPr>
            </a:lvl6pPr>
            <a:lvl7pPr>
              <a:defRPr sz="2175" b="0">
                <a:solidFill>
                  <a:srgbClr val="152A40"/>
                </a:solidFill>
                <a:latin typeface="Arial"/>
                <a:ea typeface="Arial"/>
                <a:cs typeface="Arial"/>
              </a:defRPr>
            </a:lvl7pPr>
            <a:lvl8pPr>
              <a:defRPr sz="2175" b="0">
                <a:solidFill>
                  <a:srgbClr val="152A40"/>
                </a:solidFill>
                <a:latin typeface="Arial"/>
                <a:ea typeface="Arial"/>
                <a:cs typeface="Arial"/>
              </a:defRPr>
            </a:lvl8pPr>
            <a:lvl9pPr>
              <a:defRPr sz="2175" b="0">
                <a:solidFill>
                  <a:srgbClr val="152A40"/>
                </a:solidFill>
                <a:latin typeface="Arial"/>
                <a:ea typeface="Arial"/>
                <a:cs typeface="Arial"/>
              </a:defRPr>
            </a:lvl9pPr>
          </a:lstStyle>
          <a:p>
            <a:pPr>
              <a:defRPr sz="2175" b="0">
                <a:solidFill>
                  <a:srgbClr val="152A40"/>
                </a:solidFill>
                <a:latin typeface="Arial"/>
                <a:ea typeface="Arial"/>
                <a:cs typeface="Arial"/>
              </a:defRPr>
            </a:pPr>
            <a:r>
              <a:rPr sz="2175" b="0">
                <a:solidFill>
                  <a:srgbClr val="152A40"/>
                </a:solidFill>
                <a:latin typeface="Arial"/>
                <a:ea typeface="Arial"/>
                <a:cs typeface="Arial"/>
              </a:rPr>
              <a:t>Geometric coverage weights</a:t>
            </a:r>
          </a:p>
        </p:txBody>
      </p:sp>
      <p:sp>
        <p:nvSpPr>
          <p:cNvPr id="8" name="Rectangle 7">
            <a:extLst>
              <a:ext uri="{FF2B5EF4-FFF2-40B4-BE49-F238E27FC236}">
                <a16:creationId xmlns:a16="http://schemas.microsoft.com/office/drawing/2014/main" id="{1AF84CDD-8F25-4D03-8BD9-5490954868F6}"/>
              </a:ext>
            </a:extLst>
          </p:cNvPr>
          <p:cNvSpPr>
            <a:spLocks noGrp="1"/>
          </p:cNvSpPr>
          <p:nvPr/>
        </p:nvSpPr>
        <p:spPr>
          <a:xfrm>
            <a:off x="714375" y="4286250"/>
            <a:ext cx="7429500" cy="714375"/>
          </a:xfrm>
          <a:prstGeom prst="rect">
            <a:avLst/>
          </a:prstGeom>
          <a:noFill/>
          <a:ln w="0">
            <a:noFill/>
          </a:ln>
        </p:spPr>
        <p:txBody>
          <a:bodyPr wrap="square" lIns="0" tIns="0" rIns="0" bIns="0" anchor="t">
            <a:noAutofit/>
          </a:bodyPr>
          <a:lstStyle>
            <a:defPPr>
              <a:defRPr sz="2100" b="0">
                <a:solidFill>
                  <a:srgbClr val="075CA8"/>
                </a:solidFill>
                <a:latin typeface="Menlo"/>
                <a:ea typeface="Menlo"/>
                <a:cs typeface="Menlo"/>
              </a:defRPr>
            </a:defPPr>
            <a:lvl1pPr>
              <a:defRPr sz="2100" b="0">
                <a:solidFill>
                  <a:srgbClr val="075CA8"/>
                </a:solidFill>
                <a:latin typeface="Menlo"/>
                <a:ea typeface="Menlo"/>
                <a:cs typeface="Menlo"/>
              </a:defRPr>
            </a:lvl1pPr>
            <a:lvl2pPr>
              <a:defRPr sz="2100" b="0">
                <a:solidFill>
                  <a:srgbClr val="075CA8"/>
                </a:solidFill>
                <a:latin typeface="Menlo"/>
                <a:ea typeface="Menlo"/>
                <a:cs typeface="Menlo"/>
              </a:defRPr>
            </a:lvl2pPr>
            <a:lvl3pPr>
              <a:defRPr sz="2100" b="0">
                <a:solidFill>
                  <a:srgbClr val="075CA8"/>
                </a:solidFill>
                <a:latin typeface="Menlo"/>
                <a:ea typeface="Menlo"/>
                <a:cs typeface="Menlo"/>
              </a:defRPr>
            </a:lvl3pPr>
            <a:lvl4pPr>
              <a:defRPr sz="2100" b="0">
                <a:solidFill>
                  <a:srgbClr val="075CA8"/>
                </a:solidFill>
                <a:latin typeface="Menlo"/>
                <a:ea typeface="Menlo"/>
                <a:cs typeface="Menlo"/>
              </a:defRPr>
            </a:lvl4pPr>
            <a:lvl5pPr>
              <a:defRPr sz="2100" b="0">
                <a:solidFill>
                  <a:srgbClr val="075CA8"/>
                </a:solidFill>
                <a:latin typeface="Menlo"/>
                <a:ea typeface="Menlo"/>
                <a:cs typeface="Menlo"/>
              </a:defRPr>
            </a:lvl5pPr>
            <a:lvl6pPr>
              <a:defRPr sz="2100" b="0">
                <a:solidFill>
                  <a:srgbClr val="075CA8"/>
                </a:solidFill>
                <a:latin typeface="Menlo"/>
                <a:ea typeface="Menlo"/>
                <a:cs typeface="Menlo"/>
              </a:defRPr>
            </a:lvl6pPr>
            <a:lvl7pPr>
              <a:defRPr sz="2100" b="0">
                <a:solidFill>
                  <a:srgbClr val="075CA8"/>
                </a:solidFill>
                <a:latin typeface="Menlo"/>
                <a:ea typeface="Menlo"/>
                <a:cs typeface="Menlo"/>
              </a:defRPr>
            </a:lvl7pPr>
            <a:lvl8pPr>
              <a:defRPr sz="2100" b="0">
                <a:solidFill>
                  <a:srgbClr val="075CA8"/>
                </a:solidFill>
                <a:latin typeface="Menlo"/>
                <a:ea typeface="Menlo"/>
                <a:cs typeface="Menlo"/>
              </a:defRPr>
            </a:lvl8pPr>
            <a:lvl9pPr>
              <a:defRPr sz="2100" b="0">
                <a:solidFill>
                  <a:srgbClr val="075CA8"/>
                </a:solidFill>
                <a:latin typeface="Menlo"/>
                <a:ea typeface="Menlo"/>
                <a:cs typeface="Menlo"/>
              </a:defRPr>
            </a:lvl9pPr>
          </a:lstStyle>
          <a:p>
            <a:pPr>
              <a:defRPr sz="2100" b="0">
                <a:solidFill>
                  <a:srgbClr val="075CA8"/>
                </a:solidFill>
                <a:latin typeface="Menlo"/>
                <a:ea typeface="Menlo"/>
                <a:cs typeface="Menlo"/>
              </a:defRPr>
            </a:pPr>
            <a:r>
              <a:rPr sz="2100" b="0">
                <a:solidFill>
                  <a:srgbClr val="075CA8"/>
                </a:solidFill>
                <a:latin typeface="Menlo"/>
                <a:ea typeface="Menlo"/>
                <a:cs typeface="Menlo"/>
              </a:rPr>
              <a:t>rfi_contribution_fraction.fits</a:t>
            </a:r>
          </a:p>
        </p:txBody>
      </p:sp>
      <p:sp>
        <p:nvSpPr>
          <p:cNvPr id="9" name="Rectangle 8">
            <a:extLst>
              <a:ext uri="{FF2B5EF4-FFF2-40B4-BE49-F238E27FC236}">
                <a16:creationId xmlns:a16="http://schemas.microsoft.com/office/drawing/2014/main" id="{0F2CAA4A-484E-4323-B8AB-78E9C2F6748D}"/>
              </a:ext>
            </a:extLst>
          </p:cNvPr>
          <p:cNvSpPr>
            <a:spLocks noGrp="1"/>
          </p:cNvSpPr>
          <p:nvPr/>
        </p:nvSpPr>
        <p:spPr>
          <a:xfrm>
            <a:off x="8382000" y="4314825"/>
            <a:ext cx="6096000" cy="857250"/>
          </a:xfrm>
          <a:prstGeom prst="rect">
            <a:avLst/>
          </a:prstGeom>
          <a:noFill/>
          <a:ln w="0">
            <a:noFill/>
          </a:ln>
        </p:spPr>
        <p:txBody>
          <a:bodyPr wrap="square" lIns="0" tIns="0" rIns="0" bIns="0" anchor="t">
            <a:noAutofit/>
          </a:bodyPr>
          <a:lstStyle>
            <a:defPPr>
              <a:defRPr sz="2175" b="0">
                <a:solidFill>
                  <a:srgbClr val="152A40"/>
                </a:solidFill>
                <a:latin typeface="Arial"/>
                <a:ea typeface="Arial"/>
                <a:cs typeface="Arial"/>
              </a:defRPr>
            </a:defPPr>
            <a:lvl1pPr>
              <a:defRPr sz="2175" b="0">
                <a:solidFill>
                  <a:srgbClr val="152A40"/>
                </a:solidFill>
                <a:latin typeface="Arial"/>
                <a:ea typeface="Arial"/>
                <a:cs typeface="Arial"/>
              </a:defRPr>
            </a:lvl1pPr>
            <a:lvl2pPr>
              <a:defRPr sz="2175" b="0">
                <a:solidFill>
                  <a:srgbClr val="152A40"/>
                </a:solidFill>
                <a:latin typeface="Arial"/>
                <a:ea typeface="Arial"/>
                <a:cs typeface="Arial"/>
              </a:defRPr>
            </a:lvl2pPr>
            <a:lvl3pPr>
              <a:defRPr sz="2175" b="0">
                <a:solidFill>
                  <a:srgbClr val="152A40"/>
                </a:solidFill>
                <a:latin typeface="Arial"/>
                <a:ea typeface="Arial"/>
                <a:cs typeface="Arial"/>
              </a:defRPr>
            </a:lvl3pPr>
            <a:lvl4pPr>
              <a:defRPr sz="2175" b="0">
                <a:solidFill>
                  <a:srgbClr val="152A40"/>
                </a:solidFill>
                <a:latin typeface="Arial"/>
                <a:ea typeface="Arial"/>
                <a:cs typeface="Arial"/>
              </a:defRPr>
            </a:lvl4pPr>
            <a:lvl5pPr>
              <a:defRPr sz="2175" b="0">
                <a:solidFill>
                  <a:srgbClr val="152A40"/>
                </a:solidFill>
                <a:latin typeface="Arial"/>
                <a:ea typeface="Arial"/>
                <a:cs typeface="Arial"/>
              </a:defRPr>
            </a:lvl5pPr>
            <a:lvl6pPr>
              <a:defRPr sz="2175" b="0">
                <a:solidFill>
                  <a:srgbClr val="152A40"/>
                </a:solidFill>
                <a:latin typeface="Arial"/>
                <a:ea typeface="Arial"/>
                <a:cs typeface="Arial"/>
              </a:defRPr>
            </a:lvl6pPr>
            <a:lvl7pPr>
              <a:defRPr sz="2175" b="0">
                <a:solidFill>
                  <a:srgbClr val="152A40"/>
                </a:solidFill>
                <a:latin typeface="Arial"/>
                <a:ea typeface="Arial"/>
                <a:cs typeface="Arial"/>
              </a:defRPr>
            </a:lvl7pPr>
            <a:lvl8pPr>
              <a:defRPr sz="2175" b="0">
                <a:solidFill>
                  <a:srgbClr val="152A40"/>
                </a:solidFill>
                <a:latin typeface="Arial"/>
                <a:ea typeface="Arial"/>
                <a:cs typeface="Arial"/>
              </a:defRPr>
            </a:lvl8pPr>
            <a:lvl9pPr>
              <a:defRPr sz="2175" b="0">
                <a:solidFill>
                  <a:srgbClr val="152A40"/>
                </a:solidFill>
                <a:latin typeface="Arial"/>
                <a:ea typeface="Arial"/>
                <a:cs typeface="Arial"/>
              </a:defRPr>
            </a:lvl9pPr>
          </a:lstStyle>
          <a:p>
            <a:pPr>
              <a:defRPr sz="2175" b="0">
                <a:solidFill>
                  <a:srgbClr val="152A40"/>
                </a:solidFill>
                <a:latin typeface="Arial"/>
                <a:ea typeface="Arial"/>
                <a:cs typeface="Arial"/>
              </a:defRPr>
            </a:pPr>
            <a:r>
              <a:rPr sz="2175" b="0">
                <a:solidFill>
                  <a:srgbClr val="152A40"/>
                </a:solidFill>
                <a:latin typeface="Arial"/>
                <a:ea typeface="Arial"/>
                <a:cs typeface="Arial"/>
              </a:rPr>
              <a:t>Fraction of contribution flagged by RFI tracking</a:t>
            </a:r>
          </a:p>
        </p:txBody>
      </p:sp>
      <p:sp>
        <p:nvSpPr>
          <p:cNvPr id="10" name="Rectangle 9">
            <a:extLst>
              <a:ext uri="{FF2B5EF4-FFF2-40B4-BE49-F238E27FC236}">
                <a16:creationId xmlns:a16="http://schemas.microsoft.com/office/drawing/2014/main" id="{EDC22B25-A427-4D0F-979C-C042D1E086F7}"/>
              </a:ext>
            </a:extLst>
          </p:cNvPr>
          <p:cNvSpPr>
            <a:spLocks noGrp="1"/>
          </p:cNvSpPr>
          <p:nvPr/>
        </p:nvSpPr>
        <p:spPr>
          <a:xfrm>
            <a:off x="714375" y="5381625"/>
            <a:ext cx="7429500" cy="714375"/>
          </a:xfrm>
          <a:prstGeom prst="rect">
            <a:avLst/>
          </a:prstGeom>
          <a:noFill/>
          <a:ln w="0">
            <a:noFill/>
          </a:ln>
        </p:spPr>
        <p:txBody>
          <a:bodyPr wrap="square" lIns="0" tIns="0" rIns="0" bIns="0" anchor="t">
            <a:noAutofit/>
          </a:bodyPr>
          <a:lstStyle>
            <a:defPPr>
              <a:defRPr sz="2100" b="0">
                <a:solidFill>
                  <a:srgbClr val="075CA8"/>
                </a:solidFill>
                <a:latin typeface="Menlo"/>
                <a:ea typeface="Menlo"/>
                <a:cs typeface="Menlo"/>
              </a:defRPr>
            </a:defPPr>
            <a:lvl1pPr>
              <a:defRPr sz="2100" b="0">
                <a:solidFill>
                  <a:srgbClr val="075CA8"/>
                </a:solidFill>
                <a:latin typeface="Menlo"/>
                <a:ea typeface="Menlo"/>
                <a:cs typeface="Menlo"/>
              </a:defRPr>
            </a:lvl1pPr>
            <a:lvl2pPr>
              <a:defRPr sz="2100" b="0">
                <a:solidFill>
                  <a:srgbClr val="075CA8"/>
                </a:solidFill>
                <a:latin typeface="Menlo"/>
                <a:ea typeface="Menlo"/>
                <a:cs typeface="Menlo"/>
              </a:defRPr>
            </a:lvl2pPr>
            <a:lvl3pPr>
              <a:defRPr sz="2100" b="0">
                <a:solidFill>
                  <a:srgbClr val="075CA8"/>
                </a:solidFill>
                <a:latin typeface="Menlo"/>
                <a:ea typeface="Menlo"/>
                <a:cs typeface="Menlo"/>
              </a:defRPr>
            </a:lvl3pPr>
            <a:lvl4pPr>
              <a:defRPr sz="2100" b="0">
                <a:solidFill>
                  <a:srgbClr val="075CA8"/>
                </a:solidFill>
                <a:latin typeface="Menlo"/>
                <a:ea typeface="Menlo"/>
                <a:cs typeface="Menlo"/>
              </a:defRPr>
            </a:lvl4pPr>
            <a:lvl5pPr>
              <a:defRPr sz="2100" b="0">
                <a:solidFill>
                  <a:srgbClr val="075CA8"/>
                </a:solidFill>
                <a:latin typeface="Menlo"/>
                <a:ea typeface="Menlo"/>
                <a:cs typeface="Menlo"/>
              </a:defRPr>
            </a:lvl5pPr>
            <a:lvl6pPr>
              <a:defRPr sz="2100" b="0">
                <a:solidFill>
                  <a:srgbClr val="075CA8"/>
                </a:solidFill>
                <a:latin typeface="Menlo"/>
                <a:ea typeface="Menlo"/>
                <a:cs typeface="Menlo"/>
              </a:defRPr>
            </a:lvl6pPr>
            <a:lvl7pPr>
              <a:defRPr sz="2100" b="0">
                <a:solidFill>
                  <a:srgbClr val="075CA8"/>
                </a:solidFill>
                <a:latin typeface="Menlo"/>
                <a:ea typeface="Menlo"/>
                <a:cs typeface="Menlo"/>
              </a:defRPr>
            </a:lvl7pPr>
            <a:lvl8pPr>
              <a:defRPr sz="2100" b="0">
                <a:solidFill>
                  <a:srgbClr val="075CA8"/>
                </a:solidFill>
                <a:latin typeface="Menlo"/>
                <a:ea typeface="Menlo"/>
                <a:cs typeface="Menlo"/>
              </a:defRPr>
            </a:lvl8pPr>
            <a:lvl9pPr>
              <a:defRPr sz="2100" b="0">
                <a:solidFill>
                  <a:srgbClr val="075CA8"/>
                </a:solidFill>
                <a:latin typeface="Menlo"/>
                <a:ea typeface="Menlo"/>
                <a:cs typeface="Menlo"/>
              </a:defRPr>
            </a:lvl9pPr>
          </a:lstStyle>
          <a:p>
            <a:pPr>
              <a:defRPr sz="2100" b="0">
                <a:solidFill>
                  <a:srgbClr val="075CA8"/>
                </a:solidFill>
                <a:latin typeface="Menlo"/>
                <a:ea typeface="Menlo"/>
                <a:cs typeface="Menlo"/>
              </a:defRPr>
            </a:pPr>
            <a:r>
              <a:rPr sz="2100" b="0">
                <a:solidFill>
                  <a:srgbClr val="075CA8"/>
                </a:solidFill>
                <a:latin typeface="Menlo"/>
                <a:ea typeface="Menlo"/>
                <a:cs typeface="Menlo"/>
              </a:rPr>
              <a:t>validation.json</a:t>
            </a:r>
          </a:p>
        </p:txBody>
      </p:sp>
      <p:sp>
        <p:nvSpPr>
          <p:cNvPr id="11" name="Rectangle 10">
            <a:extLst>
              <a:ext uri="{FF2B5EF4-FFF2-40B4-BE49-F238E27FC236}">
                <a16:creationId xmlns:a16="http://schemas.microsoft.com/office/drawing/2014/main" id="{C1215875-6000-49DE-9B7C-FE0C0A7FE3F7}"/>
              </a:ext>
            </a:extLst>
          </p:cNvPr>
          <p:cNvSpPr>
            <a:spLocks noGrp="1"/>
          </p:cNvSpPr>
          <p:nvPr/>
        </p:nvSpPr>
        <p:spPr>
          <a:xfrm>
            <a:off x="8382000" y="5410200"/>
            <a:ext cx="6096000" cy="857250"/>
          </a:xfrm>
          <a:prstGeom prst="rect">
            <a:avLst/>
          </a:prstGeom>
          <a:noFill/>
          <a:ln w="0">
            <a:noFill/>
          </a:ln>
        </p:spPr>
        <p:txBody>
          <a:bodyPr wrap="square" lIns="0" tIns="0" rIns="0" bIns="0" anchor="t">
            <a:noAutofit/>
          </a:bodyPr>
          <a:lstStyle>
            <a:defPPr>
              <a:defRPr sz="2175" b="0">
                <a:solidFill>
                  <a:srgbClr val="152A40"/>
                </a:solidFill>
                <a:latin typeface="Arial"/>
                <a:ea typeface="Arial"/>
                <a:cs typeface="Arial"/>
              </a:defRPr>
            </a:defPPr>
            <a:lvl1pPr>
              <a:defRPr sz="2175" b="0">
                <a:solidFill>
                  <a:srgbClr val="152A40"/>
                </a:solidFill>
                <a:latin typeface="Arial"/>
                <a:ea typeface="Arial"/>
                <a:cs typeface="Arial"/>
              </a:defRPr>
            </a:lvl1pPr>
            <a:lvl2pPr>
              <a:defRPr sz="2175" b="0">
                <a:solidFill>
                  <a:srgbClr val="152A40"/>
                </a:solidFill>
                <a:latin typeface="Arial"/>
                <a:ea typeface="Arial"/>
                <a:cs typeface="Arial"/>
              </a:defRPr>
            </a:lvl2pPr>
            <a:lvl3pPr>
              <a:defRPr sz="2175" b="0">
                <a:solidFill>
                  <a:srgbClr val="152A40"/>
                </a:solidFill>
                <a:latin typeface="Arial"/>
                <a:ea typeface="Arial"/>
                <a:cs typeface="Arial"/>
              </a:defRPr>
            </a:lvl3pPr>
            <a:lvl4pPr>
              <a:defRPr sz="2175" b="0">
                <a:solidFill>
                  <a:srgbClr val="152A40"/>
                </a:solidFill>
                <a:latin typeface="Arial"/>
                <a:ea typeface="Arial"/>
                <a:cs typeface="Arial"/>
              </a:defRPr>
            </a:lvl4pPr>
            <a:lvl5pPr>
              <a:defRPr sz="2175" b="0">
                <a:solidFill>
                  <a:srgbClr val="152A40"/>
                </a:solidFill>
                <a:latin typeface="Arial"/>
                <a:ea typeface="Arial"/>
                <a:cs typeface="Arial"/>
              </a:defRPr>
            </a:lvl5pPr>
            <a:lvl6pPr>
              <a:defRPr sz="2175" b="0">
                <a:solidFill>
                  <a:srgbClr val="152A40"/>
                </a:solidFill>
                <a:latin typeface="Arial"/>
                <a:ea typeface="Arial"/>
                <a:cs typeface="Arial"/>
              </a:defRPr>
            </a:lvl6pPr>
            <a:lvl7pPr>
              <a:defRPr sz="2175" b="0">
                <a:solidFill>
                  <a:srgbClr val="152A40"/>
                </a:solidFill>
                <a:latin typeface="Arial"/>
                <a:ea typeface="Arial"/>
                <a:cs typeface="Arial"/>
              </a:defRPr>
            </a:lvl7pPr>
            <a:lvl8pPr>
              <a:defRPr sz="2175" b="0">
                <a:solidFill>
                  <a:srgbClr val="152A40"/>
                </a:solidFill>
                <a:latin typeface="Arial"/>
                <a:ea typeface="Arial"/>
                <a:cs typeface="Arial"/>
              </a:defRPr>
            </a:lvl8pPr>
            <a:lvl9pPr>
              <a:defRPr sz="2175" b="0">
                <a:solidFill>
                  <a:srgbClr val="152A40"/>
                </a:solidFill>
                <a:latin typeface="Arial"/>
                <a:ea typeface="Arial"/>
                <a:cs typeface="Arial"/>
              </a:defRPr>
            </a:lvl9pPr>
          </a:lstStyle>
          <a:p>
            <a:pPr>
              <a:defRPr sz="2175" b="0">
                <a:solidFill>
                  <a:srgbClr val="152A40"/>
                </a:solidFill>
                <a:latin typeface="Arial"/>
                <a:ea typeface="Arial"/>
                <a:cs typeface="Arial"/>
              </a:defRPr>
            </a:pPr>
            <a:r>
              <a:rPr sz="2175" b="0">
                <a:solidFill>
                  <a:srgbClr val="152A40"/>
                </a:solidFill>
                <a:latin typeface="Arial"/>
                <a:ea typeface="Arial"/>
                <a:cs typeface="Arial"/>
              </a:rPr>
              <a:t>Numerical checks and direct/merged differences</a:t>
            </a:r>
          </a:p>
        </p:txBody>
      </p:sp>
      <p:sp>
        <p:nvSpPr>
          <p:cNvPr id="12" name="Rectangle 11">
            <a:extLst>
              <a:ext uri="{FF2B5EF4-FFF2-40B4-BE49-F238E27FC236}">
                <a16:creationId xmlns:a16="http://schemas.microsoft.com/office/drawing/2014/main" id="{1C8A0043-BC86-4F2E-99CA-EA89453BA7FD}"/>
              </a:ext>
            </a:extLst>
          </p:cNvPr>
          <p:cNvSpPr>
            <a:spLocks noGrp="1"/>
          </p:cNvSpPr>
          <p:nvPr/>
        </p:nvSpPr>
        <p:spPr>
          <a:xfrm>
            <a:off x="714375" y="6496050"/>
            <a:ext cx="13811250" cy="457200"/>
          </a:xfrm>
          <a:prstGeom prst="rect">
            <a:avLst/>
          </a:prstGeom>
          <a:noFill/>
          <a:ln w="0">
            <a:noFill/>
          </a:ln>
        </p:spPr>
        <p:txBody>
          <a:bodyPr wrap="square" lIns="0" tIns="0" rIns="0" bIns="0" anchor="t">
            <a:noAutofit/>
          </a:bodyPr>
          <a:lstStyle>
            <a:defPPr>
              <a:defRPr sz="1950" b="0">
                <a:solidFill>
                  <a:srgbClr val="075CA8"/>
                </a:solidFill>
                <a:latin typeface="Arial"/>
                <a:ea typeface="Arial"/>
                <a:cs typeface="Arial"/>
              </a:defRPr>
            </a:defPPr>
            <a:lvl1pPr>
              <a:defRPr sz="1950" b="0">
                <a:solidFill>
                  <a:srgbClr val="075CA8"/>
                </a:solidFill>
                <a:latin typeface="Arial"/>
                <a:ea typeface="Arial"/>
                <a:cs typeface="Arial"/>
              </a:defRPr>
            </a:lvl1pPr>
            <a:lvl2pPr>
              <a:defRPr sz="1950" b="0">
                <a:solidFill>
                  <a:srgbClr val="075CA8"/>
                </a:solidFill>
                <a:latin typeface="Arial"/>
                <a:ea typeface="Arial"/>
                <a:cs typeface="Arial"/>
              </a:defRPr>
            </a:lvl2pPr>
            <a:lvl3pPr>
              <a:defRPr sz="1950" b="0">
                <a:solidFill>
                  <a:srgbClr val="075CA8"/>
                </a:solidFill>
                <a:latin typeface="Arial"/>
                <a:ea typeface="Arial"/>
                <a:cs typeface="Arial"/>
              </a:defRPr>
            </a:lvl3pPr>
            <a:lvl4pPr>
              <a:defRPr sz="1950" b="0">
                <a:solidFill>
                  <a:srgbClr val="075CA8"/>
                </a:solidFill>
                <a:latin typeface="Arial"/>
                <a:ea typeface="Arial"/>
                <a:cs typeface="Arial"/>
              </a:defRPr>
            </a:lvl4pPr>
            <a:lvl5pPr>
              <a:defRPr sz="1950" b="0">
                <a:solidFill>
                  <a:srgbClr val="075CA8"/>
                </a:solidFill>
                <a:latin typeface="Arial"/>
                <a:ea typeface="Arial"/>
                <a:cs typeface="Arial"/>
              </a:defRPr>
            </a:lvl5pPr>
            <a:lvl6pPr>
              <a:defRPr sz="1950" b="0">
                <a:solidFill>
                  <a:srgbClr val="075CA8"/>
                </a:solidFill>
                <a:latin typeface="Arial"/>
                <a:ea typeface="Arial"/>
                <a:cs typeface="Arial"/>
              </a:defRPr>
            </a:lvl6pPr>
            <a:lvl7pPr>
              <a:defRPr sz="1950" b="0">
                <a:solidFill>
                  <a:srgbClr val="075CA8"/>
                </a:solidFill>
                <a:latin typeface="Arial"/>
                <a:ea typeface="Arial"/>
                <a:cs typeface="Arial"/>
              </a:defRPr>
            </a:lvl7pPr>
            <a:lvl8pPr>
              <a:defRPr sz="1950" b="0">
                <a:solidFill>
                  <a:srgbClr val="075CA8"/>
                </a:solidFill>
                <a:latin typeface="Arial"/>
                <a:ea typeface="Arial"/>
                <a:cs typeface="Arial"/>
              </a:defRPr>
            </a:lvl8pPr>
            <a:lvl9pPr>
              <a:defRPr sz="1950" b="0">
                <a:solidFill>
                  <a:srgbClr val="075CA8"/>
                </a:solidFill>
                <a:latin typeface="Arial"/>
                <a:ea typeface="Arial"/>
                <a:cs typeface="Arial"/>
              </a:defRPr>
            </a:lvl9pPr>
          </a:lstStyle>
          <a:p>
            <a:pPr>
              <a:defRPr sz="1950" b="0">
                <a:solidFill>
                  <a:srgbClr val="075CA8"/>
                </a:solidFill>
                <a:latin typeface="Arial"/>
                <a:ea typeface="Arial"/>
                <a:cs typeface="Arial"/>
              </a:defRPr>
            </a:pPr>
            <a:r>
              <a:rPr sz="1950" b="0">
                <a:solidFill>
                  <a:srgbClr val="075CA8"/>
                </a:solidFill>
                <a:latin typeface="Arial"/>
                <a:ea typeface="Arial"/>
                <a:cs typeface="Arial"/>
              </a:rPr>
              <a:t>Default grid: RA/Dec (TAN), 1′ pixels, Gaussian kernel FWHM 1.5′.</a:t>
            </a:r>
          </a:p>
        </p:txBody>
      </p:sp>
      <p:sp>
        <p:nvSpPr>
          <p:cNvPr id="13" name="Rectangle 12">
            <a:extLst>
              <a:ext uri="{FF2B5EF4-FFF2-40B4-BE49-F238E27FC236}">
                <a16:creationId xmlns:a16="http://schemas.microsoft.com/office/drawing/2014/main" id="{A50A8CC6-8908-4698-9FEF-9136F8FCA410}"/>
              </a:ext>
            </a:extLst>
          </p:cNvPr>
          <p:cNvSpPr>
            <a:spLocks noGrp="1"/>
          </p:cNvSpPr>
          <p:nvPr/>
        </p:nvSpPr>
        <p:spPr>
          <a:xfrm>
            <a:off x="714375" y="7067550"/>
            <a:ext cx="13811250" cy="628650"/>
          </a:xfrm>
          <a:prstGeom prst="rect">
            <a:avLst/>
          </a:prstGeom>
          <a:noFill/>
          <a:ln w="0">
            <a:noFill/>
          </a:ln>
        </p:spPr>
        <p:txBody>
          <a:bodyPr wrap="square" lIns="0" tIns="0" rIns="0" bIns="0" anchor="t">
            <a:noAutofit/>
          </a:bodyPr>
          <a:lstStyle>
            <a:defPPr>
              <a:defRPr sz="1875" b="0">
                <a:solidFill>
                  <a:srgbClr val="4B5E70"/>
                </a:solidFill>
                <a:latin typeface="Arial"/>
                <a:ea typeface="Arial"/>
                <a:cs typeface="Arial"/>
              </a:defRPr>
            </a:defPPr>
            <a:lvl1pPr>
              <a:defRPr sz="1875" b="0">
                <a:solidFill>
                  <a:srgbClr val="4B5E70"/>
                </a:solidFill>
                <a:latin typeface="Arial"/>
                <a:ea typeface="Arial"/>
                <a:cs typeface="Arial"/>
              </a:defRPr>
            </a:lvl1pPr>
            <a:lvl2pPr>
              <a:defRPr sz="1875" b="0">
                <a:solidFill>
                  <a:srgbClr val="4B5E70"/>
                </a:solidFill>
                <a:latin typeface="Arial"/>
                <a:ea typeface="Arial"/>
                <a:cs typeface="Arial"/>
              </a:defRPr>
            </a:lvl2pPr>
            <a:lvl3pPr>
              <a:defRPr sz="1875" b="0">
                <a:solidFill>
                  <a:srgbClr val="4B5E70"/>
                </a:solidFill>
                <a:latin typeface="Arial"/>
                <a:ea typeface="Arial"/>
                <a:cs typeface="Arial"/>
              </a:defRPr>
            </a:lvl3pPr>
            <a:lvl4pPr>
              <a:defRPr sz="1875" b="0">
                <a:solidFill>
                  <a:srgbClr val="4B5E70"/>
                </a:solidFill>
                <a:latin typeface="Arial"/>
                <a:ea typeface="Arial"/>
                <a:cs typeface="Arial"/>
              </a:defRPr>
            </a:lvl4pPr>
            <a:lvl5pPr>
              <a:defRPr sz="1875" b="0">
                <a:solidFill>
                  <a:srgbClr val="4B5E70"/>
                </a:solidFill>
                <a:latin typeface="Arial"/>
                <a:ea typeface="Arial"/>
                <a:cs typeface="Arial"/>
              </a:defRPr>
            </a:lvl5pPr>
            <a:lvl6pPr>
              <a:defRPr sz="1875" b="0">
                <a:solidFill>
                  <a:srgbClr val="4B5E70"/>
                </a:solidFill>
                <a:latin typeface="Arial"/>
                <a:ea typeface="Arial"/>
                <a:cs typeface="Arial"/>
              </a:defRPr>
            </a:lvl6pPr>
            <a:lvl7pPr>
              <a:defRPr sz="1875" b="0">
                <a:solidFill>
                  <a:srgbClr val="4B5E70"/>
                </a:solidFill>
                <a:latin typeface="Arial"/>
                <a:ea typeface="Arial"/>
                <a:cs typeface="Arial"/>
              </a:defRPr>
            </a:lvl7pPr>
            <a:lvl8pPr>
              <a:defRPr sz="1875" b="0">
                <a:solidFill>
                  <a:srgbClr val="4B5E70"/>
                </a:solidFill>
                <a:latin typeface="Arial"/>
                <a:ea typeface="Arial"/>
                <a:cs typeface="Arial"/>
              </a:defRPr>
            </a:lvl8pPr>
            <a:lvl9pPr>
              <a:defRPr sz="1875" b="0">
                <a:solidFill>
                  <a:srgbClr val="4B5E70"/>
                </a:solidFill>
                <a:latin typeface="Arial"/>
                <a:ea typeface="Arial"/>
                <a:cs typeface="Arial"/>
              </a:defRPr>
            </a:lvl9pPr>
          </a:lstStyle>
          <a:p>
            <a:pPr>
              <a:defRPr sz="1875" b="0">
                <a:solidFill>
                  <a:srgbClr val="4B5E70"/>
                </a:solidFill>
                <a:latin typeface="Arial"/>
                <a:ea typeface="Arial"/>
                <a:cs typeface="Arial"/>
              </a:defRPr>
            </a:pPr>
            <a:r>
              <a:rPr sz="1875" b="0">
                <a:solidFill>
                  <a:srgbClr val="4B5E70"/>
                </a:solidFill>
                <a:latin typeface="Arial"/>
                <a:ea typeface="Arial"/>
                <a:cs typeface="Arial"/>
              </a:rPr>
              <a:t>Component-list fits mark the old baseline-sensitivity diagnostic as NaN.</a:t>
            </a:r>
          </a:p>
          <a:p>
            <a:pPr>
              <a:defRPr sz="1875" b="0">
                <a:solidFill>
                  <a:srgbClr val="4B5E70"/>
                </a:solidFill>
                <a:latin typeface="Arial"/>
                <a:ea typeface="Arial"/>
                <a:cs typeface="Arial"/>
              </a:defRPr>
            </a:pPr>
            <a:r>
              <a:rPr sz="1875" b="0">
                <a:solidFill>
                  <a:srgbClr val="4B5E70"/>
                </a:solidFill>
                <a:latin typeface="Arial"/>
                <a:ea typeface="Arial"/>
                <a:cs typeface="Arial"/>
              </a:rPr>
              <a:t>The missing-fraction map records that unavailability.</a:t>
            </a:r>
          </a:p>
        </p:txBody>
      </p:sp>
      <p:sp>
        <p:nvSpPr>
          <p:cNvPr id="14" name="Rectangle 13">
            <a:extLst>
              <a:ext uri="{FF2B5EF4-FFF2-40B4-BE49-F238E27FC236}">
                <a16:creationId xmlns:a16="http://schemas.microsoft.com/office/drawing/2014/main" id="{6B83DE3C-5095-4533-B83F-3589D2607023}"/>
              </a:ext>
            </a:extLst>
          </p:cNvPr>
          <p:cNvSpPr>
            <a:spLocks noGrp="1"/>
          </p:cNvSpPr>
          <p:nvPr/>
        </p:nvSpPr>
        <p:spPr>
          <a:xfrm>
            <a:off x="638175" y="7781925"/>
            <a:ext cx="13811250" cy="352425"/>
          </a:xfrm>
          <a:prstGeom prst="rect">
            <a:avLst/>
          </a:prstGeom>
          <a:noFill/>
          <a:ln w="0">
            <a:noFill/>
          </a:ln>
        </p:spPr>
        <p:txBody>
          <a:bodyPr wrap="square" lIns="0" tIns="0" rIns="0" bIns="0" anchor="t">
            <a:noAutofit/>
          </a:bodyPr>
          <a:lstStyle>
            <a:defPPr>
              <a:defRPr sz="1575" b="0">
                <a:solidFill>
                  <a:srgbClr val="4B5E70"/>
                </a:solidFill>
                <a:latin typeface="Arial"/>
                <a:ea typeface="Arial"/>
                <a:cs typeface="Arial"/>
              </a:defRPr>
            </a:defPPr>
            <a:lvl1pPr>
              <a:defRPr sz="1575" b="0">
                <a:solidFill>
                  <a:srgbClr val="4B5E70"/>
                </a:solidFill>
                <a:latin typeface="Arial"/>
                <a:ea typeface="Arial"/>
                <a:cs typeface="Arial"/>
              </a:defRPr>
            </a:lvl1pPr>
            <a:lvl2pPr>
              <a:defRPr sz="1575" b="0">
                <a:solidFill>
                  <a:srgbClr val="4B5E70"/>
                </a:solidFill>
                <a:latin typeface="Arial"/>
                <a:ea typeface="Arial"/>
                <a:cs typeface="Arial"/>
              </a:defRPr>
            </a:lvl2pPr>
            <a:lvl3pPr>
              <a:defRPr sz="1575" b="0">
                <a:solidFill>
                  <a:srgbClr val="4B5E70"/>
                </a:solidFill>
                <a:latin typeface="Arial"/>
                <a:ea typeface="Arial"/>
                <a:cs typeface="Arial"/>
              </a:defRPr>
            </a:lvl3pPr>
            <a:lvl4pPr>
              <a:defRPr sz="1575" b="0">
                <a:solidFill>
                  <a:srgbClr val="4B5E70"/>
                </a:solidFill>
                <a:latin typeface="Arial"/>
                <a:ea typeface="Arial"/>
                <a:cs typeface="Arial"/>
              </a:defRPr>
            </a:lvl4pPr>
            <a:lvl5pPr>
              <a:defRPr sz="1575" b="0">
                <a:solidFill>
                  <a:srgbClr val="4B5E70"/>
                </a:solidFill>
                <a:latin typeface="Arial"/>
                <a:ea typeface="Arial"/>
                <a:cs typeface="Arial"/>
              </a:defRPr>
            </a:lvl5pPr>
            <a:lvl6pPr>
              <a:defRPr sz="1575" b="0">
                <a:solidFill>
                  <a:srgbClr val="4B5E70"/>
                </a:solidFill>
                <a:latin typeface="Arial"/>
                <a:ea typeface="Arial"/>
                <a:cs typeface="Arial"/>
              </a:defRPr>
            </a:lvl6pPr>
            <a:lvl7pPr>
              <a:defRPr sz="1575" b="0">
                <a:solidFill>
                  <a:srgbClr val="4B5E70"/>
                </a:solidFill>
                <a:latin typeface="Arial"/>
                <a:ea typeface="Arial"/>
                <a:cs typeface="Arial"/>
              </a:defRPr>
            </a:lvl7pPr>
            <a:lvl8pPr>
              <a:defRPr sz="1575" b="0">
                <a:solidFill>
                  <a:srgbClr val="4B5E70"/>
                </a:solidFill>
                <a:latin typeface="Arial"/>
                <a:ea typeface="Arial"/>
                <a:cs typeface="Arial"/>
              </a:defRPr>
            </a:lvl8pPr>
            <a:lvl9pPr>
              <a:defRPr sz="1575" b="0">
                <a:solidFill>
                  <a:srgbClr val="4B5E70"/>
                </a:solidFill>
                <a:latin typeface="Arial"/>
                <a:ea typeface="Arial"/>
                <a:cs typeface="Arial"/>
              </a:defRPr>
            </a:lvl9pPr>
          </a:lstStyle>
          <a:p>
            <a:pPr>
              <a:defRPr sz="1575" b="0">
                <a:solidFill>
                  <a:srgbClr val="4B5E70"/>
                </a:solidFill>
                <a:latin typeface="Arial"/>
                <a:ea typeface="Arial"/>
                <a:cs typeface="Arial"/>
              </a:defRPr>
            </a:pPr>
            <a:r>
              <a:rPr sz="1575" b="0">
                <a:solidFill>
                  <a:srgbClr val="4B5E70"/>
                </a:solidFill>
                <a:latin typeface="Arial"/>
                <a:ea typeface="Arial"/>
                <a:cs typeface="Arial"/>
              </a:rPr>
              <a:t>Numerical validation does not establish baseline accuracy or absolute calibration. Inspect the science separately.</a:t>
            </a:r>
          </a:p>
        </p:txBody>
      </p:sp>
    </p:spTree>
    <p:extLst>
      <p:ext uri="{BB962C8B-B14F-4D97-AF65-F5344CB8AC3E}">
        <p14:creationId xmlns:p14="http://schemas.microsoft.com/office/powerpoint/2010/main" val="20378703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4875</Words>
  <Application>Microsoft Macintosh PowerPoint</Application>
  <DocSecurity>0</DocSecurity>
  <PresentationFormat>Custom</PresentationFormat>
  <Paragraphs>328</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Menlo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Lingrui Lin</cp:lastModifiedBy>
  <cp:revision>1</cp:revision>
  <dcterms:created xsi:type="dcterms:W3CDTF">2026-10-24T17:30:54Z</dcterms:created>
  <dcterms:modified xsi:type="dcterms:W3CDTF">2026-10-25T04:44:05Z</dcterms:modified>
</cp:coreProperties>
</file>